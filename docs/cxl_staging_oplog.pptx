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</a:rPr>
              <a:t>CXL Staging Buffer — Layout and Concurrent Writes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580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E9E9E"/>
                </a:solidFill>
              </a:rPr>
              <a:t>Per-node single-producer ring buffers (no inter-node contention)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143000"/>
            <a:ext cx="2377440" cy="731520"/>
          </a:xfrm>
          <a:prstGeom prst="roundRect">
            <a:avLst/>
          </a:prstGeom>
          <a:solidFill>
            <a:srgbClr val="BBDEFB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565C0"/>
                </a:solidFill>
              </a:rPr>
              <a:t>Node 0 (writer)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0" y="1143000"/>
            <a:ext cx="2377440" cy="731520"/>
          </a:xfrm>
          <a:prstGeom prst="roundRect">
            <a:avLst/>
          </a:prstGeom>
          <a:solidFill>
            <a:srgbClr val="FFCDD2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62828"/>
                </a:solidFill>
              </a:rPr>
              <a:t>Node 1 (writer)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1143000"/>
            <a:ext cx="2377440" cy="731520"/>
          </a:xfrm>
          <a:prstGeom prst="roundRect">
            <a:avLst/>
          </a:prstGeom>
          <a:solidFill>
            <a:srgbClr val="E1BEE7"/>
          </a:solidFill>
          <a:ln w="254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A1B9A"/>
                </a:solidFill>
              </a:rPr>
              <a:t>Node 2 (writer)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11247120" cy="2926080"/>
          </a:xfrm>
          <a:prstGeom prst="roundRect">
            <a:avLst/>
          </a:prstGeom>
          <a:solidFill>
            <a:srgbClr val="FFE0B2"/>
          </a:solidFill>
          <a:ln w="317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697479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65100"/>
                </a:solidFill>
              </a:rPr>
              <a:t>CXL Shared Memory: DataStagingArea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63240"/>
            <a:ext cx="3657600" cy="2331720"/>
          </a:xfrm>
          <a:prstGeom prst="roundRect">
            <a:avLst/>
          </a:prstGeom>
          <a:solidFill>
            <a:srgbClr val="BBDEFB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565C0"/>
                </a:solidFill>
              </a:rPr>
              <a:t>Node 0's region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29000"/>
            <a:ext cx="3474720" cy="411480"/>
          </a:xfrm>
          <a:prstGeom prst="roundRect">
            <a:avLst/>
          </a:prstGeom>
          <a:solidFill>
            <a:srgbClr val="FFE0B2"/>
          </a:solidFill>
          <a:ln w="127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33333"/>
                </a:solidFill>
              </a:rPr>
              <a:t>head=8a   tail=8a   capacity=64MB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88620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</a:rPr>
              <a:t>StagingEntry[]: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3063240"/>
            <a:ext cx="3657600" cy="2331720"/>
          </a:xfrm>
          <a:prstGeom prst="roundRect">
            <a:avLst/>
          </a:prstGeom>
          <a:solidFill>
            <a:srgbClr val="FFCDD2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3108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62828"/>
                </a:solidFill>
              </a:rPr>
              <a:t>Node 1's region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429000"/>
            <a:ext cx="3474720" cy="411480"/>
          </a:xfrm>
          <a:prstGeom prst="roundRect">
            <a:avLst/>
          </a:prstGeom>
          <a:solidFill>
            <a:srgbClr val="FFE0B2"/>
          </a:solidFill>
          <a:ln w="127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33333"/>
                </a:solidFill>
              </a:rPr>
              <a:t>head=0   tail=0   capacity=64MB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88620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</a:rPr>
              <a:t>StagingEntry[]: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3063240"/>
            <a:ext cx="3657600" cy="2331720"/>
          </a:xfrm>
          <a:prstGeom prst="roundRect">
            <a:avLst/>
          </a:prstGeom>
          <a:solidFill>
            <a:srgbClr val="E1BEE7"/>
          </a:solidFill>
          <a:ln w="254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3108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A1B9A"/>
                </a:solidFill>
              </a:rPr>
              <a:t>Node 2's region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3429000"/>
            <a:ext cx="3474720" cy="411480"/>
          </a:xfrm>
          <a:prstGeom prst="roundRect">
            <a:avLst/>
          </a:prstGeom>
          <a:solidFill>
            <a:srgbClr val="FFE0B2"/>
          </a:solidFill>
          <a:ln w="127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33333"/>
                </a:solidFill>
              </a:rPr>
              <a:t>head=12   tail=8   capacity=64MB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388620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</a:rPr>
              <a:t>StagingEntry[]: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160520"/>
            <a:ext cx="3383280" cy="347472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333333"/>
                </a:solidFill>
              </a:rPr>
              <a:t>id=8  size=41  data="hello:world"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544568"/>
            <a:ext cx="3383280" cy="347472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333333"/>
                </a:solidFill>
              </a:rPr>
              <a:t>id=9  size=37  data="foo:bar"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6177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E9E9E"/>
                </a:solidFill>
              </a:rPr>
              <a:t>(no pending writes)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4160520"/>
            <a:ext cx="3383280" cy="347472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333333"/>
                </a:solidFill>
              </a:rPr>
              <a:t>id=8  size=42  data="key:val"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2377440" y="1874519"/>
            <a:ext cx="182880" cy="1188721"/>
          </a:xfrm>
          <a:prstGeom prst="line">
            <a:avLst/>
          </a:prstGeom>
          <a:ln w="31750">
            <a:solidFill>
              <a:srgbClr val="1565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6080760" y="1874519"/>
            <a:ext cx="45720" cy="1188721"/>
          </a:xfrm>
          <a:prstGeom prst="line">
            <a:avLst/>
          </a:prstGeom>
          <a:ln w="31750">
            <a:solidFill>
              <a:srgbClr val="C628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692640" y="1874519"/>
            <a:ext cx="91440" cy="1188721"/>
          </a:xfrm>
          <a:prstGeom prst="line">
            <a:avLst/>
          </a:prstGeom>
          <a:ln w="31750">
            <a:solidFill>
              <a:srgbClr val="6A1B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377440" y="1874519"/>
            <a:ext cx="3474720" cy="1188721"/>
          </a:xfrm>
          <a:prstGeom prst="line">
            <a:avLst/>
          </a:prstGeom>
          <a:ln w="12700">
            <a:solidFill>
              <a:srgbClr val="C62828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651760" y="1874519"/>
            <a:ext cx="6766560" cy="1188721"/>
          </a:xfrm>
          <a:prstGeom prst="line">
            <a:avLst/>
          </a:prstGeom>
          <a:ln w="12700">
            <a:solidFill>
              <a:srgbClr val="6A1B9A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57200" y="5760720"/>
            <a:ext cx="11247120" cy="86868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806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33333"/>
                </a:solidFill>
              </a:rPr>
              <a:t>Concurrent write handling — partition by writer: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80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* Each node owns one ring buffer region. Only the owner writes (single producer) -&gt; no contention, no lock needed.
* Owner advances 'tail' after each store + sfence. Other nodes are read-only consumers (track per-consumer 'head').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</a:rPr>
              <a:t>CXL Staging Buffer — Entry Format and Write Protocol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1247120" cy="868680"/>
          </a:xfrm>
          <a:prstGeom prst="roundRect">
            <a:avLst/>
          </a:prstGeom>
          <a:solidFill>
            <a:srgbClr val="FFE0B2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6F00"/>
                </a:solidFill>
              </a:rPr>
              <a:t>StagingHeader (cache-line aligned, 64B)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2651760" cy="45720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33333"/>
                </a:solidFill>
              </a:rPr>
              <a:t>head_off
uint64_t  (8B)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325880"/>
            <a:ext cx="2651760" cy="45720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33333"/>
                </a:solidFill>
              </a:rPr>
              <a:t>tail_off
uint64_t  (8B)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25880"/>
            <a:ext cx="2651760" cy="45720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33333"/>
                </a:solidFill>
              </a:rPr>
              <a:t>capacity
uint64_t  (8B)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1325880"/>
            <a:ext cx="2651760" cy="45720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33333"/>
                </a:solidFill>
              </a:rPr>
              <a:t>entry_seq
uint64_t  (8B)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94560"/>
            <a:ext cx="11247120" cy="146304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4028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565C0"/>
                </a:solidFill>
              </a:rPr>
              <a:t>StagingEntry (variable size)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06040"/>
            <a:ext cx="210312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33333"/>
                </a:solidFill>
              </a:rPr>
              <a:t>entry_id
(8B)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54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E9E9E"/>
                </a:solidFill>
              </a:rPr>
              <a:t>matches OpLog 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39" y="2606040"/>
            <a:ext cx="210312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33333"/>
                </a:solidFill>
              </a:rPr>
              <a:t>size
(4B)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39" y="3154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E9E9E"/>
                </a:solidFill>
              </a:rPr>
              <a:t>payload bytes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2606040"/>
            <a:ext cx="210312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33333"/>
                </a:solidFill>
              </a:rPr>
              <a:t>flags
(4B)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154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E9E9E"/>
                </a:solidFill>
              </a:rPr>
              <a:t>READY / IN_USE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59" y="2606040"/>
            <a:ext cx="210312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33333"/>
                </a:solidFill>
              </a:rPr>
              <a:t>crc
(8B)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59" y="3154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E9E9E"/>
                </a:solidFill>
              </a:rPr>
              <a:t>checksum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19" y="2606040"/>
            <a:ext cx="210312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33333"/>
                </a:solidFill>
              </a:rPr>
              <a:t>payload[]
(var)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19" y="3154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E9E9E"/>
                </a:solidFill>
              </a:rPr>
              <a:t>actual KV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931920"/>
            <a:ext cx="5486400" cy="246888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97763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565C0"/>
                </a:solidFill>
              </a:rPr>
              <a:t>Producer (owner node) write protocol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29768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1. Reserve slot: e_off = tail_off
2. Compute size needed; check space
3. Store entry header:
     entry_id, size, crc
     flags = IN_USE
4. Store payload (memcpy + flush_region)
5. sfence
6. Set flags = READY (single store)
7. Advance tail_off += entry_size
8. sfence
Reader waits until flags == READY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931920"/>
            <a:ext cx="5486400" cy="2468880"/>
          </a:xfrm>
          <a:prstGeom prst="roundRect">
            <a:avLst/>
          </a:prstGeom>
          <a:solidFill>
            <a:srgbClr val="EEEEEE"/>
          </a:solidFill>
          <a:ln w="1905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397763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9E9E9E"/>
                </a:solidFill>
              </a:rPr>
              <a:t>Consumer (other nodes) read protocol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429768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1. Each consumer keeps own local_head
2. Periodically poll: load tail_off
3. While local_head &lt; tail_off:
     load entry header at local_head
     wait until flags == READY
     verify crc
     copy payload to local DRAM
     advance local_head
4. Owner can reclaim space when ALL
   consumers' local_head &gt;= tail (GC)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</a:rPr>
              <a:t>CXL OpLog — Layout and Concurrent Writes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580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E9E9E"/>
                </a:solidFill>
              </a:rPr>
              <a:t>Per-node single-producer log (for crash recovery)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143000"/>
            <a:ext cx="2377440" cy="731520"/>
          </a:xfrm>
          <a:prstGeom prst="roundRect">
            <a:avLst/>
          </a:prstGeom>
          <a:solidFill>
            <a:srgbClr val="BBDEFB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565C0"/>
                </a:solidFill>
              </a:rPr>
              <a:t>Node 0 (writer)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0" y="1143000"/>
            <a:ext cx="2377440" cy="731520"/>
          </a:xfrm>
          <a:prstGeom prst="roundRect">
            <a:avLst/>
          </a:prstGeom>
          <a:solidFill>
            <a:srgbClr val="FFCDD2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62828"/>
                </a:solidFill>
              </a:rPr>
              <a:t>Node 1 (writer)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1143000"/>
            <a:ext cx="2377440" cy="731520"/>
          </a:xfrm>
          <a:prstGeom prst="roundRect">
            <a:avLst/>
          </a:prstGeom>
          <a:solidFill>
            <a:srgbClr val="E1BEE7"/>
          </a:solidFill>
          <a:ln w="254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A1B9A"/>
                </a:solidFill>
              </a:rPr>
              <a:t>Node 2 (writer)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11247120" cy="3017520"/>
          </a:xfrm>
          <a:prstGeom prst="roundRect">
            <a:avLst/>
          </a:prstGeom>
          <a:solidFill>
            <a:srgbClr val="F3E5F5"/>
          </a:solidFill>
          <a:ln w="317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697479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A1B9A"/>
                </a:solidFill>
              </a:rPr>
              <a:t>CXL Shared Memory: OperationLog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63240"/>
            <a:ext cx="3657600" cy="2423160"/>
          </a:xfrm>
          <a:prstGeom prst="roundRect">
            <a:avLst/>
          </a:prstGeom>
          <a:solidFill>
            <a:srgbClr val="BBDEFB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565C0"/>
                </a:solidFill>
              </a:rPr>
              <a:t>Node 0's OpLog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29000"/>
            <a:ext cx="3474720" cy="365760"/>
          </a:xfrm>
          <a:prstGeom prst="roundRect">
            <a:avLst/>
          </a:prstGeom>
          <a:solidFill>
            <a:srgbClr val="FFE0B2"/>
          </a:solidFill>
          <a:ln w="127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33333"/>
                </a:solidFill>
              </a:rPr>
              <a:t>head=10  tail=12  cap=80MB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931920"/>
            <a:ext cx="3383280" cy="457200"/>
          </a:xfrm>
          <a:prstGeom prst="roundRect">
            <a:avLst/>
          </a:prstGeom>
          <a:solidFill>
            <a:srgbClr val="FFF9C4"/>
          </a:solidFill>
          <a:ln w="889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333333"/>
                </a:solidFill>
              </a:rPr>
              <a:t>epoch=42  op=INSERT
status=COMMITTED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434840"/>
            <a:ext cx="3383280" cy="457200"/>
          </a:xfrm>
          <a:prstGeom prst="roundRect">
            <a:avLst/>
          </a:prstGeom>
          <a:solidFill>
            <a:srgbClr val="FFF9C4"/>
          </a:solidFill>
          <a:ln w="1524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333333"/>
                </a:solidFill>
              </a:rPr>
              <a:t>epoch=43  op=INSERT
status=IN_PROGRESS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3063240"/>
            <a:ext cx="3657600" cy="2423160"/>
          </a:xfrm>
          <a:prstGeom prst="roundRect">
            <a:avLst/>
          </a:prstGeom>
          <a:solidFill>
            <a:srgbClr val="FFCDD2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60" y="3108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62828"/>
                </a:solidFill>
              </a:rPr>
              <a:t>Node 1's OpLog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29000"/>
            <a:ext cx="3474720" cy="365760"/>
          </a:xfrm>
          <a:prstGeom prst="roundRect">
            <a:avLst/>
          </a:prstGeom>
          <a:solidFill>
            <a:srgbClr val="FFE0B2"/>
          </a:solidFill>
          <a:ln w="127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33333"/>
                </a:solidFill>
              </a:rPr>
              <a:t>head=10  tail=12  cap=80MB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931920"/>
            <a:ext cx="3383280" cy="457200"/>
          </a:xfrm>
          <a:prstGeom prst="roundRect">
            <a:avLst/>
          </a:prstGeom>
          <a:solidFill>
            <a:srgbClr val="FFF9C4"/>
          </a:solidFill>
          <a:ln w="889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333333"/>
                </a:solidFill>
              </a:rPr>
              <a:t>epoch=10  op=UPDATE
status=COMMITTED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3063240"/>
            <a:ext cx="3657600" cy="2423160"/>
          </a:xfrm>
          <a:prstGeom prst="roundRect">
            <a:avLst/>
          </a:prstGeom>
          <a:solidFill>
            <a:srgbClr val="E1BEE7"/>
          </a:solidFill>
          <a:ln w="254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3108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A1B9A"/>
                </a:solidFill>
              </a:rPr>
              <a:t>Node 2's OpLog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3429000"/>
            <a:ext cx="3474720" cy="365760"/>
          </a:xfrm>
          <a:prstGeom prst="roundRect">
            <a:avLst/>
          </a:prstGeom>
          <a:solidFill>
            <a:srgbClr val="FFE0B2"/>
          </a:solidFill>
          <a:ln w="127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33333"/>
                </a:solidFill>
              </a:rPr>
              <a:t>head=10  tail=12  cap=80MB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3931920"/>
            <a:ext cx="3383280" cy="457200"/>
          </a:xfrm>
          <a:prstGeom prst="roundRect">
            <a:avLst/>
          </a:prstGeom>
          <a:solidFill>
            <a:srgbClr val="FFF9C4"/>
          </a:solidFill>
          <a:ln w="889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333333"/>
                </a:solidFill>
              </a:rPr>
              <a:t>epoch=88  op=DELETE
status=COMMITTED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4434840"/>
            <a:ext cx="3383280" cy="457200"/>
          </a:xfrm>
          <a:prstGeom prst="roundRect">
            <a:avLst/>
          </a:prstGeom>
          <a:solidFill>
            <a:srgbClr val="FFF9C4"/>
          </a:solidFill>
          <a:ln w="889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333333"/>
                </a:solidFill>
              </a:rPr>
              <a:t>epoch=89  op=INSERT
status=COMMITTED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2377440" y="1874519"/>
            <a:ext cx="182880" cy="1188721"/>
          </a:xfrm>
          <a:prstGeom prst="line">
            <a:avLst/>
          </a:prstGeom>
          <a:ln w="31750">
            <a:solidFill>
              <a:srgbClr val="1565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6080760" y="1874519"/>
            <a:ext cx="45720" cy="1188721"/>
          </a:xfrm>
          <a:prstGeom prst="line">
            <a:avLst/>
          </a:prstGeom>
          <a:ln w="31750">
            <a:solidFill>
              <a:srgbClr val="C628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692640" y="1874519"/>
            <a:ext cx="91440" cy="1188721"/>
          </a:xfrm>
          <a:prstGeom prst="line">
            <a:avLst/>
          </a:prstGeom>
          <a:ln w="31750">
            <a:solidFill>
              <a:srgbClr val="6A1B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834640" y="1874519"/>
            <a:ext cx="3017520" cy="1188721"/>
          </a:xfrm>
          <a:prstGeom prst="line">
            <a:avLst/>
          </a:prstGeom>
          <a:ln w="12700">
            <a:solidFill>
              <a:srgbClr val="C62828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74320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E9E9E"/>
                </a:solidFill>
              </a:rPr>
              <a:t>(recovery: read others' OpLogs)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852160"/>
            <a:ext cx="11247120" cy="77724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897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33333"/>
                </a:solidFill>
              </a:rPr>
              <a:t>Concurrent writes — same trick: each node owns one log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172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* No two nodes write to the same OpLog -&gt; no lock, no contention.
* On crash: surviving nodes read the failed node's OpLog (read-only) to redo/abort its in-progress operations.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</a:rPr>
              <a:t>CXL OpLog — Entry Format and Lifecycle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1247120" cy="3108960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A1B9A"/>
                </a:solidFill>
              </a:rPr>
              <a:t>OpLogEntry (fixed 128B, cache-line aligned)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103120" cy="713232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33333"/>
                </a:solidFill>
              </a:rPr>
              <a:t>epoch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E9E9E"/>
                </a:solidFill>
              </a:rPr>
              <a:t>uint64_t  (8B)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9E9E9E"/>
                </a:solidFill>
              </a:rPr>
              <a:t>monotonic per-node sequence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39" y="1417320"/>
            <a:ext cx="2103120" cy="713232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39" y="14630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33333"/>
                </a:solidFill>
              </a:rPr>
              <a:t>op_type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39" y="16916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E9E9E"/>
                </a:solidFill>
              </a:rPr>
              <a:t>uint8_t  (1B)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39" y="19202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9E9E9E"/>
                </a:solidFill>
              </a:rPr>
              <a:t>INSERT / UPDATE / DELETE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417320"/>
            <a:ext cx="2103120" cy="713232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4630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33333"/>
                </a:solidFill>
              </a:rPr>
              <a:t>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6916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E9E9E"/>
                </a:solidFill>
              </a:rPr>
              <a:t>uint8_t  (1B)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9202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9E9E9E"/>
                </a:solidFill>
              </a:rPr>
              <a:t>IN_PROGRESS / COMMITTED / DONE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59" y="1417320"/>
            <a:ext cx="2103120" cy="713232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59" y="14630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33333"/>
                </a:solidFill>
              </a:rPr>
              <a:t>node_id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59" y="16916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E9E9E"/>
                </a:solidFill>
              </a:rPr>
              <a:t>uint8_t  (1B)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59" y="19202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9E9E9E"/>
                </a:solidFill>
              </a:rPr>
              <a:t>owner node 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19" y="1417320"/>
            <a:ext cx="2103120" cy="713232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19" y="14630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33333"/>
                </a:solidFill>
              </a:rPr>
              <a:t>pad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19" y="16916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E9E9E"/>
                </a:solidFill>
              </a:rPr>
              <a:t>-  (5B)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19" y="19202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9E9E9E"/>
                </a:solidFill>
              </a:rPr>
              <a:t>alignment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2286000"/>
            <a:ext cx="2103120" cy="713232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3317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33333"/>
                </a:solidFill>
              </a:rPr>
              <a:t>key_hash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25603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E9E9E"/>
                </a:solidFill>
              </a:rPr>
              <a:t>uint64_t  (8B)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27889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9E9E9E"/>
                </a:solidFill>
              </a:rPr>
              <a:t>hash(key) for fast lookup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34639" y="2286000"/>
            <a:ext cx="2103120" cy="713232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34639" y="23317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33333"/>
                </a:solidFill>
              </a:rPr>
              <a:t>bucket_idx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39" y="25603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E9E9E"/>
                </a:solidFill>
              </a:rPr>
              <a:t>uint64_t  (8B)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39" y="27889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9E9E9E"/>
                </a:solidFill>
              </a:rPr>
              <a:t>which bucket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0" y="2286000"/>
            <a:ext cx="2103120" cy="713232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0" y="23317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33333"/>
                </a:solidFill>
              </a:rPr>
              <a:t>slot_idx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25603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E9E9E"/>
                </a:solidFill>
              </a:rPr>
              <a:t>uint16_t  (2B)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27889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9E9E9E"/>
                </a:solidFill>
              </a:rPr>
              <a:t>which slot in bucket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23759" y="2286000"/>
            <a:ext cx="2103120" cy="713232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23759" y="23317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33333"/>
                </a:solidFill>
              </a:rPr>
              <a:t>pad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59" y="25603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E9E9E"/>
                </a:solidFill>
              </a:rPr>
              <a:t>-  (6B)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23759" y="27889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9E9E9E"/>
                </a:solidFill>
              </a:rPr>
              <a:t>alignment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3154680"/>
            <a:ext cx="2103120" cy="713232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32004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33333"/>
                </a:solidFill>
              </a:rPr>
              <a:t>old_slot_value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34290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E9E9E"/>
                </a:solidFill>
              </a:rPr>
              <a:t>uint64_t  (8B)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36576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9E9E9E"/>
                </a:solidFill>
              </a:rPr>
              <a:t>previous slot (for verify)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834639" y="3154680"/>
            <a:ext cx="2103120" cy="713232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34639" y="32004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33333"/>
                </a:solidFill>
              </a:rPr>
              <a:t>new_slot_value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34639" y="34290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E9E9E"/>
                </a:solidFill>
              </a:rPr>
              <a:t>uint64_t  (8B)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34639" y="36576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9E9E9E"/>
                </a:solidFill>
              </a:rPr>
              <a:t>target slot value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29200" y="3154680"/>
            <a:ext cx="2103120" cy="713232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0" y="32004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33333"/>
                </a:solidFill>
              </a:rPr>
              <a:t>staging_offset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0" y="34290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E9E9E"/>
                </a:solidFill>
              </a:rPr>
              <a:t>uint64_t  (8B)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0" y="36576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9E9E9E"/>
                </a:solidFill>
              </a:rPr>
              <a:t>ptr into Staging Buffer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223759" y="3154680"/>
            <a:ext cx="2103120" cy="713232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23759" y="32004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33333"/>
                </a:solidFill>
              </a:rPr>
              <a:t>payload_size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23759" y="34290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E9E9E"/>
                </a:solidFill>
              </a:rPr>
              <a:t>uint32_t  (4B)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23759" y="36576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9E9E9E"/>
                </a:solidFill>
              </a:rPr>
              <a:t>KV size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418319" y="3154680"/>
            <a:ext cx="2103120" cy="713232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18319" y="32004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33333"/>
                </a:solidFill>
              </a:rPr>
              <a:t>crc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18319" y="34290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E9E9E"/>
                </a:solidFill>
              </a:rPr>
              <a:t>uint32_t  (4B)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18319" y="36576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9E9E9E"/>
                </a:solidFill>
              </a:rPr>
              <a:t>integrity check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57200" y="4297680"/>
            <a:ext cx="11247120" cy="22860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" y="4343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8F00"/>
                </a:solidFill>
              </a:rPr>
              <a:t>Entry lifecycle (matches consensus Steps 4-7)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4709160"/>
            <a:ext cx="2697480" cy="548640"/>
          </a:xfrm>
          <a:prstGeom prst="roundRect">
            <a:avLst/>
          </a:prstGeom>
          <a:solidFill>
            <a:srgbClr val="EEEEEE"/>
          </a:solidFill>
          <a:ln w="2540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E9E9E"/>
                </a:solidFill>
              </a:rPr>
              <a:t>(empty)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" y="5303520"/>
            <a:ext cx="2697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</a:rPr>
              <a:t>Step 1-3:
before write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3474720" y="4983480"/>
            <a:ext cx="137160" cy="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3520440" y="4709160"/>
            <a:ext cx="2697480" cy="548640"/>
          </a:xfrm>
          <a:prstGeom prst="roundRect">
            <a:avLst/>
          </a:prstGeom>
          <a:solidFill>
            <a:srgbClr val="FFE0B2"/>
          </a:solidFill>
          <a:ln w="254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8F00"/>
                </a:solidFill>
              </a:rPr>
              <a:t>IN_PROGRESS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520440" y="5303520"/>
            <a:ext cx="2697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</a:rPr>
              <a:t>Step 4: writer
stores full entry
flush + sfence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6263640" y="4983480"/>
            <a:ext cx="137160" cy="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6309360" y="4709160"/>
            <a:ext cx="2697480" cy="54864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5E20"/>
                </a:solidFill>
              </a:rPr>
              <a:t>COMMITTED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5303520"/>
            <a:ext cx="2697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</a:rPr>
              <a:t>Step 5: after
slot value written
(commit point)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9052560" y="4983480"/>
            <a:ext cx="137160" cy="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9098280" y="4709160"/>
            <a:ext cx="2697480" cy="548640"/>
          </a:xfrm>
          <a:prstGeom prst="roundRect">
            <a:avLst/>
          </a:prstGeom>
          <a:solidFill>
            <a:srgbClr val="EEEEEE"/>
          </a:solidFill>
          <a:ln w="2540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E9E9E"/>
                </a:solidFill>
              </a:rPr>
              <a:t>DONE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98280" y="5303520"/>
            <a:ext cx="2697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</a:rPr>
              <a:t>Step 7: after
all replicas applied
(GC eligible)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