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</a:rPr>
              <a:t>Step 1: Hash key, locate SlotLock[idx] (local computation)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474720" cy="18288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19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Type 3 Shared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4572000" cy="1737360"/>
          </a:xfrm>
          <a:prstGeom prst="roundRect">
            <a:avLst/>
          </a:prstGeom>
          <a:solidFill>
            <a:srgbClr val="FFCCBC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</a:rPr>
              <a:t>SlotLock Table (per-hash-slot)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SlotLock[idx]: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  shm_mutex_t lock =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  uint64_t value = 0x0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97680"/>
            <a:ext cx="2468880" cy="1737360"/>
          </a:xfrm>
          <a:prstGeom prst="roundRect">
            <a:avLst/>
          </a:prstGeom>
          <a:solidFill>
            <a:srgbClr val="F3E5F5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OpLog (per-node)
(empty)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97680"/>
            <a:ext cx="2194560" cy="173736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Staging Buffer
(empty)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297680"/>
            <a:ext cx="1371600" cy="173736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E9E9E"/>
                </a:solidFill>
              </a:rPr>
              <a:t>Alloc
Dir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79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CXL Switch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Node 0: idx = hash('hello') % NUM_SLOTS
Local computation only - no CXL access yet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492240"/>
            <a:ext cx="228600" cy="16459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Proposer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57400" y="6492240"/>
            <a:ext cx="228600" cy="164592"/>
          </a:xfrm>
          <a:prstGeom prst="roundRect">
            <a:avLst/>
          </a:prstGeom>
          <a:solidFill>
            <a:srgbClr val="D1C4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Voter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6492240"/>
            <a:ext cx="228600" cy="16459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CXL Mem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6492240"/>
            <a:ext cx="228600" cy="164592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SlotLock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6492240"/>
            <a:ext cx="228600" cy="164592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6492240"/>
            <a:ext cx="228600" cy="16459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OpLog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492240"/>
            <a:ext cx="228600" cy="16459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KV/Staging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61319" y="6492240"/>
            <a:ext cx="228600" cy="164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564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Modified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</a:rPr>
              <a:t>Step 2: shm_mutex_lock(&amp;SlotLock[idx].lock)  [LFM acquire]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474720" cy="18288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19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Type 3 Shared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4572000" cy="1737360"/>
          </a:xfrm>
          <a:prstGeom prst="roundRect">
            <a:avLst/>
          </a:prstGeom>
          <a:solidFill>
            <a:srgbClr val="FFCCBC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</a:rPr>
              <a:t>SlotLock Table (per-hash-slot)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SlotLock[idx]: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shm_mutex_t lock = HELD by Node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uint64_t value = 0x0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97680"/>
            <a:ext cx="2468880" cy="1737360"/>
          </a:xfrm>
          <a:prstGeom prst="roundRect">
            <a:avLst/>
          </a:prstGeom>
          <a:solidFill>
            <a:srgbClr val="F3E5F5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OpLog (per-node)
(empty)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97680"/>
            <a:ext cx="2194560" cy="173736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Staging Buffer
(empty)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297680"/>
            <a:ext cx="1371600" cy="173736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E9E9E"/>
                </a:solidFill>
              </a:rPr>
              <a:t>Alloc
Dir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79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CXL Switch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828800" y="2560320"/>
            <a:ext cx="91440" cy="1280160"/>
          </a:xfrm>
          <a:prstGeom prst="line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828800" y="2560320"/>
            <a:ext cx="640079" cy="1280160"/>
          </a:xfrm>
          <a:prstGeom prst="line">
            <a:avLst/>
          </a:prstGeom>
          <a:ln w="19050">
            <a:solidFill>
              <a:srgbClr val="1565C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LFM fast path (~3 CACHELINE ops):
b[0]:=1 -&gt; x:=0 -&gt; y:=0 -&gt; read x -&gt; LOCKED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6492240"/>
            <a:ext cx="228600" cy="16459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Proposer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57400" y="6492240"/>
            <a:ext cx="228600" cy="164592"/>
          </a:xfrm>
          <a:prstGeom prst="roundRect">
            <a:avLst/>
          </a:prstGeom>
          <a:solidFill>
            <a:srgbClr val="D1C4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Voter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6492240"/>
            <a:ext cx="228600" cy="16459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CXL Mem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6492240"/>
            <a:ext cx="228600" cy="164592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SlotLock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6492240"/>
            <a:ext cx="228600" cy="164592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79" y="6492240"/>
            <a:ext cx="228600" cy="16459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OpLog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6492240"/>
            <a:ext cx="228600" cy="16459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KV/Staging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61319" y="6492240"/>
            <a:ext cx="228600" cy="164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3564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Modified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</a:rPr>
              <a:t>Step 3: Read SlotLock[idx].value, verify == 0x0 (empty for INSERT)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474720" cy="18288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19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Type 3 Shared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4572000" cy="1737360"/>
          </a:xfrm>
          <a:prstGeom prst="roundRect">
            <a:avLst/>
          </a:prstGeom>
          <a:solidFill>
            <a:srgbClr val="FFCCBC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</a:rPr>
              <a:t>SlotLock Table (per-hash-slot)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SlotLock[idx]: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shm_mutex_t lock = HELD by Node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uint64_t value = 0x0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97680"/>
            <a:ext cx="2468880" cy="1737360"/>
          </a:xfrm>
          <a:prstGeom prst="roundRect">
            <a:avLst/>
          </a:prstGeom>
          <a:solidFill>
            <a:srgbClr val="F3E5F5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OpLog (per-node)
(empty)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97680"/>
            <a:ext cx="2194560" cy="173736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Staging Buffer
(empty)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297680"/>
            <a:ext cx="1371600" cy="173736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E9E9E"/>
                </a:solidFill>
              </a:rPr>
              <a:t>Alloc
Dir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79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CXL Switch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2194560" y="2560320"/>
            <a:ext cx="548640" cy="1280160"/>
          </a:xfrm>
          <a:prstGeom prst="line">
            <a:avLst/>
          </a:prstGeom>
          <a:ln w="25400">
            <a:solidFill>
              <a:srgbClr val="1565C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Read CXL slot value -&gt; 0x0 (matches expected)
If != 0x0: unlock &amp; abort (slot already taken)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5E20"/>
                </a:solidFill>
              </a:rPr>
              <a:t>value = 0x0
(empty, ok)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6492240"/>
            <a:ext cx="228600" cy="16459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Proposer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57400" y="6492240"/>
            <a:ext cx="228600" cy="164592"/>
          </a:xfrm>
          <a:prstGeom prst="roundRect">
            <a:avLst/>
          </a:prstGeom>
          <a:solidFill>
            <a:srgbClr val="D1C4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Voter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6492240"/>
            <a:ext cx="228600" cy="16459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CXL Mem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6492240"/>
            <a:ext cx="228600" cy="164592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SlotLock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6492240"/>
            <a:ext cx="228600" cy="164592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79" y="6492240"/>
            <a:ext cx="228600" cy="16459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OpLog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6492240"/>
            <a:ext cx="228600" cy="16459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KV/Staging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61319" y="6492240"/>
            <a:ext cx="228600" cy="164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3564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Modified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</a:rPr>
              <a:t>Step 4: Write KV to local DRAM + CXL Staging + OpLog (IN_PROGRESS)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474720" cy="18288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34440"/>
            <a:ext cx="1554480" cy="502920"/>
          </a:xfrm>
          <a:prstGeom prst="roundRect">
            <a:avLst/>
          </a:prstGeom>
          <a:solidFill>
            <a:srgbClr val="E3F2F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B5E20"/>
                </a:solidFill>
              </a:rPr>
              <a:t>Local KV
hello:world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19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Type 3 Shared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4572000" cy="1737360"/>
          </a:xfrm>
          <a:prstGeom prst="roundRect">
            <a:avLst/>
          </a:prstGeom>
          <a:solidFill>
            <a:srgbClr val="FFCCBC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</a:rPr>
              <a:t>SlotLock Table (per-hash-slot)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SlotLock[idx]: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  shm_mutex_t lock = HELD by Node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  uint64_t value = 0x0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97680"/>
            <a:ext cx="2468880" cy="1737360"/>
          </a:xfrm>
          <a:prstGeom prst="roundRect">
            <a:avLst/>
          </a:prstGeom>
          <a:solidFill>
            <a:srgbClr val="F3E5F5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5E20"/>
                </a:solidFill>
              </a:rPr>
              <a:t>OpLog (per-node)
Node 0:
IN_PROGRESS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97680"/>
            <a:ext cx="2194560" cy="1737360"/>
          </a:xfrm>
          <a:prstGeom prst="roundRect">
            <a:avLst/>
          </a:prstGeom>
          <a:solidFill>
            <a:srgbClr val="E3F2F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5E20"/>
                </a:solidFill>
              </a:rPr>
              <a:t>Staging Buffer
hello:world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297680"/>
            <a:ext cx="1371600" cy="173736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E9E9E"/>
                </a:solidFill>
              </a:rPr>
              <a:t>Alloc
Dir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79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CXL Switch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51760" y="2560320"/>
            <a:ext cx="6492240" cy="1280160"/>
          </a:xfrm>
          <a:prstGeom prst="line">
            <a:avLst/>
          </a:prstGeom>
          <a:ln w="2540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20240" y="2560320"/>
            <a:ext cx="4617720" cy="1280160"/>
          </a:xfrm>
          <a:prstGeom prst="line">
            <a:avLst/>
          </a:prstGeom>
          <a:ln w="2540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Node 0 writes KV to own DRAM
+ stages KV in CXL for replication
+ OpLog := IN_PROGRESS (for crash recovery)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6492240"/>
            <a:ext cx="228600" cy="16459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Proposer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57400" y="6492240"/>
            <a:ext cx="228600" cy="164592"/>
          </a:xfrm>
          <a:prstGeom prst="roundRect">
            <a:avLst/>
          </a:prstGeom>
          <a:solidFill>
            <a:srgbClr val="D1C4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Voter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6492240"/>
            <a:ext cx="228600" cy="16459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CXL Mem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6492240"/>
            <a:ext cx="228600" cy="164592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SlotLock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6492240"/>
            <a:ext cx="228600" cy="164592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79" y="6492240"/>
            <a:ext cx="228600" cy="16459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OpLog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6492240"/>
            <a:ext cx="228600" cy="16459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KV/Staging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61319" y="6492240"/>
            <a:ext cx="228600" cy="164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3564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Modified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F00"/>
                </a:solidFill>
              </a:rPr>
              <a:t>Step 5: Write SlotLock[idx].value = A  ==  COMMIT POINT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474720" cy="18288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554480" cy="502920"/>
          </a:xfrm>
          <a:prstGeom prst="roundRect">
            <a:avLst/>
          </a:prstGeom>
          <a:solidFill>
            <a:srgbClr val="FFF9C4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B5E20"/>
                </a:solidFill>
              </a:rPr>
              <a:t>Local Index
Slot X =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hello:world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19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Type 3 Shared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4572000" cy="1737360"/>
          </a:xfrm>
          <a:prstGeom prst="roundRect">
            <a:avLst/>
          </a:prstGeom>
          <a:solidFill>
            <a:srgbClr val="FFCCBC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</a:rPr>
              <a:t>SlotLock Table (per-hash-slot)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SlotLock[idx]: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shm_mutex_t lock = HELD by Node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uint64_t value =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97680"/>
            <a:ext cx="2468880" cy="1737360"/>
          </a:xfrm>
          <a:prstGeom prst="roundRect">
            <a:avLst/>
          </a:prstGeom>
          <a:solidFill>
            <a:srgbClr val="F3E5F5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5E20"/>
                </a:solidFill>
              </a:rPr>
              <a:t>OpLog (per-node)
Node 0:
COMMITTED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97680"/>
            <a:ext cx="2194560" cy="173736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Staging Buffer
hello:world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297680"/>
            <a:ext cx="1371600" cy="173736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E9E9E"/>
                </a:solidFill>
              </a:rPr>
              <a:t>Alloc
Dir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79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CXL Switch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37360" y="2560320"/>
            <a:ext cx="548640" cy="1280160"/>
          </a:xfrm>
          <a:prstGeom prst="line">
            <a:avLst/>
          </a:prstGeom>
          <a:ln w="31750">
            <a:solidFill>
              <a:srgbClr val="FF6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51760" y="2560320"/>
            <a:ext cx="3886200" cy="1280160"/>
          </a:xfrm>
          <a:prstGeom prst="line">
            <a:avLst/>
          </a:prstGeom>
          <a:ln w="2540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2560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F00"/>
                </a:solidFill>
              </a:rPr>
              <a:t>1. SlotLock[idx].value := A
   (single source of truth in CXL)
2. Update own local Index cache
3. OpLog := COMMITTED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" y="3520440"/>
            <a:ext cx="11612880" cy="0"/>
          </a:xfrm>
          <a:prstGeom prst="line">
            <a:avLst/>
          </a:prstGeom>
          <a:ln w="38100">
            <a:solidFill>
              <a:srgbClr val="FF6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F00"/>
                </a:solidFill>
              </a:rPr>
              <a:t>COMMIT POINT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492240"/>
            <a:ext cx="228600" cy="16459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Proposer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57400" y="6492240"/>
            <a:ext cx="228600" cy="164592"/>
          </a:xfrm>
          <a:prstGeom prst="roundRect">
            <a:avLst/>
          </a:prstGeom>
          <a:solidFill>
            <a:srgbClr val="D1C4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317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Voter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6492240"/>
            <a:ext cx="228600" cy="16459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CXL Mem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6492240"/>
            <a:ext cx="228600" cy="164592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SlotLock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6492240"/>
            <a:ext cx="228600" cy="164592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6492240"/>
            <a:ext cx="228600" cy="16459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OpLog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6492240"/>
            <a:ext cx="228600" cy="16459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KV/Staging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61319" y="6492240"/>
            <a:ext cx="228600" cy="164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564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Modified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</a:rPr>
              <a:t>Step 6: shm_mutex_unlock(&amp;SlotLock[idx].lock)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474720" cy="18288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hello:world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0x0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19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(empty)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Type 3 Shared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4572000" cy="1737360"/>
          </a:xfrm>
          <a:prstGeom prst="roundRect">
            <a:avLst/>
          </a:prstGeom>
          <a:solidFill>
            <a:srgbClr val="FFCCBC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</a:rPr>
              <a:t>SlotLock Table (per-hash-slot)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SlotLock[idx]: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shm_mutex_t lock =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5E20"/>
                </a:solidFill>
              </a:rPr>
              <a:t>  uint64_t value =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97680"/>
            <a:ext cx="2468880" cy="1737360"/>
          </a:xfrm>
          <a:prstGeom prst="roundRect">
            <a:avLst/>
          </a:prstGeom>
          <a:solidFill>
            <a:srgbClr val="F3E5F5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OpLog (per-node)
Node 0:
COMMITTED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97680"/>
            <a:ext cx="2194560" cy="173736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Staging Buffer
hello:world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297680"/>
            <a:ext cx="1371600" cy="173736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E9E9E"/>
                </a:solidFill>
              </a:rPr>
              <a:t>Alloc
Dir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79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CXL Switch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828800" y="2560320"/>
            <a:ext cx="91440" cy="1280160"/>
          </a:xfrm>
          <a:prstGeom prst="line">
            <a:avLst/>
          </a:prstGeom>
          <a:ln w="2540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LFM release (~2 CACHELINE ops):
y:=0, b[0]:=0
Lock free for next writer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6492240"/>
            <a:ext cx="228600" cy="16459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Proposer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57400" y="6492240"/>
            <a:ext cx="228600" cy="164592"/>
          </a:xfrm>
          <a:prstGeom prst="roundRect">
            <a:avLst/>
          </a:prstGeom>
          <a:solidFill>
            <a:srgbClr val="D1C4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Voter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6492240"/>
            <a:ext cx="228600" cy="16459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CXL Mem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6492240"/>
            <a:ext cx="228600" cy="164592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SlotLock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6492240"/>
            <a:ext cx="228600" cy="164592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26679" y="6492240"/>
            <a:ext cx="228600" cy="16459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OpLog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6492240"/>
            <a:ext cx="228600" cy="16459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KV/Staging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61319" y="6492240"/>
            <a:ext cx="228600" cy="164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3564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Modified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</a:rPr>
              <a:t>Step 7: Background — Voter nodes apply update to local DRAM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474720" cy="18288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55448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Index
Slot X =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34440"/>
            <a:ext cx="1554480" cy="50292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</a:rPr>
              <a:t>Local KV
hello:world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34440"/>
            <a:ext cx="1554480" cy="502920"/>
          </a:xfrm>
          <a:prstGeom prst="roundRect">
            <a:avLst/>
          </a:prstGeom>
          <a:solidFill>
            <a:srgbClr val="FFF9C4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B5E20"/>
                </a:solidFill>
              </a:rPr>
              <a:t>Local Index
Slot X =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1554480" cy="502920"/>
          </a:xfrm>
          <a:prstGeom prst="roundRect">
            <a:avLst/>
          </a:prstGeom>
          <a:solidFill>
            <a:srgbClr val="E3F2F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B5E20"/>
                </a:solidFill>
              </a:rPr>
              <a:t>Local KV
hello:world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3474720" cy="1828800"/>
          </a:xfrm>
          <a:prstGeom prst="roundRect">
            <a:avLst/>
          </a:prstGeom>
          <a:solidFill>
            <a:srgbClr val="D1C4E9"/>
          </a:solidFill>
          <a:ln w="254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E35B1"/>
                </a:solidFill>
              </a:rPr>
              <a:t>Node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1554480" cy="502920"/>
          </a:xfrm>
          <a:prstGeom prst="roundRect">
            <a:avLst/>
          </a:prstGeom>
          <a:solidFill>
            <a:srgbClr val="FFF9C4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B5E20"/>
                </a:solidFill>
              </a:rPr>
              <a:t>Local Index
Slot X =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19" y="1234440"/>
            <a:ext cx="1554480" cy="502920"/>
          </a:xfrm>
          <a:prstGeom prst="roundRect">
            <a:avLst/>
          </a:prstGeom>
          <a:solidFill>
            <a:srgbClr val="E3F2F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B5E20"/>
                </a:solidFill>
              </a:rPr>
              <a:t>Local KV
hello:world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39" cy="365760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9E9E9E"/>
                </a:solidFill>
              </a:rPr>
              <a:t>Replication Fiber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Type 3 Shared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4572000" cy="1737360"/>
          </a:xfrm>
          <a:prstGeom prst="roundRect">
            <a:avLst/>
          </a:prstGeom>
          <a:solidFill>
            <a:srgbClr val="FFCCBC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</a:rPr>
              <a:t>SlotLock Table (per-hash-slot)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SlotLock[idx]: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  shm_mutex_t lock =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  uint64_t value =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297680"/>
            <a:ext cx="2468880" cy="1737360"/>
          </a:xfrm>
          <a:prstGeom prst="roundRect">
            <a:avLst/>
          </a:prstGeom>
          <a:solidFill>
            <a:srgbClr val="F3E5F5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OpLog (per-node)
Node 0:
COMMITTED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97680"/>
            <a:ext cx="2194560" cy="1737360"/>
          </a:xfrm>
          <a:prstGeom prst="roundRect">
            <a:avLst/>
          </a:prstGeom>
          <a:solidFill>
            <a:srgbClr val="E3F2FD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</a:rPr>
              <a:t>Staging Buffer
hello:world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297680"/>
            <a:ext cx="1371600" cy="173736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E9E9E"/>
                </a:solidFill>
              </a:rPr>
              <a:t>Alloc
Dir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6479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2560320"/>
            <a:ext cx="0" cy="1280160"/>
          </a:xfrm>
          <a:prstGeom prst="line">
            <a:avLst/>
          </a:prstGeom>
          <a:ln w="10160">
            <a:solidFill>
              <a:srgbClr val="9E9E9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CXL Switch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743200" y="2560320"/>
            <a:ext cx="2926079" cy="1280160"/>
          </a:xfrm>
          <a:prstGeom prst="line">
            <a:avLst/>
          </a:prstGeom>
          <a:ln w="19050">
            <a:solidFill>
              <a:srgbClr val="1B5E2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583679" y="2560320"/>
            <a:ext cx="2560321" cy="1280160"/>
          </a:xfrm>
          <a:prstGeom prst="line">
            <a:avLst/>
          </a:prstGeom>
          <a:ln w="19050">
            <a:solidFill>
              <a:srgbClr val="1B5E2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43200" y="2560320"/>
            <a:ext cx="6858000" cy="1280160"/>
          </a:xfrm>
          <a:prstGeom prst="line">
            <a:avLst/>
          </a:prstGeom>
          <a:ln w="19050">
            <a:solidFill>
              <a:srgbClr val="1B5E2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144000" y="2560320"/>
            <a:ext cx="1371600" cy="1280160"/>
          </a:xfrm>
          <a:prstGeom prst="line">
            <a:avLst/>
          </a:prstGeom>
          <a:ln w="19050">
            <a:solidFill>
              <a:srgbClr val="1B5E2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2560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5E20"/>
                </a:solidFill>
              </a:rPr>
              <a:t>Replication fiber on each node:
1. Periodically scans SlotLock table
2. Sees value changed -&gt; updates local Index
3. Copies KV from CXL Staging -&gt; local DRAM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583680"/>
            <a:ext cx="1124712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5E20"/>
                </a:solidFill>
              </a:rPr>
              <a:t>Final: SlotLock value = A | All 3 nodes have Slot X = A | KV replicated | OpLog committed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6492240"/>
            <a:ext cx="228600" cy="16459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Proposer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7400" y="6492240"/>
            <a:ext cx="228600" cy="164592"/>
          </a:xfrm>
          <a:prstGeom prst="roundRect">
            <a:avLst/>
          </a:prstGeom>
          <a:solidFill>
            <a:srgbClr val="D1C4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Voter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6492240"/>
            <a:ext cx="228600" cy="16459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39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CXL Mem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2040" y="6492240"/>
            <a:ext cx="228600" cy="164592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SlotLock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6492240"/>
            <a:ext cx="228600" cy="164592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6679" y="6492240"/>
            <a:ext cx="228600" cy="16459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OpLog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6492240"/>
            <a:ext cx="228600" cy="16459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KV/Staging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61319" y="6492240"/>
            <a:ext cx="228600" cy="164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35640" y="6473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Modified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</a:rPr>
              <a:t>Old vs New Design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286000" cy="41148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88920" y="1097280"/>
            <a:ext cx="4297680" cy="41148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5100"/>
                </a:solidFill>
              </a:rPr>
              <a:t>Old: Propose-Vote-Commit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097280"/>
            <a:ext cx="4297680" cy="41148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5100"/>
                </a:solidFill>
              </a:rPr>
              <a:t>New: Per-Slot LFM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286000" cy="77724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691640"/>
            <a:ext cx="4297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7 (incl. voter polling)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1691640"/>
            <a:ext cx="4297680" cy="777240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5E20"/>
                </a:solidFill>
              </a:rPr>
              <a:t>6 (no polling)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06040"/>
            <a:ext cx="2286000" cy="77724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CXL ops
(uncontended)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606040"/>
            <a:ext cx="4297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~10 + voter wait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2606040"/>
            <a:ext cx="4297680" cy="777240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5E20"/>
                </a:solidFill>
              </a:rPr>
              <a:t>~9, no wait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520440"/>
            <a:ext cx="2286000" cy="77724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Latency
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520440"/>
            <a:ext cx="4297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15-50 us
(voter polling bottleneck)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59" y="3520440"/>
            <a:ext cx="4297680" cy="777240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5E20"/>
                </a:solidFill>
              </a:rPr>
              <a:t>5-10 us
(LFM fast path)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34840"/>
            <a:ext cx="2286000" cy="77724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Conflict
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434840"/>
            <a:ext cx="4297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ABORT + retry whole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4434840"/>
            <a:ext cx="4297680" cy="777240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5E20"/>
                </a:solidFill>
              </a:rPr>
              <a:t>Spin-wait on lock
(automatic queue)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349240"/>
            <a:ext cx="2286000" cy="77724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Race in
claim phase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5349240"/>
            <a:ext cx="4297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</a:rPr>
              <a:t>Yes (two nodes can both 'win')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59" y="5349240"/>
            <a:ext cx="4297680" cy="777240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5E20"/>
                </a:solidFill>
              </a:rPr>
              <a:t>Impossible
(LFM is mutex)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