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333333"/>
                </a:solidFill>
              </a:rPr>
              <a:t>Protocol A vs Protocol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1089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154FC2"/>
                </a:solidFill>
              </a:rPr>
              <a:t>Read / Write Path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9E9E9E"/>
                </a:solidFill>
              </a:rPr>
              <a:t>measured T=64 workload-A on g3+g4 testbed  •  iter-11A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333333"/>
                </a:solidFill>
              </a:rPr>
              <a:t>Thesis: strict-A linearizability (Protocol A) requires fundamentally more stages, more linearization points, and more cross-host coordination than LRC (Protocol C). The measured per-stage data confirms this is a structural property, not an engineering artefact.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154FC2"/>
                </a:solidFill>
              </a:rPr>
              <a:t>Protocol A — Write path: cross-host  update(K, V)  with peer cached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Steps labelled by path_decomp probe tag (W1..W12, I1..I8). Greyed "untracked" steps = code without PROBE_OP (ring fetch_add, slot wait, ACK spin). Same probe tags appear in slide 6 latency table.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1188720"/>
            <a:ext cx="256032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(caller)
forward_write_direct() — no probes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88720"/>
            <a:ext cx="256032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4FC2"/>
                </a:solidFill>
              </a:rPr>
              <a:t>host 1  WriteReceiver (cpu 65)
execute_write_local() — W*/I* probes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19" y="1188720"/>
            <a:ext cx="256032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4FC2"/>
                </a:solidFill>
              </a:rPr>
              <a:t>host 0  InvalReceiver (cpu 69)
inval_receiver_loop() — I3..I6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6304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24128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316736" y="17282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78307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forward_write_direct: write staging + WriteRing.fetch_add + write Entry</a:t>
            </a:r>
          </a:p>
        </p:txBody>
      </p:sp>
      <p:sp>
        <p:nvSpPr>
          <p:cNvPr id="12" name="Oval 11"/>
          <p:cNvSpPr/>
          <p:nvPr/>
        </p:nvSpPr>
        <p:spPr>
          <a:xfrm>
            <a:off x="1316736" y="1929384"/>
            <a:ext cx="292608" cy="292608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984248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worker spin on WriteRing.resp_op_id  (5 ms cap)  ← BLOCKING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63040" y="2276856"/>
            <a:ext cx="4023360" cy="0"/>
          </a:xfrm>
          <a:prstGeom prst="line">
            <a:avLst/>
          </a:prstGeom>
          <a:ln w="20320">
            <a:solidFill>
              <a:srgbClr val="9E9E9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328415" y="213055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79" y="2020824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WriteReceiver poll observes new tail; reads staging bytes</a:t>
            </a:r>
          </a:p>
        </p:txBody>
      </p:sp>
      <p:sp>
        <p:nvSpPr>
          <p:cNvPr id="17" name="Oval 16"/>
          <p:cNvSpPr/>
          <p:nvPr/>
        </p:nvSpPr>
        <p:spPr>
          <a:xfrm>
            <a:off x="5340096" y="233172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W1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386584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hash + bucket flush + mfence</a:t>
            </a:r>
          </a:p>
        </p:txBody>
      </p:sp>
      <p:sp>
        <p:nvSpPr>
          <p:cNvPr id="19" name="Oval 18"/>
          <p:cNvSpPr/>
          <p:nvPr/>
        </p:nvSpPr>
        <p:spPr>
          <a:xfrm>
            <a:off x="5340096" y="25328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W2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587752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scan 7 slots + DRAM SlotDirectoryEntry spinlock</a:t>
            </a:r>
          </a:p>
        </p:txBody>
      </p:sp>
      <p:sp>
        <p:nvSpPr>
          <p:cNvPr id="21" name="Oval 20"/>
          <p:cNvSpPr/>
          <p:nvPr/>
        </p:nvSpPr>
        <p:spPr>
          <a:xfrm>
            <a:off x="5340096" y="2734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W3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2788920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re-flush bucket; read sharer_bitmap</a:t>
            </a:r>
          </a:p>
        </p:txBody>
      </p:sp>
      <p:sp>
        <p:nvSpPr>
          <p:cNvPr id="23" name="Oval 22"/>
          <p:cNvSpPr/>
          <p:nvPr/>
        </p:nvSpPr>
        <p:spPr>
          <a:xfrm>
            <a:off x="5340096" y="293522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W4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990088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enter invalidate broadcast loop</a:t>
            </a:r>
          </a:p>
        </p:txBody>
      </p:sp>
      <p:sp>
        <p:nvSpPr>
          <p:cNvPr id="25" name="Oval 24"/>
          <p:cNvSpPr/>
          <p:nvPr/>
        </p:nvSpPr>
        <p:spPr>
          <a:xfrm>
            <a:off x="5340096" y="313639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I1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3191256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InvalRing[1][0].tail.fetch_add(1)  RMW-CXL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0" y="3483864"/>
            <a:ext cx="47548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7717536" y="333756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I2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227832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write InvalEntry{key, req_op_id} + flush + sfence</a:t>
            </a:r>
          </a:p>
        </p:txBody>
      </p:sp>
      <p:sp>
        <p:nvSpPr>
          <p:cNvPr id="30" name="Oval 29"/>
          <p:cNvSpPr/>
          <p:nvPr/>
        </p:nvSpPr>
        <p:spPr>
          <a:xfrm>
            <a:off x="10094976" y="353872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I3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3593592"/>
            <a:ext cx="237744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r"/>
            <a:r>
              <a:rPr sz="850" b="1" i="0">
                <a:solidFill>
                  <a:srgbClr val="154FC2"/>
                </a:solidFill>
              </a:rPr>
              <a:t>poll InvalRing tail; observes new entry</a:t>
            </a:r>
          </a:p>
        </p:txBody>
      </p:sp>
      <p:sp>
        <p:nvSpPr>
          <p:cNvPr id="32" name="Oval 31"/>
          <p:cNvSpPr/>
          <p:nvPr/>
        </p:nvSpPr>
        <p:spPr>
          <a:xfrm>
            <a:off x="10094976" y="3739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I4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3794760"/>
            <a:ext cx="237744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r"/>
            <a:r>
              <a:rPr sz="850" b="1" i="0">
                <a:solidFill>
                  <a:srgbClr val="154FC2"/>
                </a:solidFill>
              </a:rPr>
              <a:t>read req_op_id</a:t>
            </a:r>
          </a:p>
        </p:txBody>
      </p:sp>
      <p:sp>
        <p:nvSpPr>
          <p:cNvPr id="34" name="Oval 33"/>
          <p:cNvSpPr/>
          <p:nvPr/>
        </p:nvSpPr>
        <p:spPr>
          <a:xfrm>
            <a:off x="10094976" y="3941064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I5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199" y="3995928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r"/>
            <a:r>
              <a:rPr sz="850" b="1" i="0">
                <a:solidFill>
                  <a:srgbClr val="154FC2"/>
                </a:solidFill>
              </a:rPr>
              <a:t>cache_pool_set_stale; bucket_epoch++  (seqlock CAS)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5486400" y="4288536"/>
            <a:ext cx="47548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717536" y="414223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I6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379976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write resp_op_id ACK + flush + sfence</a:t>
            </a:r>
          </a:p>
        </p:txBody>
      </p:sp>
      <p:sp>
        <p:nvSpPr>
          <p:cNvPr id="39" name="Oval 38"/>
          <p:cNvSpPr/>
          <p:nvPr/>
        </p:nvSpPr>
        <p:spPr>
          <a:xfrm>
            <a:off x="5340096" y="434340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I7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4398264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spin observes ACK  (end of cross-host blocking)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04104" y="3438144"/>
            <a:ext cx="164592" cy="1216151"/>
          </a:xfrm>
          <a:prstGeom prst="rect">
            <a:avLst/>
          </a:prstGeom>
          <a:solidFill>
            <a:srgbClr val="FFCDD2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40096" y="454456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I8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4599432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free InvalRing slot (req_op_id = 0)</a:t>
            </a:r>
          </a:p>
        </p:txBody>
      </p:sp>
      <p:sp>
        <p:nvSpPr>
          <p:cNvPr id="44" name="Oval 43"/>
          <p:cNvSpPr/>
          <p:nvPr/>
        </p:nvSpPr>
        <p:spPr>
          <a:xfrm>
            <a:off x="5340096" y="47457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W6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0" y="4800600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end of invalidate broadcast loop</a:t>
            </a:r>
          </a:p>
        </p:txBody>
      </p:sp>
      <p:sp>
        <p:nvSpPr>
          <p:cNvPr id="46" name="Oval 45"/>
          <p:cNvSpPr/>
          <p:nvPr/>
        </p:nvSpPr>
        <p:spPr>
          <a:xfrm>
            <a:off x="5340096" y="4946903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W7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5001768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pool-&gt;alloc  (bump.fetch_add CXL atomic)</a:t>
            </a:r>
          </a:p>
        </p:txBody>
      </p:sp>
      <p:sp>
        <p:nvSpPr>
          <p:cNvPr id="48" name="Oval 47"/>
          <p:cNvSpPr/>
          <p:nvPr/>
        </p:nvSpPr>
        <p:spPr>
          <a:xfrm>
            <a:off x="5340096" y="5148071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W8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0" y="5202936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pool-&gt;write  (memcpy + per-cacheline flush + sfence)</a:t>
            </a:r>
          </a:p>
        </p:txBody>
      </p:sp>
      <p:sp>
        <p:nvSpPr>
          <p:cNvPr id="50" name="Oval 49"/>
          <p:cNvSpPr/>
          <p:nvPr/>
        </p:nvSpPr>
        <p:spPr>
          <a:xfrm>
            <a:off x="5340096" y="5349239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W9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0" y="5404103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★ publish_slot_cow ★ — value flush + key flush + 2× sfence</a:t>
            </a:r>
          </a:p>
        </p:txBody>
      </p:sp>
      <p:sp>
        <p:nvSpPr>
          <p:cNvPr id="52" name="Oval 51"/>
          <p:cNvSpPr/>
          <p:nvPr/>
        </p:nvSpPr>
        <p:spPr>
          <a:xfrm>
            <a:off x="5340096" y="5550407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W10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0" y="5605271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directory update + cache_pool_insert + bucket_epoch++  ★ lin #2</a:t>
            </a:r>
          </a:p>
        </p:txBody>
      </p:sp>
      <p:sp>
        <p:nvSpPr>
          <p:cNvPr id="54" name="Oval 53"/>
          <p:cNvSpPr/>
          <p:nvPr/>
        </p:nvSpPr>
        <p:spPr>
          <a:xfrm>
            <a:off x="5340096" y="575157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W12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0" y="580643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return 0 to write_receiver_loop</a:t>
            </a:r>
          </a:p>
        </p:txBody>
      </p:sp>
      <p:cxnSp>
        <p:nvCxnSpPr>
          <p:cNvPr id="56" name="Connector 55"/>
          <p:cNvCxnSpPr/>
          <p:nvPr/>
        </p:nvCxnSpPr>
        <p:spPr>
          <a:xfrm flipH="1">
            <a:off x="1463040" y="6099047"/>
            <a:ext cx="4023360" cy="0"/>
          </a:xfrm>
          <a:prstGeom prst="line">
            <a:avLst/>
          </a:prstGeom>
          <a:ln w="20320">
            <a:solidFill>
              <a:srgbClr val="9E9E9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3328415" y="5952743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11679" y="6190487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write WriteRing.resp_op_id ACK + flush; worker spin breaks; free slot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80744" y="2029968"/>
            <a:ext cx="164592" cy="4224527"/>
          </a:xfrm>
          <a:prstGeom prst="rect">
            <a:avLst/>
          </a:prstGeom>
          <a:solidFill>
            <a:srgbClr val="FFCDD2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54FC2"/>
                </a:solidFill>
              </a:rPr>
              <a:t>● W1..W12 probe (host 1)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54FC2"/>
                </a:solidFill>
              </a:rPr>
              <a:t>● I3..I6 probe (host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9E9E9E"/>
                </a:solidFill>
              </a:rPr>
              <a:t>untr — no PROBE_OP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★ Linearization point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0D327D"/>
                </a:solidFill>
              </a:rPr>
              <a:t>17 probed stages · 3 untracked · 2 blocking spans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E65100"/>
                </a:solidFill>
              </a:rPr>
              <a:t>Protocol C — Write path: in-place under cross-host LFM 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Steps labelled by DECOMP_REC stage tag (Lock / Scan / Publish / Epoch / Unlock). Same probe tags appear in slide 6 latency table. 1 actor · no cross-host messages.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188720"/>
            <a:ext cx="292608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(caller)
insert / update / remove — DECOMP_REC probes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43600" y="1188720"/>
            <a:ext cx="5852160" cy="411480"/>
          </a:xfrm>
          <a:prstGeom prst="roundRect">
            <a:avLst/>
          </a:prstGeom>
          <a:solidFill>
            <a:srgbClr val="FFF3E0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CXL state touched on the write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920240"/>
            <a:ext cx="5486400" cy="50292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BucketLockEntry  •  shm_mutex_t (LFM) cross-host  •  write_epoch (cacheline_u64)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606040"/>
            <a:ext cx="5486400" cy="50292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CxlKvBucket  •  7 × {key, value} = 112 B = 2 cachelines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291840"/>
            <a:ext cx="5486400" cy="502920"/>
          </a:xfrm>
          <a:prstGeom prst="roundRect">
            <a:avLst/>
          </a:prstGeom>
          <a:solidFill>
            <a:srgbClr val="EEEEEE"/>
          </a:solidFill>
          <a:ln w="1587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0">
                <a:solidFill>
                  <a:srgbClr val="333333"/>
                </a:solidFill>
              </a:rPr>
              <a:t>KvBlockPool  (optional for value_len &gt; 8 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977639"/>
            <a:ext cx="5486400" cy="502920"/>
          </a:xfrm>
          <a:prstGeom prst="roundRect">
            <a:avLst/>
          </a:prstGeom>
          <a:solidFill>
            <a:srgbClr val="EEEEEE"/>
          </a:solidFill>
          <a:ln w="1587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0">
                <a:solidFill>
                  <a:srgbClr val="333333"/>
                </a:solidFill>
              </a:rPr>
              <a:t>OpLog  (optional, recovery)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94560" y="210312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014215" y="1956815"/>
            <a:ext cx="292608" cy="292608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79" y="1847087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lock_table_.lock(idx)   LFM acquire  (cross-host blocking spin)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94560" y="251460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014215" y="23682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Scan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225856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flush_line(slots[0]); flush_line(slots[4]); mfence; scan 7 slots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4560" y="292608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014215" y="27797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Pub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267004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slot.value = V; flush; sfence    (INSERT: + key flush + sfence)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4560" y="333756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014215" y="3191256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Epoch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308152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★ atomic_add_fetch(&amp;write_epoch, 1) + flush + sfence ★  1.4 µs CXL atomic = peer-visible commit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194560" y="374904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014215" y="36027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Unlk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49300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lock_table_.unlock()   LFM release  →  return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4937760"/>
            <a:ext cx="5212080" cy="1280160"/>
          </a:xfrm>
          <a:prstGeom prst="roundRect">
            <a:avLst/>
          </a:prstGeom>
          <a:solidFill>
            <a:srgbClr val="EEEEEE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Key features of Protocol C write path:</a:t>
            </a:r>
          </a:p>
          <a:p>
            <a:r>
              <a:rPr sz="1000">
                <a:solidFill>
                  <a:srgbClr val="333333"/>
                </a:solidFill>
              </a:rPr>
              <a:t>• 1 actor — no senders / receivers / dispatchers</a:t>
            </a:r>
          </a:p>
          <a:p>
            <a:r>
              <a:rPr sz="1000">
                <a:solidFill>
                  <a:srgbClr val="333333"/>
                </a:solidFill>
              </a:rPr>
              <a:t>• 0 cross-host messages — coordination via shared CXL mutex + epoch</a:t>
            </a:r>
          </a:p>
          <a:p>
            <a:r>
              <a:rPr sz="1000">
                <a:solidFill>
                  <a:srgbClr val="333333"/>
                </a:solidFill>
              </a:rPr>
              <a:t>• 1 linearization point — Epoch atomic bump</a:t>
            </a:r>
          </a:p>
          <a:p>
            <a:r>
              <a:rPr sz="1000">
                <a:solidFill>
                  <a:srgbClr val="333333"/>
                </a:solidFill>
              </a:rPr>
              <a:t>• Failure mode: hot-bucket LFM contention scales catastrophically with 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E65100"/>
                </a:solidFill>
              </a:rPr>
              <a:t>● DECOMP_REC probe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★ Linearization (Epoch)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 (Lock)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8C3200"/>
                </a:solidFill>
              </a:rPr>
              <a:t>5 probed stages · 1 actor · 1 blocking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154FC2"/>
                </a:solidFill>
              </a:rPr>
              <a:t>Protocol A — Read path: TLS L1 → L2 → cross-host forwarder-pool-direct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Steps labelled by path_decomp probe tag (R0_tls_hit, R1, R2hit, R2miss, R3, R4, R6). Greyed "untracked" steps = code without PROBE_OP. Same probe tags appear in slide 7 latency table.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59" y="1188720"/>
            <a:ext cx="228600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(caller)
search() — R* probes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188720"/>
            <a:ext cx="228600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TLS L1
(private DRAM)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83480" y="1188720"/>
            <a:ext cx="228600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L2 KvCachePool
(MAP_SHARED DRAM, seqlock CAS)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188720"/>
            <a:ext cx="228600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4FC2"/>
                </a:solidFill>
              </a:rPr>
              <a:t>host 1  ReadReceiver (cpu 67)
read_handler — no R* probes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24160" y="1188720"/>
            <a:ext cx="1645920" cy="457200"/>
          </a:xfrm>
          <a:prstGeom prst="roundRect">
            <a:avLst/>
          </a:prstGeom>
          <a:solidFill>
            <a:srgbClr val="FFF3E0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900" b="1">
                <a:solidFill>
                  <a:srgbClr val="8C3200"/>
                </a:solidFill>
              </a:rPr>
              <a:t>ReadStaging[0][1]
(CXL arena)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0332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2648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0684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24712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133856" y="16367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R1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39" y="169163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enter search(K)  PROBE_OP("R1")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1984248"/>
            <a:ext cx="2423160" cy="0"/>
          </a:xfrm>
          <a:prstGeom prst="line">
            <a:avLst/>
          </a:prstGeom>
          <a:ln w="20320">
            <a:solidFill>
              <a:srgbClr val="9E9E9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345435" y="1837943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699" y="1728216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tls_lookup: read bucket_epoch; compare observed_epoch</a:t>
            </a:r>
          </a:p>
        </p:txBody>
      </p:sp>
      <p:sp>
        <p:nvSpPr>
          <p:cNvPr id="19" name="Oval 18"/>
          <p:cNvSpPr/>
          <p:nvPr/>
        </p:nvSpPr>
        <p:spPr>
          <a:xfrm>
            <a:off x="1133856" y="2039112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R0_h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39" y="2093976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★ if TLS hit + epoch fresh: PROBE_OP("R0_tls_hit") → return ~80 ns ★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80160" y="2386584"/>
            <a:ext cx="4846320" cy="0"/>
          </a:xfrm>
          <a:prstGeom prst="line">
            <a:avLst/>
          </a:prstGeom>
          <a:ln w="20320">
            <a:solidFill>
              <a:srgbClr val="9E9E9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3557015" y="22402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79" y="2130552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else cache_pool_lookup: seqlock CAS read of L2 entry</a:t>
            </a:r>
          </a:p>
        </p:txBody>
      </p:sp>
      <p:sp>
        <p:nvSpPr>
          <p:cNvPr id="24" name="Oval 23"/>
          <p:cNvSpPr/>
          <p:nvPr/>
        </p:nvSpPr>
        <p:spPr>
          <a:xfrm>
            <a:off x="1133856" y="2441448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R2hit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39" y="2496312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★ if L2 hit: PROBE_OP("R2hit") → populate TLS → return ~5-7 µs ★</a:t>
            </a:r>
          </a:p>
        </p:txBody>
      </p:sp>
      <p:sp>
        <p:nvSpPr>
          <p:cNvPr id="26" name="Oval 25"/>
          <p:cNvSpPr/>
          <p:nvPr/>
        </p:nvSpPr>
        <p:spPr>
          <a:xfrm>
            <a:off x="1133856" y="26426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R2miss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39" y="2697480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L2 miss → forward_read_direct  PROBE_OP("R2miss")</a:t>
            </a:r>
          </a:p>
        </p:txBody>
      </p:sp>
      <p:sp>
        <p:nvSpPr>
          <p:cNvPr id="28" name="Oval 27"/>
          <p:cNvSpPr/>
          <p:nvPr/>
        </p:nvSpPr>
        <p:spPr>
          <a:xfrm>
            <a:off x="1133856" y="284378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2898648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my_epoch_at_send = bucket_epoch.load(K)   (C13 capture)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80160" y="3191256"/>
            <a:ext cx="9966960" cy="0"/>
          </a:xfrm>
          <a:prstGeom prst="line">
            <a:avLst/>
          </a:prstGeom>
          <a:ln w="20320">
            <a:solidFill>
              <a:srgbClr val="9E9E9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117336" y="304495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2935224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staging.ready_op_id = 0; flush; sfence  (clear prior signal)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280160" y="3392424"/>
            <a:ext cx="7726680" cy="0"/>
          </a:xfrm>
          <a:prstGeom prst="line">
            <a:avLst/>
          </a:prstGeom>
          <a:ln w="20320">
            <a:solidFill>
              <a:srgbClr val="9E9E9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997196" y="324612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80460" y="3136392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ReadRing[0][1].tail.fetch_add(1) + write Entry + flush + sfence</a:t>
            </a:r>
          </a:p>
        </p:txBody>
      </p:sp>
      <p:sp>
        <p:nvSpPr>
          <p:cNvPr id="36" name="Oval 35"/>
          <p:cNvSpPr/>
          <p:nvPr/>
        </p:nvSpPr>
        <p:spPr>
          <a:xfrm>
            <a:off x="1133856" y="3447288"/>
            <a:ext cx="292608" cy="292608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R3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39" y="3502152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PROBE_OP("R3") emitted; worker spins on staging.ready_op_id  (200 ms cap)  ← measured interval starts here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80160" y="3794760"/>
            <a:ext cx="7726680" cy="0"/>
          </a:xfrm>
          <a:prstGeom prst="line">
            <a:avLst/>
          </a:prstGeom>
          <a:ln w="20320">
            <a:solidFill>
              <a:srgbClr val="9E9E9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997196" y="36484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80460" y="353872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ReadReceiver poll observes new ReadRing tail</a:t>
            </a:r>
          </a:p>
        </p:txBody>
      </p:sp>
      <p:sp>
        <p:nvSpPr>
          <p:cNvPr id="41" name="Oval 40"/>
          <p:cNvSpPr/>
          <p:nvPr/>
        </p:nvSpPr>
        <p:spPr>
          <a:xfrm>
            <a:off x="8860536" y="384962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19" y="3904488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flush bucket cachelines; scan 7 slots</a:t>
            </a:r>
          </a:p>
        </p:txBody>
      </p:sp>
      <p:sp>
        <p:nvSpPr>
          <p:cNvPr id="43" name="Oval 42"/>
          <p:cNvSpPr/>
          <p:nvPr/>
        </p:nvSpPr>
        <p:spPr>
          <a:xfrm>
            <a:off x="8860536" y="4050792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19" y="4105656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acquire SlotDirectoryEntry.spinlock; sharer_bitmap |= (1&lt;&lt;src)  ★ peer-visible state change</a:t>
            </a:r>
          </a:p>
        </p:txBody>
      </p:sp>
      <p:sp>
        <p:nvSpPr>
          <p:cNvPr id="45" name="Oval 44"/>
          <p:cNvSpPr/>
          <p:nvPr/>
        </p:nvSpPr>
        <p:spPr>
          <a:xfrm>
            <a:off x="8860536" y="425196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19" y="4306824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pool-&gt;read(blk_off, 4) → value_len; pool-&gt;read(blk_off+4, vlen)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006840" y="4599432"/>
            <a:ext cx="2240280" cy="0"/>
          </a:xfrm>
          <a:prstGeom prst="line">
            <a:avLst/>
          </a:prstGeom>
          <a:ln w="20320">
            <a:solidFill>
              <a:srgbClr val="9E9E9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9980676" y="445312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63940" y="4343400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write staging.value_bytes + lookup_epoch (C13 tag) + status; flush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006840" y="4800600"/>
            <a:ext cx="2240280" cy="0"/>
          </a:xfrm>
          <a:prstGeom prst="line">
            <a:avLst/>
          </a:prstGeom>
          <a:ln w="20320">
            <a:solidFill>
              <a:srgbClr val="9E9E9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9980676" y="4654296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63940" y="4892040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staging.ready_op_id = req_op_id  ★ release-publish ★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1280160" y="5001768"/>
            <a:ext cx="9966960" cy="0"/>
          </a:xfrm>
          <a:prstGeom prst="line">
            <a:avLst/>
          </a:prstGeom>
          <a:ln w="20320">
            <a:solidFill>
              <a:srgbClr val="9E9E9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117336" y="485546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0600" y="5093207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worker spin observes ready_op_id  → break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97863" y="3547872"/>
            <a:ext cx="164592" cy="1618487"/>
          </a:xfrm>
          <a:prstGeom prst="rect">
            <a:avLst/>
          </a:prstGeom>
          <a:solidFill>
            <a:srgbClr val="FFCDD2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33856" y="5056631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R4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63039" y="5111496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PROBE_OP("R4") emitted; C13 validate + memcpy from staging  ← measured interval R3→R4 ≈ 14 µs</a:t>
            </a:r>
          </a:p>
        </p:txBody>
      </p:sp>
      <p:sp>
        <p:nvSpPr>
          <p:cNvPr id="59" name="Oval 58"/>
          <p:cNvSpPr/>
          <p:nvPr/>
        </p:nvSpPr>
        <p:spPr>
          <a:xfrm>
            <a:off x="1133856" y="5257799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E9E9E"/>
                </a:solidFill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63039" y="5312664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9E9E9E"/>
                </a:solidFill>
              </a:rPr>
              <a:t>cache_pool_insert (L2 seqlock CAS); tls_insert (L1)</a:t>
            </a:r>
          </a:p>
        </p:txBody>
      </p:sp>
      <p:sp>
        <p:nvSpPr>
          <p:cNvPr id="61" name="Oval 60"/>
          <p:cNvSpPr/>
          <p:nvPr/>
        </p:nvSpPr>
        <p:spPr>
          <a:xfrm>
            <a:off x="1133856" y="5458967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R6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63039" y="5513831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PROBE_OP("R6"); return 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54FC2"/>
                </a:solidFill>
              </a:rPr>
              <a:t>● R*  probe (worker)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9E9E9E"/>
                </a:solidFill>
              </a:rPr>
              <a:t>— = no PROBE_OP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★ Linearization checkpoint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 (R3)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0D327D"/>
                </a:solidFill>
              </a:rPr>
              <a:t>5 probed stages · 14 untracked · 1 blocking span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E65100"/>
                </a:solidFill>
              </a:rPr>
              <a:t>Protocol C — Read path: 1 epoch load + 1 flush + scan  (LRC read-singleshot)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No DECOMP_REC probe on search() — latency inferred from primitives. 1 actor · 0 cross-host blocking · no seqlock revalidation (LRC: value is committed at SOME instant during scan).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188720"/>
            <a:ext cx="292608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43600" y="1188720"/>
            <a:ext cx="5852160" cy="411480"/>
          </a:xfrm>
          <a:prstGeom prst="roundRect">
            <a:avLst/>
          </a:prstGeom>
          <a:solidFill>
            <a:srgbClr val="FFF3E0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CXL state read on the search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920240"/>
            <a:ext cx="5486400" cy="50292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BucketLockEntry.write_epoch (cacheline_u64) — read seqlock tag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606040"/>
            <a:ext cx="5486400" cy="50292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CxlKvBucket  •  flush 2 cachelines, scan 7 slots in L1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291840"/>
            <a:ext cx="5486400" cy="502920"/>
          </a:xfrm>
          <a:prstGeom prst="roundRect">
            <a:avLst/>
          </a:prstGeom>
          <a:solidFill>
            <a:srgbClr val="FFE0B2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8C3200"/>
                </a:solidFill>
              </a:rPr>
              <a:t>DRAM bucket cache (optional, per-process)  •  cache_buckets_[idx], cache_epoch_[idx]</a:t>
            </a:r>
          </a:p>
        </p:txBody>
      </p:sp>
      <p:sp>
        <p:nvSpPr>
          <p:cNvPr id="10" name="Oval 9"/>
          <p:cNvSpPr/>
          <p:nvPr/>
        </p:nvSpPr>
        <p:spPr>
          <a:xfrm>
            <a:off x="2048255" y="204825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C1r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103120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bucket_idx = fnv1a_u64(K) % B; entry = lock_table_.entry(idx)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94560" y="269748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014215" y="2551176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C2r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79" y="244144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load CXL write_epoch  (1 LD-CXL cacheline)  ★ if == cached_epoch_[idx]: scan DRAM copy + return 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94560" y="320040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14215" y="30540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C3r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79" y="294436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cache miss / cache disabled: flush_line(slots[0]) + flush_line(slots[4]) + mfence</a:t>
            </a:r>
          </a:p>
        </p:txBody>
      </p:sp>
      <p:sp>
        <p:nvSpPr>
          <p:cNvPr id="18" name="Oval 17"/>
          <p:cNvSpPr/>
          <p:nvPr/>
        </p:nvSpPr>
        <p:spPr>
          <a:xfrm>
            <a:off x="2048255" y="3557015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C4r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361187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scan 7 slots in L1 (now fresh from CXL); return value or -1   ★ NO post-scan revalidation (LRC) 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937760"/>
            <a:ext cx="5212080" cy="1280160"/>
          </a:xfrm>
          <a:prstGeom prst="roundRect">
            <a:avLst/>
          </a:prstGeom>
          <a:solidFill>
            <a:srgbClr val="EEEEEE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Key features of Protocol C read path:</a:t>
            </a:r>
          </a:p>
          <a:p>
            <a:r>
              <a:rPr sz="1000">
                <a:solidFill>
                  <a:srgbClr val="333333"/>
                </a:solidFill>
              </a:rPr>
              <a:t>• Reader takes NO lock — bucket lock only serializes writers</a:t>
            </a:r>
          </a:p>
          <a:p>
            <a:r>
              <a:rPr sz="1000">
                <a:solidFill>
                  <a:srgbClr val="333333"/>
                </a:solidFill>
              </a:rPr>
              <a:t>• Optional DRAM cache hit path: ~700 ns (1 CXL epoch load + DRAM scan)</a:t>
            </a:r>
          </a:p>
          <a:p>
            <a:r>
              <a:rPr sz="1000">
                <a:solidFill>
                  <a:srgbClr val="333333"/>
                </a:solidFill>
              </a:rPr>
              <a:t>• Cache-miss path: ~1 µs (2 flushes + mfence + L1 scan)</a:t>
            </a:r>
          </a:p>
          <a:p>
            <a:r>
              <a:rPr sz="1000">
                <a:solidFill>
                  <a:srgbClr val="333333"/>
                </a:solidFill>
              </a:rPr>
              <a:t>• LRC semantics: returned value committed at SOME instant during scan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E65100"/>
                </a:solidFill>
              </a:rPr>
              <a:t>╌╌▶  Step arrow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● Linearization 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 (none!)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8C3200"/>
                </a:solidFill>
              </a:rPr>
              <a:t>4 steps · 1 actor · 0 blocking points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333333"/>
                </a:solidFill>
              </a:rPr>
              <a:t>Write path — measured per-stage latency (T=64 workload-A)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Source: A from iter-11A Phase 5 FUSEE_PROBE=1 capture; C from latency_decomp_C iter-2 per-slot LFM build  •  Yellow = linearization point  •  Red = dominant cost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286000"/>
                <a:gridCol w="502920"/>
                <a:gridCol w="594360"/>
                <a:gridCol w="502920"/>
                <a:gridCol w="1463040"/>
              </a:tblGrid>
              <a:tr h="218440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Entry + bucket flush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4.50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43.6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Bucket scan + DRAM spinlock acquire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Re-flush + read sharer_bitmap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Enter invalidate broadcast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per remote sharer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InvalRing.tail.fetch_add (RMW-CXL)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cross-host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Write InvalEntry + flush + sfence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3.45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3.70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5.29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cross-host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Dispatcher sees new tail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Read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cache_pool_set_stale (DRAM CAS)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(producer) Observes 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Free InvalRing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6.38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End of inval broadcast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per remote sharer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pool-&gt;alloc (RMW-CXL bump cursor)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pool-&gt;write (memcpy + per-CL flush)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8 cachelines KV=512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COMMIT POINT: publish_slot_cow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0.02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★ linearization #1 ★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333333"/>
                          </a:solidFill>
                        </a:rPr>
                        <a:t>directory + cache_pool_insert + epoch++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3.56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6.22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18.1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333333"/>
                          </a:solidFill>
                        </a:rPr>
                        <a:t>★ DOMINANT ★ + lin. #2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Return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9.05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097280"/>
          <a:ext cx="5760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2103120"/>
                <a:gridCol w="502920"/>
                <a:gridCol w="502920"/>
                <a:gridCol w="502920"/>
                <a:gridCol w="1554480"/>
              </a:tblGrid>
              <a:tr h="261257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lock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LFM acquire (CROSS-HOST blocking)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9.0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25.0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427.1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★ DOMINANT ★ 84% of total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2 CL + mfence + scan 7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Phase-2.6 flush-collapse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publish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slot.value = V + flush + sfence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epoch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__atomic_add_fetch(write_epoch) + flush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~4.0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4.07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★ linearization #1 ★ CXL atomic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unlock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LFM release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end-to-end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30.6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439.6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914400"/>
            <a:ext cx="5852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D327D"/>
                </a:solidFill>
              </a:rPr>
              <a:t>Protocol A — 17 distinct stages (W1-W12 + I1-I8 sub-path)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914400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8C3200"/>
                </a:solidFill>
              </a:rPr>
              <a:t>Protocol C — 6 stages total (Lock/Scan/Publish/Epoch/Unlock + Total)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108960"/>
            <a:ext cx="5577840" cy="2011680"/>
          </a:xfrm>
          <a:prstGeom prst="roundRect">
            <a:avLst/>
          </a:prstGeom>
          <a:solidFill>
            <a:srgbClr val="EEEEEE"/>
          </a:solidFill>
          <a:ln w="952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ctr"/>
            <a:r>
              <a:rPr sz="1100" b="1">
                <a:solidFill>
                  <a:srgbClr val="333333"/>
                </a:solidFill>
              </a:rPr>
              <a:t>Mean per-op cost</a:t>
            </a:r>
          </a:p>
          <a:p>
            <a:r>
              <a:rPr sz="1000">
                <a:solidFill>
                  <a:srgbClr val="0D327D"/>
                </a:solidFill>
              </a:rPr>
              <a:t>  Protocol A (no remote sharer):    ~ 13 µs/op</a:t>
            </a:r>
          </a:p>
          <a:p>
            <a:r>
              <a:rPr sz="1000">
                <a:solidFill>
                  <a:srgbClr val="0D327D"/>
                </a:solidFill>
              </a:rPr>
              <a:t>  Protocol A (with remote sharer):  ~ 19 µs/op  (+ inval path I1-I8)</a:t>
            </a:r>
          </a:p>
          <a:p>
            <a:r>
              <a:rPr sz="1000">
                <a:solidFill>
                  <a:srgbClr val="8C3200"/>
                </a:solidFill>
              </a:rPr>
              <a:t>  Protocol C (always):              30.6 µs/op  (84% in lock alone)</a:t>
            </a:r>
          </a:p>
          <a:p>
            <a:r>
              <a:rPr sz="1000">
                <a:solidFill>
                  <a:srgbClr val="333333"/>
                </a:solidFill>
              </a:rPr>
              <a:t/>
            </a:r>
          </a:p>
          <a:p>
            <a:r>
              <a:rPr sz="1100" b="1">
                <a:solidFill>
                  <a:srgbClr val="333333"/>
                </a:solidFill>
              </a:rPr>
              <a:t>Dominant stage shape:</a:t>
            </a:r>
          </a:p>
          <a:p>
            <a:r>
              <a:rPr sz="1000">
                <a:solidFill>
                  <a:srgbClr val="333333"/>
                </a:solidFill>
              </a:rPr>
              <a:t>  A: spread across 12 stages (W10 = 6.2 µs largest, MESI on shared L2 insert)</a:t>
            </a:r>
          </a:p>
          <a:p>
            <a:r>
              <a:rPr sz="1000">
                <a:solidFill>
                  <a:srgbClr val="333333"/>
                </a:solidFill>
              </a:rPr>
              <a:t>  C: concentrated in 1 stage (LFM lock acquire under cross-host Zipf hot-bucket)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333333"/>
                </a:solidFill>
              </a:rPr>
              <a:t>Read path — measured per-stage latency (T=64 workload-A)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A measured from iter-11A Phase 5; C inferred from primitives (no historical search-side decomp run for C)  •  Probabilities by outcome shown for 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59893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194560"/>
                <a:gridCol w="502920"/>
                <a:gridCol w="548640"/>
                <a:gridCol w="502920"/>
                <a:gridCol w="1463040"/>
              </a:tblGrid>
              <a:tr h="251460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R0_tls_hit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TLS L1 hit return (when fresh)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0.079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0.81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★ 80 ns ideal ★ (~18% of reads)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Entry + bucket_epoch.load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7.07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5.26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high mean from shared-CL MESI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R2hit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L2 cache_pool seqlock CAS read 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0.079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0.149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~64% of reads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R2miss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L2 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2.80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3.07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8.12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~17% of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R3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forward_read_direct (CROSS-HOST)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13.6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14.0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26.4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★ DOMINANT ★ (~0.2% but tail)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C13 validate + memcpy from staging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Return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5.82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55080" y="1097280"/>
          <a:ext cx="5806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783080"/>
                <a:gridCol w="457200"/>
                <a:gridCol w="502920"/>
                <a:gridCol w="411480"/>
                <a:gridCol w="1325880"/>
              </a:tblGrid>
              <a:tr h="261257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C1r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hash(K) → bucket_idx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inferred from primitives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C2r (cache hit)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CACHELINE_LOAD write_epoch + DRAM scan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opt DRAM cache hit path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C3r (cache miss)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2 CL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2 flush_line@66ns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scan 7 slots in L1 (now fresh)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 (cache hit)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best case end-to-end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8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 (cache miss)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+ scan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383280"/>
            <a:ext cx="5989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D327D"/>
                </a:solidFill>
              </a:rPr>
              <a:t>Protocol A read-path outcome distribution (T=64 wl-A)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74903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TLS L1 hit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379475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65960" y="3794759"/>
            <a:ext cx="969867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374903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74903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~0.08 µs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02335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L2 cache_pool hit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406907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65960" y="4069079"/>
            <a:ext cx="1828800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402335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~64%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402335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~7 µs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29767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Owner-self CXL fetch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5960" y="434339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5960" y="4343399"/>
            <a:ext cx="942541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429767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~17%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429767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~10 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57199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Cross-host miss (R3+R4)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461771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65960" y="4617719"/>
            <a:ext cx="102233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457199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~0.2%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7199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~22 µs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383280"/>
            <a:ext cx="5532120" cy="3108960"/>
          </a:xfrm>
          <a:prstGeom prst="roundRect">
            <a:avLst/>
          </a:prstGeom>
          <a:solidFill>
            <a:srgbClr val="EEEEEE"/>
          </a:solidFill>
          <a:ln w="952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ctr"/>
            <a:r>
              <a:rPr sz="1100" b="1">
                <a:solidFill>
                  <a:srgbClr val="333333"/>
                </a:solidFill>
              </a:rPr>
              <a:t>Reader best-case</a:t>
            </a:r>
          </a:p>
          <a:p>
            <a:r>
              <a:rPr sz="1000" b="0">
                <a:solidFill>
                  <a:srgbClr val="0D327D"/>
                </a:solidFill>
              </a:rPr>
              <a:t>  A (TLS L1 hit):      ~ 80 ns</a:t>
            </a:r>
          </a:p>
          <a:p>
            <a:r>
              <a:rPr sz="1000" b="0">
                <a:solidFill>
                  <a:srgbClr val="8C3200"/>
                </a:solidFill>
              </a:rPr>
              <a:t>  C (DRAM cache hit):  ~ 700 ns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100" b="1">
                <a:solidFill>
                  <a:srgbClr val="333333"/>
                </a:solidFill>
              </a:rPr>
              <a:t>Reader worst-case (cross-host miss)</a:t>
            </a:r>
          </a:p>
          <a:p>
            <a:r>
              <a:rPr sz="1000" b="0">
                <a:solidFill>
                  <a:srgbClr val="0D327D"/>
                </a:solidFill>
              </a:rPr>
              <a:t>  A: ~ 22 µs (R1+R2miss+R3+R4+R6)</a:t>
            </a:r>
          </a:p>
          <a:p>
            <a:r>
              <a:rPr sz="1000" b="0">
                <a:solidFill>
                  <a:srgbClr val="8C3200"/>
                </a:solidFill>
              </a:rPr>
              <a:t>  C: ~ 1 µs  (every read is a local flush+scan)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100" b="1">
                <a:solidFill>
                  <a:srgbClr val="333333"/>
                </a:solidFill>
              </a:rPr>
              <a:t>Key insight</a:t>
            </a:r>
          </a:p>
          <a:p>
            <a:r>
              <a:rPr sz="1000" b="0">
                <a:solidFill>
                  <a:srgbClr val="333333"/>
                </a:solidFill>
              </a:rPr>
              <a:t>  Only TLS L1 hits beat C. Every other A path pays for L2 seqlock or cross-host coordination. C readers are near-CXL-physics regardless of contention.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