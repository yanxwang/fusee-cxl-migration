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333333"/>
                </a:solidFill>
              </a:rPr>
              <a:t>Protocol A vs Protocol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154FC2"/>
                </a:solidFill>
              </a:rPr>
              <a:t>Read / Write Path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i="1">
                <a:solidFill>
                  <a:srgbClr val="9E9E9E"/>
                </a:solidFill>
              </a:rPr>
              <a:t>measured T=64 workload-A on g3+g4 testbed  •  iter-11A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>
                <a:solidFill>
                  <a:srgbClr val="333333"/>
                </a:solidFill>
              </a:rPr>
              <a:t>Thesis: strict-A linearizability (Protocol A) requires fundamentally more stages, more linearization points, and more cross-host coordination than LRC (Protocol C). The measured per-stage data confirms this is a structural property, not an engineering artefact.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400" b="1">
                <a:solidFill>
                  <a:srgbClr val="333333"/>
                </a:solidFill>
              </a:rPr>
              <a:t>Write path topology — cross-host update(K, V), host 0 → owner host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1170432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200" i="1">
                <a:solidFill>
                  <a:srgbClr val="9E9E9E"/>
                </a:solidFill>
              </a:rPr>
              <a:t>A: 14 numbered steps, 3 threads, 2 cross-host blocking points  •  C: 6 numbered steps, 1 thread, 1 cross-host blocking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43000"/>
            <a:ext cx="11612880" cy="8686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8C3200"/>
                </a:solidFill>
              </a:rPr>
              <a:t>CXL shared region — buckets, WriteRing[0][1], ForwardStaging, InvalRing[1][0], BucketLockTable (per-bucket LFM + write_epoch), KvBlockPool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3017520"/>
            <a:ext cx="2377440" cy="9144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200" b="1">
                <a:solidFill>
                  <a:srgbClr val="0D327D"/>
                </a:solidFill>
              </a:rPr>
              <a:t>host 0  worker
(caller)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3017520"/>
            <a:ext cx="2743200" cy="914400"/>
          </a:xfrm>
          <a:prstGeom prst="roundRect">
            <a:avLst/>
          </a:prstGeom>
          <a:solidFill>
            <a:srgbClr val="C8DAFB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0D327D"/>
                </a:solidFill>
              </a:rPr>
              <a:t>host 1  WriteReceiver
(cpu 65, single thread)
Protocol A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3017520"/>
            <a:ext cx="2468880" cy="914400"/>
          </a:xfrm>
          <a:prstGeom prst="roundRect">
            <a:avLst/>
          </a:prstGeom>
          <a:solidFill>
            <a:srgbClr val="C8DAFB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0D327D"/>
                </a:solidFill>
              </a:rPr>
              <a:t>host 0  InvalReceiver
(cpu 69)
Protocol A only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280160" y="2011680"/>
            <a:ext cx="54864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600200" y="242316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A1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554480" y="2011680"/>
            <a:ext cx="210312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377440" y="233172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A2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828800" y="2011680"/>
            <a:ext cx="274320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971800" y="233172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0" y="2011680"/>
            <a:ext cx="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83480" y="242316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1148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0D327D"/>
                </a:solidFill>
              </a:rPr>
              <a:t>A6: execute_write_local W1..W12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949440" y="2011680"/>
            <a:ext cx="82296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06640" y="242316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A7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223760" y="2011680"/>
            <a:ext cx="146304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26679" y="233172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84080" y="2011680"/>
            <a:ext cx="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281159" y="242316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11480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327D"/>
                </a:solidFill>
              </a:rPr>
              <a:t>A11: cache_pool_set_stale + epoch++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0607040" y="2011680"/>
            <a:ext cx="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652760" y="242316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A12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8046720" y="2011680"/>
            <a:ext cx="2194560" cy="0"/>
          </a:xfrm>
          <a:prstGeom prst="line">
            <a:avLst/>
          </a:prstGeom>
          <a:ln w="190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915400" y="182880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A9 ACK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4937760" y="2011680"/>
            <a:ext cx="45720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663440" y="242316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A13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2286000" y="2011680"/>
            <a:ext cx="1920240" cy="0"/>
          </a:xfrm>
          <a:prstGeom prst="line">
            <a:avLst/>
          </a:prstGeom>
          <a:ln w="190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017520" y="205740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A4 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0233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327D"/>
                </a:solidFill>
              </a:rPr>
              <a:t>A14: free slot, return 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4572000"/>
            <a:ext cx="11612880" cy="146304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Protocol C — host 0 worker only, in-place under cross-host LFM lock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828800" y="2011680"/>
            <a:ext cx="0" cy="2560320"/>
          </a:xfrm>
          <a:prstGeom prst="line">
            <a:avLst/>
          </a:prstGeom>
          <a:ln w="2540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325880" y="320040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E65100"/>
                </a:solidFill>
              </a:rPr>
              <a:t>C1 LFM acquire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3200400" y="2011680"/>
            <a:ext cx="0" cy="2560320"/>
          </a:xfrm>
          <a:prstGeom prst="line">
            <a:avLst/>
          </a:prstGeom>
          <a:ln w="3175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246120" y="320040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E65100"/>
                </a:solidFill>
              </a:rPr>
              <a:t>C2 flush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4572000" y="2011680"/>
            <a:ext cx="0" cy="2560320"/>
          </a:xfrm>
          <a:prstGeom prst="line">
            <a:avLst/>
          </a:prstGeom>
          <a:ln w="3175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617720" y="320040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E65100"/>
                </a:solidFill>
              </a:rPr>
              <a:t>C3 scan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6126480" y="2011680"/>
            <a:ext cx="0" cy="2560320"/>
          </a:xfrm>
          <a:prstGeom prst="line">
            <a:avLst/>
          </a:prstGeom>
          <a:ln w="3175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172200" y="320040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E65100"/>
                </a:solidFill>
              </a:rPr>
              <a:t>C4 commit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7680960" y="2011680"/>
            <a:ext cx="0" cy="2560320"/>
          </a:xfrm>
          <a:prstGeom prst="line">
            <a:avLst/>
          </a:prstGeom>
          <a:ln w="3175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726680" y="320040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E65100"/>
                </a:solidFill>
              </a:rPr>
              <a:t>C5 epoch++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235440" y="2011680"/>
            <a:ext cx="0" cy="2560320"/>
          </a:xfrm>
          <a:prstGeom prst="line">
            <a:avLst/>
          </a:prstGeom>
          <a:ln w="3175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281160" y="320040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E65100"/>
                </a:solidFill>
              </a:rPr>
              <a:t>C6 unlock</a:t>
            </a:r>
          </a:p>
        </p:txBody>
      </p:sp>
      <p:sp>
        <p:nvSpPr>
          <p:cNvPr id="46" name="Oval 45"/>
          <p:cNvSpPr/>
          <p:nvPr/>
        </p:nvSpPr>
        <p:spPr>
          <a:xfrm>
            <a:off x="5852160" y="3200400"/>
            <a:ext cx="228600" cy="228600"/>
          </a:xfrm>
          <a:prstGeom prst="ellipse">
            <a:avLst/>
          </a:prstGeom>
          <a:solidFill>
            <a:srgbClr val="FFF49C"/>
          </a:solidFill>
          <a:ln w="127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" tIns="0" rIns="12700" bIns="0"/>
          <a:lstStyle/>
          <a:p>
            <a:pPr algn="ctr"/>
            <a:r>
              <a:rPr sz="700" b="1">
                <a:solidFill>
                  <a:srgbClr val="8C3200"/>
                </a:solidFill>
              </a:rPr>
              <a:t>W9</a:t>
            </a:r>
          </a:p>
        </p:txBody>
      </p:sp>
      <p:sp>
        <p:nvSpPr>
          <p:cNvPr id="47" name="Oval 46"/>
          <p:cNvSpPr/>
          <p:nvPr/>
        </p:nvSpPr>
        <p:spPr>
          <a:xfrm>
            <a:off x="6016752" y="5029200"/>
            <a:ext cx="228600" cy="228600"/>
          </a:xfrm>
          <a:prstGeom prst="ellipse">
            <a:avLst/>
          </a:prstGeom>
          <a:solidFill>
            <a:srgbClr val="FFF49C"/>
          </a:solidFill>
          <a:ln w="127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" rIns="12700" tIns="0" bIns="0"/>
          <a:lstStyle/>
          <a:p>
            <a:pPr algn="ctr"/>
            <a:r>
              <a:rPr sz="800" b="1"/>
              <a:t>★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6355080"/>
            <a:ext cx="594360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400800"/>
            <a:ext cx="1463040" cy="32004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54FC2"/>
                </a:solidFill>
              </a:rPr>
              <a:t>─── ▶  Protocol 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28800" y="6400800"/>
            <a:ext cx="1463040" cy="32004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E65100"/>
                </a:solidFill>
              </a:rPr>
              <a:t>╌╌╌ ▶  Protocol 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1840" y="6400800"/>
            <a:ext cx="1554480" cy="32004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● Linearization point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46320" y="6400800"/>
            <a:ext cx="1554480" cy="32004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6355080"/>
            <a:ext cx="5486400" cy="411480"/>
          </a:xfrm>
          <a:prstGeom prst="rect">
            <a:avLst/>
          </a:prstGeom>
          <a:noFill/>
        </p:spPr>
        <p:txBody>
          <a:bodyPr wrap="square" tIns="38100">
            <a:spAutoFit/>
          </a:bodyPr>
          <a:lstStyle/>
          <a:p>
            <a:pPr algn="r"/>
            <a:r>
              <a:rPr sz="1000" b="1">
                <a:solidFill>
                  <a:srgbClr val="333333"/>
                </a:solidFill>
              </a:rPr>
              <a:t>A: 14 steps · 3 threads · 2 cross-host blocks   |   C: 6 steps · 1 thread · 1 LFM acquire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400" b="1">
                <a:solidFill>
                  <a:srgbClr val="333333"/>
                </a:solidFill>
              </a:rPr>
              <a:t>Read path topology — cross-host search(K) on cache miss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1170432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200" i="1">
                <a:solidFill>
                  <a:srgbClr val="9E9E9E"/>
                </a:solidFill>
              </a:rPr>
              <a:t>A: 16 steps, 2 threads, 1 cross-host blocking (R3 staging poll 200ms cap)  •  C: 4 steps, 1 thread, 0 cross-host blocking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143000"/>
            <a:ext cx="11612880" cy="86868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8C3200"/>
                </a:solidFill>
              </a:rPr>
              <a:t>CXL shared region — buckets, ReadRing[0][1], ReadStaging[0][1], BucketLockTable.write_epoch, KvBlockPool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3017520"/>
            <a:ext cx="2377440" cy="9144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0D327D"/>
                </a:solidFill>
              </a:rPr>
              <a:t>host 0  worker
(caller)
+ TLS L1 (private DRAM)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3017520"/>
            <a:ext cx="2377440" cy="9144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0D327D"/>
                </a:solidFill>
              </a:rPr>
              <a:t>host 0  KvCachePool L2
(MAP_SHARED DRAM)
seqlock CAS reader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3017520"/>
            <a:ext cx="2743200" cy="914400"/>
          </a:xfrm>
          <a:prstGeom prst="roundRect">
            <a:avLst/>
          </a:prstGeom>
          <a:solidFill>
            <a:srgbClr val="C8DAFB"/>
          </a:solidFill>
          <a:ln w="19050">
            <a:solidFill>
              <a:srgbClr val="154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0D327D"/>
                </a:solidFill>
              </a:rPr>
              <a:t>host 1  ReadReceiver
(cpu 67, single thread)
Protocol A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3017520"/>
            <a:ext cx="2103120" cy="91440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000" b="1">
                <a:solidFill>
                  <a:srgbClr val="8C3200"/>
                </a:solidFill>
              </a:rPr>
              <a:t>host 0  DRAM cache
(opt, per-process)
Protocol C only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14400" y="2011680"/>
            <a:ext cx="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79" y="242316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A1r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0233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327D"/>
                </a:solidFill>
              </a:rPr>
              <a:t>A2r: TLS hit? ★ R0_tls_hit ~80 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3383280"/>
            <a:ext cx="274320" cy="0"/>
          </a:xfrm>
          <a:prstGeom prst="line">
            <a:avLst/>
          </a:prstGeom>
          <a:ln w="190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651760" y="320040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A3r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920240" y="2011680"/>
            <a:ext cx="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65960" y="242316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A4r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77440" y="2011680"/>
            <a:ext cx="237744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337560" y="233172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A5r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468880" y="2011680"/>
            <a:ext cx="265176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566160" y="256032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A6r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560320" y="2011680"/>
            <a:ext cx="2926080" cy="1005840"/>
          </a:xfrm>
          <a:prstGeom prst="line">
            <a:avLst/>
          </a:prstGeom>
          <a:ln w="317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94760" y="233172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A7r</a:t>
            </a:r>
          </a:p>
        </p:txBody>
      </p:sp>
      <p:sp>
        <p:nvSpPr>
          <p:cNvPr id="22" name="Oval 21"/>
          <p:cNvSpPr/>
          <p:nvPr/>
        </p:nvSpPr>
        <p:spPr>
          <a:xfrm>
            <a:off x="2468880" y="2697480"/>
            <a:ext cx="365760" cy="365760"/>
          </a:xfrm>
          <a:prstGeom prst="ellipse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" rIns="12700" tIns="0" bIns="0"/>
          <a:lstStyle/>
          <a:p>
            <a:pPr algn="ctr"/>
            <a:r>
              <a:rPr sz="800" b="1"/>
              <a:t>A8r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023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0D327D"/>
                </a:solidFill>
              </a:rPr>
              <a:t>A9r-A15r:  flush+scan bucket → lock + sharer_bitmap |=  →  pool-&gt;read → ReadStaging write + ready_op_id publish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60720" y="2011680"/>
            <a:ext cx="1828800" cy="1005840"/>
          </a:xfrm>
          <a:prstGeom prst="line">
            <a:avLst/>
          </a:prstGeom>
          <a:ln w="190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3657600" y="2011680"/>
            <a:ext cx="4389120" cy="1005840"/>
          </a:xfrm>
          <a:prstGeom prst="line">
            <a:avLst/>
          </a:prstGeom>
          <a:ln w="19050">
            <a:solidFill>
              <a:srgbClr val="154FC2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23560" y="2331720"/>
            <a:ext cx="54864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154FC2"/>
                </a:solidFill>
              </a:rPr>
              <a:t>A15r ready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2331720"/>
            <a:ext cx="18288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D327D"/>
                </a:solidFill>
              </a:rPr>
              <a:t>A16r: C13 + memcpy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" y="4572000"/>
            <a:ext cx="11612880" cy="146304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rIns="38100" tIns="25400" bIns="25400" wrap="square"/>
          <a:lstStyle/>
          <a:p>
            <a:pPr algn="ctr"/>
            <a:r>
              <a:rPr sz="1100" b="1">
                <a:solidFill>
                  <a:srgbClr val="8C3200"/>
                </a:solidFill>
              </a:rPr>
              <a:t>Protocol C — host 0 worker only, no cross-host coordination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8C3200"/>
                </a:solidFill>
              </a:rPr>
              <a:t>C1r: hash(K) → bucket_idx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3657600" y="2011680"/>
            <a:ext cx="0" cy="2560320"/>
          </a:xfrm>
          <a:prstGeom prst="line">
            <a:avLst/>
          </a:prstGeom>
          <a:ln w="3175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703320" y="320040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E65100"/>
                </a:solidFill>
              </a:rPr>
              <a:t>C2r epoch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0789920" y="3931920"/>
            <a:ext cx="0" cy="640080"/>
          </a:xfrm>
          <a:prstGeom prst="line">
            <a:avLst/>
          </a:prstGeom>
          <a:ln w="3175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835640" y="416052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E65100"/>
                </a:solidFill>
              </a:rPr>
              <a:t>C2r DRAM hit?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5486400" y="2011680"/>
            <a:ext cx="0" cy="2560320"/>
          </a:xfrm>
          <a:prstGeom prst="line">
            <a:avLst/>
          </a:prstGeom>
          <a:ln w="31750">
            <a:solidFill>
              <a:srgbClr val="E65100"/>
            </a:solidFill>
            <a:tailEnd type="triangle" w="med" h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532120" y="3200400"/>
            <a:ext cx="4572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12700" rIns="12700" tIns="0" bIns="0">
            <a:spAutoFit/>
          </a:bodyPr>
          <a:lstStyle/>
          <a:p>
            <a:pPr algn="ctr"/>
            <a:r>
              <a:rPr sz="1000" b="1">
                <a:solidFill>
                  <a:srgbClr val="E65100"/>
                </a:solidFill>
              </a:rPr>
              <a:t>C3r flush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21208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8C3200"/>
                </a:solidFill>
              </a:rPr>
              <a:t>C4r: scan 7 slots → return (LRC: no revalidation)</a:t>
            </a:r>
          </a:p>
        </p:txBody>
      </p:sp>
      <p:sp>
        <p:nvSpPr>
          <p:cNvPr id="37" name="Oval 36"/>
          <p:cNvSpPr/>
          <p:nvPr/>
        </p:nvSpPr>
        <p:spPr>
          <a:xfrm>
            <a:off x="7955279" y="3108960"/>
            <a:ext cx="246888" cy="246888"/>
          </a:xfrm>
          <a:prstGeom prst="ellipse">
            <a:avLst/>
          </a:prstGeom>
          <a:solidFill>
            <a:srgbClr val="FFF49C"/>
          </a:solidFill>
          <a:ln w="127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/>
              <a:t>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6355080"/>
            <a:ext cx="594360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400800"/>
            <a:ext cx="1463040" cy="32004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154FC2"/>
                </a:solidFill>
              </a:rPr>
              <a:t>─── ▶  Protocol 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6400800"/>
            <a:ext cx="1463040" cy="32004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E65100"/>
                </a:solidFill>
              </a:rPr>
              <a:t>╌╌╌ ▶  Protocol 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40" y="6400800"/>
            <a:ext cx="1554480" cy="32004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F9A825"/>
                </a:solidFill>
              </a:rPr>
              <a:t>● Linearization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6400800"/>
            <a:ext cx="1554480" cy="320040"/>
          </a:xfrm>
          <a:prstGeom prst="rect">
            <a:avLst/>
          </a:prstGeom>
          <a:noFill/>
        </p:spPr>
        <p:txBody>
          <a:bodyPr wrap="none" lIns="25400" rIns="25400" tIns="0" bIns="0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</a:rPr>
              <a:t>● Cross-host blocking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6355080"/>
            <a:ext cx="5486400" cy="411480"/>
          </a:xfrm>
          <a:prstGeom prst="rect">
            <a:avLst/>
          </a:prstGeom>
          <a:noFill/>
        </p:spPr>
        <p:txBody>
          <a:bodyPr wrap="square" tIns="38100">
            <a:spAutoFit/>
          </a:bodyPr>
          <a:lstStyle/>
          <a:p>
            <a:pPr algn="r"/>
            <a:r>
              <a:rPr sz="1000" b="1">
                <a:solidFill>
                  <a:srgbClr val="333333"/>
                </a:solidFill>
              </a:rPr>
              <a:t>A: 16 steps · 2 threads · 1 cross-host block   |   C: 4 steps · 1 thread · 0 cross-host blocks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400" b="1">
                <a:solidFill>
                  <a:srgbClr val="333333"/>
                </a:solidFill>
              </a:rPr>
              <a:t>Write path — measured per-stage latency (T=64 workload-A)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1170432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200" i="1">
                <a:solidFill>
                  <a:srgbClr val="9E9E9E"/>
                </a:solidFill>
              </a:rPr>
              <a:t>Source: A from iter-11A Phase 5 FUSEE_PROBE=1 capture; C from latency_decomp_C iter-2 per-slot LFM build  •  Yellow = linearization point  •  Red = dominant cost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286000"/>
                <a:gridCol w="502920"/>
                <a:gridCol w="594360"/>
                <a:gridCol w="502920"/>
                <a:gridCol w="1463040"/>
              </a:tblGrid>
              <a:tr h="218440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Entry + bucket flush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4.50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43.6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Bucket scan + DRAM spinlock acquire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Re-flush + read sharer_bitmap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Enter invalidate broadcast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per remote sharer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InvalRing.tail.fetch_add (RMW-CXL)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cross-host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Write InvalEntry + flush + sfence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3.45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3.70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5.29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cross-host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Dispatcher sees new tail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Read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(peer) cache_pool_set_stale (DRAM CAS)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(producer) Observes 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I8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Free InvalRing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6.38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End of inval broadcast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per remote sharer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pool-&gt;alloc (RMW-CXL bump cursor)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pool-&gt;write (memcpy + per-CL flush)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8 cachelines KV=512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COMMIT POINT: publish_slot_cow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0.02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0.04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★ linearization #1 ★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</a:rPr>
                        <a:t>directory + cache_pool_insert + epoch++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3.56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6.22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 b="1">
                          <a:solidFill>
                            <a:srgbClr val="333333"/>
                          </a:solidFill>
                        </a:rPr>
                        <a:t>18.1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333333"/>
                          </a:solidFill>
                        </a:rPr>
                        <a:t>★ DOMINANT ★ + lin. #2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1844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 b="1">
                          <a:solidFill>
                            <a:srgbClr val="154FC2"/>
                          </a:solidFill>
                        </a:rPr>
                        <a:t>W12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>Return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800">
                          <a:solidFill>
                            <a:srgbClr val="333333"/>
                          </a:solidFill>
                        </a:rPr>
                        <a:t>9.05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8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09360" y="1097280"/>
          <a:ext cx="5760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103120"/>
                <a:gridCol w="502920"/>
                <a:gridCol w="502920"/>
                <a:gridCol w="502920"/>
                <a:gridCol w="1554480"/>
              </a:tblGrid>
              <a:tr h="261257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lock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LFM acquire (CROSS-HOST blocking)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9.0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25.0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427.1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★ DOMINANT ★ 84% of total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2 CL + mfence + scan 7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Phase-2.6 flush-collapse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publish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slot.value = V + flush + sfence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epoch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__atomic_add_fetch(write_epoch) + flush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~4.0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4.07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★ linearization #1 ★ CXL atomic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unlock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LFM release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end-to-end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30.6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439.6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914400"/>
            <a:ext cx="5852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D327D"/>
                </a:solidFill>
              </a:rPr>
              <a:t>Protocol A — 17 distinct stages (W1-W12 + I1-I8 sub-path)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914400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8C3200"/>
                </a:solidFill>
              </a:rPr>
              <a:t>Protocol C — 6 stages total (Lock/Scan/Publish/Epoch/Unlock + Total)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108960"/>
            <a:ext cx="5577840" cy="2011680"/>
          </a:xfrm>
          <a:prstGeom prst="roundRect">
            <a:avLst/>
          </a:prstGeom>
          <a:solidFill>
            <a:srgbClr val="EEEEEE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l"/>
            <a:r>
              <a:rPr sz="1100" b="1">
                <a:solidFill>
                  <a:srgbClr val="333333"/>
                </a:solidFill>
              </a:rPr>
              <a:t>Mean per-op cost</a:t>
            </a:r>
          </a:p>
          <a:p>
            <a:r>
              <a:rPr sz="1000">
                <a:solidFill>
                  <a:srgbClr val="0D327D"/>
                </a:solidFill>
              </a:rPr>
              <a:t>
  Protocol A (no remote sharer):   ~ 13 µs/op</a:t>
            </a:r>
          </a:p>
          <a:p>
            <a:r>
              <a:rPr sz="1000">
                <a:solidFill>
                  <a:srgbClr val="0D327D"/>
                </a:solidFill>
              </a:rPr>
              <a:t>  Protocol A (with remote sharer):  ~ 19 µs/op  (+ inval path I1-I8)</a:t>
            </a:r>
          </a:p>
          <a:p>
            <a:r>
              <a:rPr sz="1000">
                <a:solidFill>
                  <a:srgbClr val="8C3200"/>
                </a:solidFill>
              </a:rPr>
              <a:t>  Protocol C (always):              30.6 µs/op  (84% in lock alone)</a:t>
            </a:r>
          </a:p>
          <a:p>
            <a:r>
              <a:rPr sz="1100" b="1">
                <a:solidFill>
                  <a:srgbClr val="333333"/>
                </a:solidFill>
              </a:rPr>
              <a:t>
Dominant stage shape:</a:t>
            </a:r>
          </a:p>
          <a:p>
            <a:r>
              <a:rPr sz="1000">
                <a:solidFill>
                  <a:srgbClr val="333333"/>
                </a:solidFill>
              </a:rPr>
              <a:t>
  A: spread across 12 stages (W10 = 6.2 µs largest, MESI on shared L2 insert)</a:t>
            </a:r>
          </a:p>
          <a:p>
            <a:r>
              <a:rPr sz="1000">
                <a:solidFill>
                  <a:srgbClr val="333333"/>
                </a:solidFill>
              </a:rPr>
              <a:t>  C: concentrated in 1 stage (LFM lock acquire under cross-host Zipf hot-bucket)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704320" cy="5029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2400" b="1">
                <a:solidFill>
                  <a:srgbClr val="333333"/>
                </a:solidFill>
              </a:rPr>
              <a:t>Read path — measured per-stage latency (T=64 workload-A)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1170432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200" i="1">
                <a:solidFill>
                  <a:srgbClr val="9E9E9E"/>
                </a:solidFill>
              </a:rPr>
              <a:t>A measured from iter-11A Phase 5; C inferred from primitives (no historical search-side decomp run for C)  •  Probabilities by outcome shown for 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59893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194560"/>
                <a:gridCol w="502920"/>
                <a:gridCol w="548640"/>
                <a:gridCol w="502920"/>
                <a:gridCol w="1463040"/>
              </a:tblGrid>
              <a:tr h="251460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54FC2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R0_tls_hit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TLS L1 hit return (when fresh)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0.81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★ 80 ns ideal ★ (~18% of reads)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Entry + bucket_epoch.load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7.07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5.26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high mean from shared-CL MESI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R2hit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L2 cache_pool seqlock CAS read hit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0.079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0.149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~64% of reads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R2miss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L2 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2.80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3.07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8.12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~17% of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R3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forward_read_direct (CROSS-HOST)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13.6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14.0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 b="1">
                          <a:solidFill>
                            <a:srgbClr val="333333"/>
                          </a:solidFill>
                        </a:rPr>
                        <a:t>26.4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</a:rPr>
                        <a:t>★ DOMINANT ★ (~0.2% but tail)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C13 validate + memcpy from staging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154FC2"/>
                          </a:solidFill>
                        </a:rPr>
                        <a:t>R6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Return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5.82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55080" y="1097280"/>
          <a:ext cx="58064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783080"/>
                <a:gridCol w="457200"/>
                <a:gridCol w="502920"/>
                <a:gridCol w="411480"/>
                <a:gridCol w="1325880"/>
              </a:tblGrid>
              <a:tr h="261257"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p50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mean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p99 µs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  <a:tc>
                  <a:txBody>
                    <a:bodyPr lIns="38100" rIns="381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E65100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C1r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hash(K) → bucket_idx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inferred from primitives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C2r (cache hit)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CACHELINE_LOAD write_epoch + DRAM scan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opt DRAM cache hit path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C3r (cache miss)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2 CL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2 flush_line@66ns + mfence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C4r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scan 7 slots in L1 (now fresh)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 (cache hit)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best case end-to-end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0.70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49C"/>
                    </a:solidFill>
                  </a:tcPr>
                </a:tc>
              </a:tr>
              <a:tr h="261258"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 b="1">
                          <a:solidFill>
                            <a:srgbClr val="E65100"/>
                          </a:solidFill>
                        </a:rPr>
                        <a:t>TOTAL (cache miss)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>flush + scan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~1.0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r"/>
                      <a:r>
                        <a:rPr sz="9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8100" rIns="38100" tIns="12700" bIns="12700" wrap="square"/>
                    <a:lstStyle/>
                    <a:p>
                      <a:pPr algn="l"/>
                      <a:r>
                        <a:rPr sz="90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383280"/>
            <a:ext cx="5989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0D327D"/>
                </a:solidFill>
              </a:rPr>
              <a:t>Protocol A read-path outcome distribution (T=64 wl-A)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4903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TLS L1 hit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379475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65960" y="3794759"/>
            <a:ext cx="969867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374903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74903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~0.08 µs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02335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L2 cache_pool hit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406907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65960" y="4069079"/>
            <a:ext cx="1828800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402335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~64%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402335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~7 µs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29767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Owner-self CXL fetch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65960" y="434339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5960" y="4343399"/>
            <a:ext cx="942541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429767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~17%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429767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~10 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571999"/>
            <a:ext cx="1645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333333"/>
                </a:solidFill>
              </a:rPr>
              <a:t>Cross-host miss (R3+R4)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617719"/>
            <a:ext cx="2286000" cy="16459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65960" y="4617719"/>
            <a:ext cx="102233" cy="164592"/>
          </a:xfrm>
          <a:prstGeom prst="rect">
            <a:avLst/>
          </a:prstGeom>
          <a:solidFill>
            <a:srgbClr val="154F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4571999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~0.2%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71999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D327D"/>
                </a:solidFill>
              </a:rPr>
              <a:t>~22 µs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383280"/>
            <a:ext cx="5532120" cy="3108960"/>
          </a:xfrm>
          <a:prstGeom prst="roundRect">
            <a:avLst/>
          </a:prstGeom>
          <a:solidFill>
            <a:srgbClr val="EEEEEE"/>
          </a:solidFill>
          <a:ln w="9525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 tIns="63500" bIns="63500" wrap="square"/>
          <a:lstStyle/>
          <a:p>
            <a:pPr algn="ctr"/>
            <a:r>
              <a:rPr sz="1100" b="1">
                <a:solidFill>
                  <a:srgbClr val="333333"/>
                </a:solidFill>
              </a:rPr>
              <a:t>Reader best-case</a:t>
            </a:r>
          </a:p>
          <a:p>
            <a:r>
              <a:rPr sz="1000">
                <a:solidFill>
                  <a:srgbClr val="0D327D"/>
                </a:solidFill>
              </a:rPr>
              <a:t>  A (TLS L1 hit):      ~ 80 ns</a:t>
            </a:r>
          </a:p>
          <a:p>
            <a:r>
              <a:rPr sz="1000">
                <a:solidFill>
                  <a:srgbClr val="8C3200"/>
                </a:solidFill>
              </a:rPr>
              <a:t>  C (DRAM cache hit): ~ 700 ns</a:t>
            </a:r>
          </a:p>
          <a:p>
            <a:r>
              <a:rPr sz="1100" b="1">
                <a:solidFill>
                  <a:srgbClr val="333333"/>
                </a:solidFill>
              </a:rPr>
              <a:t>
Reader worst-case (cross-host miss)</a:t>
            </a:r>
          </a:p>
          <a:p>
            <a:r>
              <a:rPr sz="1000">
                <a:solidFill>
                  <a:srgbClr val="0D327D"/>
                </a:solidFill>
              </a:rPr>
              <a:t>  A: ~ 22 µs (R1+R2miss+R3+R4+R6)</a:t>
            </a:r>
          </a:p>
          <a:p>
            <a:r>
              <a:rPr sz="1000">
                <a:solidFill>
                  <a:srgbClr val="8C3200"/>
                </a:solidFill>
              </a:rPr>
              <a:t>  C: ~ 1 µs  (every read is a local flush+scan)</a:t>
            </a:r>
          </a:p>
          <a:p>
            <a:r>
              <a:rPr sz="1100" b="1">
                <a:solidFill>
                  <a:srgbClr val="333333"/>
                </a:solidFill>
              </a:rPr>
              <a:t>
Key insight</a:t>
            </a:r>
          </a:p>
          <a:p>
            <a:r>
              <a:rPr sz="1000">
                <a:solidFill>
                  <a:srgbClr val="333333"/>
                </a:solidFill>
              </a:rPr>
              <a:t>  Only TLS L1 hits beat C. Every other A path pays for L2 seqlock or cross-host coordination. C readers are near-CXL-physics regardless of contention.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