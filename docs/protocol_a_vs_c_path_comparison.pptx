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333333"/>
                </a:solidFill>
              </a:rPr>
              <a:t>Protocol A vs Protocol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1089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154FC2"/>
                </a:solidFill>
              </a:rPr>
              <a:t>Read / Write Path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9E9E9E"/>
                </a:solidFill>
              </a:rPr>
              <a:t>measured T=64 workload-A on g3+g4 testbed  •  iter-11A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333333"/>
                </a:solidFill>
              </a:rPr>
              <a:t>Thesis: strict-A linearizability (Protocol A) requires fundamentally more stages, more linearization points, and more cross-host coordination than LRC (Protocol C). The measured per-stage data confirms this is a structural property, not an engineering artefact.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154FC2"/>
                </a:solidFill>
              </a:rPr>
              <a:t>Protocol A — Write path: cross-host  update(K, V)  with peer cached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14 numbered steps · 3 actors · 2 cross-host blocking points (A4 WriteRing spin, A9 InvalRing spin · 5 ms timeout cap each) · W9 = single commit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1188720"/>
            <a:ext cx="256032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(caller, cpu 0..T-1)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88720"/>
            <a:ext cx="256032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4FC2"/>
                </a:solidFill>
              </a:rPr>
              <a:t>host 1  WriteReceiver (cpu 65)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19" y="1188720"/>
            <a:ext cx="256032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4FC2"/>
                </a:solidFill>
              </a:rPr>
              <a:t>host 0  InvalReceiver (cpu 69)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6304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48640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24128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2880" y="1691640"/>
            <a:ext cx="868680" cy="4114800"/>
          </a:xfrm>
          <a:prstGeom prst="rect">
            <a:avLst/>
          </a:prstGeom>
          <a:noFill/>
        </p:spPr>
        <p:txBody>
          <a:bodyPr wrap="square" lIns="25400" rIns="25400" tIns="0" bIns="0">
            <a:spAutoFit/>
          </a:bodyPr>
          <a:lstStyle/>
          <a:p>
            <a:pPr algn="l"/>
            <a:r>
              <a:rPr sz="800" i="1" b="1">
                <a:solidFill>
                  <a:srgbClr val="8C3200"/>
                </a:solidFill>
              </a:rPr>
              <a:t>CXL
shared
region</a:t>
            </a:r>
          </a:p>
        </p:txBody>
      </p:sp>
      <p:sp>
        <p:nvSpPr>
          <p:cNvPr id="11" name="Oval 10"/>
          <p:cNvSpPr/>
          <p:nvPr/>
        </p:nvSpPr>
        <p:spPr>
          <a:xfrm>
            <a:off x="1316736" y="17739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828800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write V bytes → ForwardStaging[0][1][slot]</a:t>
            </a:r>
          </a:p>
        </p:txBody>
      </p:sp>
      <p:sp>
        <p:nvSpPr>
          <p:cNvPr id="13" name="Oval 12"/>
          <p:cNvSpPr/>
          <p:nvPr/>
        </p:nvSpPr>
        <p:spPr>
          <a:xfrm>
            <a:off x="1316736" y="2066543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21408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WriteRing[0][1].tail.fetch_add(1)  RMW-CXL</a:t>
            </a:r>
          </a:p>
        </p:txBody>
      </p:sp>
      <p:sp>
        <p:nvSpPr>
          <p:cNvPr id="15" name="Oval 14"/>
          <p:cNvSpPr/>
          <p:nvPr/>
        </p:nvSpPr>
        <p:spPr>
          <a:xfrm>
            <a:off x="1316736" y="2359151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414015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write WriteEntry{key, op_kind, value_len, staging_off} + flush + sfence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63040" y="2798063"/>
            <a:ext cx="40233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28415" y="2651759"/>
            <a:ext cx="292608" cy="292608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79" y="2542031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worker spin on resp_op_id  (5 ms timeout cap)</a:t>
            </a:r>
          </a:p>
        </p:txBody>
      </p:sp>
      <p:sp>
        <p:nvSpPr>
          <p:cNvPr id="20" name="Oval 19"/>
          <p:cNvSpPr/>
          <p:nvPr/>
        </p:nvSpPr>
        <p:spPr>
          <a:xfrm>
            <a:off x="5340096" y="2944367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999231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poll WriteRing[0][1].tail; read ForwardStaging bytes</a:t>
            </a:r>
          </a:p>
        </p:txBody>
      </p:sp>
      <p:sp>
        <p:nvSpPr>
          <p:cNvPr id="22" name="Oval 21"/>
          <p:cNvSpPr/>
          <p:nvPr/>
        </p:nvSpPr>
        <p:spPr>
          <a:xfrm>
            <a:off x="5340096" y="323697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29183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execute_write_local: W1 hash+flush  · W2 spinlock+scan  · W3 bitmap</a:t>
            </a:r>
          </a:p>
        </p:txBody>
      </p:sp>
      <p:sp>
        <p:nvSpPr>
          <p:cNvPr id="24" name="Oval 23"/>
          <p:cNvSpPr/>
          <p:nvPr/>
        </p:nvSpPr>
        <p:spPr>
          <a:xfrm>
            <a:off x="5340096" y="3529583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584447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inside W4-W6: InvalRing[1][0].tail.fetch_add(1)  RMW-CXL</a:t>
            </a:r>
          </a:p>
        </p:txBody>
      </p:sp>
      <p:sp>
        <p:nvSpPr>
          <p:cNvPr id="26" name="Oval 25"/>
          <p:cNvSpPr/>
          <p:nvPr/>
        </p:nvSpPr>
        <p:spPr>
          <a:xfrm>
            <a:off x="5340096" y="3822191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3877056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write InvalEntry{key} + flush + sfence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0" y="4261104"/>
            <a:ext cx="47548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717536" y="4114800"/>
            <a:ext cx="292608" cy="292608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05072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WriteReceiver spin on InvalRing resp_op_id  (5 ms cap)</a:t>
            </a:r>
          </a:p>
        </p:txBody>
      </p:sp>
      <p:sp>
        <p:nvSpPr>
          <p:cNvPr id="31" name="Oval 30"/>
          <p:cNvSpPr/>
          <p:nvPr/>
        </p:nvSpPr>
        <p:spPr>
          <a:xfrm>
            <a:off x="10094976" y="440740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462272"/>
            <a:ext cx="237744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r"/>
            <a:r>
              <a:rPr sz="850" b="1" i="0">
                <a:solidFill>
                  <a:srgbClr val="154FC2"/>
                </a:solidFill>
              </a:rPr>
              <a:t>poll InvalRing tail; read InvalEntry</a:t>
            </a:r>
          </a:p>
        </p:txBody>
      </p:sp>
      <p:sp>
        <p:nvSpPr>
          <p:cNvPr id="33" name="Oval 32"/>
          <p:cNvSpPr/>
          <p:nvPr/>
        </p:nvSpPr>
        <p:spPr>
          <a:xfrm>
            <a:off x="10094976" y="47000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754880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r"/>
            <a:r>
              <a:rPr sz="850" b="1" i="0">
                <a:solidFill>
                  <a:srgbClr val="154FC2"/>
                </a:solidFill>
              </a:rPr>
              <a:t>cache_pool_set_stale(K); bucket_epoch++ (seqlock CAS)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5486400" y="5138928"/>
            <a:ext cx="47548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717536" y="499262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23036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write InvalRing resp_op_id  (ACK)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4104" y="4215384"/>
            <a:ext cx="164592" cy="1197864"/>
          </a:xfrm>
          <a:prstGeom prst="rect">
            <a:avLst/>
          </a:prstGeom>
          <a:solidFill>
            <a:srgbClr val="FFCDD2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3560" y="4722876"/>
            <a:ext cx="146304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00" b="1" i="1">
                <a:solidFill>
                  <a:srgbClr val="C62828"/>
                </a:solidFill>
              </a:rPr>
              <a:t>blocked</a:t>
            </a:r>
          </a:p>
        </p:txBody>
      </p:sp>
      <p:sp>
        <p:nvSpPr>
          <p:cNvPr id="40" name="Oval 39"/>
          <p:cNvSpPr/>
          <p:nvPr/>
        </p:nvSpPr>
        <p:spPr>
          <a:xfrm>
            <a:off x="5340096" y="5285232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5340096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W7-W12: pool_alloc · pool_write · ★ W9 publish_slot_cow ★ · W10 dir + cache_pool_insert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463040" y="5724144"/>
            <a:ext cx="40233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328415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79" y="5815584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write WriteRing resp_op_id  (ACK)  ⇒ worker A4 returns 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80744" y="2752344"/>
            <a:ext cx="164592" cy="3246120"/>
          </a:xfrm>
          <a:prstGeom prst="rect">
            <a:avLst/>
          </a:prstGeom>
          <a:solidFill>
            <a:srgbClr val="FFCDD2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00200" y="4283964"/>
            <a:ext cx="146304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00" b="1" i="1">
                <a:solidFill>
                  <a:srgbClr val="C62828"/>
                </a:solidFill>
              </a:rPr>
              <a:t>blocked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54FC2"/>
                </a:solidFill>
              </a:rPr>
              <a:t>— ▶  Step arrow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● Linearization (W9, A13)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 (A4, A9)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▌ blocked lifeline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0D327D"/>
                </a:solidFill>
              </a:rPr>
              <a:t>14 steps · 3 actors · 2 blocking points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E65100"/>
                </a:solidFill>
              </a:rPr>
              <a:t>Protocol C — Write path: in-place under cross-host LFM 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6 numbered steps · 1 actor · 1 cross-host blocking (C1 LFM acquire) · C5 atomic write_epoch bump = single commit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188720"/>
            <a:ext cx="292608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(caller, cpu 0..T-1)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43600" y="1188720"/>
            <a:ext cx="5852160" cy="411480"/>
          </a:xfrm>
          <a:prstGeom prst="roundRect">
            <a:avLst/>
          </a:prstGeom>
          <a:solidFill>
            <a:srgbClr val="FFF3E0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CXL state touched on the write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920240"/>
            <a:ext cx="5486400" cy="50292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BucketLockEntry  •  shm_mutex_t (LFM) cross-host  •  write_epoch (cacheline_u64)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606040"/>
            <a:ext cx="5486400" cy="50292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CxlKvBucket  •  7 × {key, value} = 112 B = 2 cachelines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291840"/>
            <a:ext cx="5486400" cy="502920"/>
          </a:xfrm>
          <a:prstGeom prst="roundRect">
            <a:avLst/>
          </a:prstGeom>
          <a:solidFill>
            <a:srgbClr val="EEEEEE"/>
          </a:solidFill>
          <a:ln w="1587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0">
                <a:solidFill>
                  <a:srgbClr val="333333"/>
                </a:solidFill>
              </a:rPr>
              <a:t>KvBlockPool  (optional for value_len &gt; 8 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977639"/>
            <a:ext cx="5486400" cy="502920"/>
          </a:xfrm>
          <a:prstGeom prst="roundRect">
            <a:avLst/>
          </a:prstGeom>
          <a:solidFill>
            <a:srgbClr val="EEEEEE"/>
          </a:solidFill>
          <a:ln w="1587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0">
                <a:solidFill>
                  <a:srgbClr val="333333"/>
                </a:solidFill>
              </a:rPr>
              <a:t>OpLog  (optional, recovery)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94560" y="219456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014215" y="2048255"/>
            <a:ext cx="292608" cy="292608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C1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79" y="193852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lock_table_.lock(idx)   LFM acquire  (cross-host blocking spin)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94560" y="2578608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014215" y="2432303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2322576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flush_line(slots[0]); flush_line(slots[4]); mfence  (Phase-2.6 flush-collapse)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4560" y="2962656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014215" y="2816351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2706624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scan 7 slots; pick target_slot for UPDATE / INSERT / DELETE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4560" y="3346703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014215" y="3200399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3090672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slot.value = V; flush; sfence    (or INSERT key+value pair publish)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194560" y="3730752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014215" y="3584448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C5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474720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★ atomic_add_fetch(&amp;write_epoch, 1) + flush + sfence ★  (1.4 µs CXL atomic = peer-visible commit)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194560" y="411480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014215" y="39684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79" y="385876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lock_table_.unlock()   LFM release  →  return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4937760"/>
            <a:ext cx="5212080" cy="1280160"/>
          </a:xfrm>
          <a:prstGeom prst="roundRect">
            <a:avLst/>
          </a:prstGeom>
          <a:solidFill>
            <a:srgbClr val="EEEEEE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Key features of Protocol C write path:</a:t>
            </a:r>
          </a:p>
          <a:p>
            <a:r>
              <a:rPr sz="1000">
                <a:solidFill>
                  <a:srgbClr val="333333"/>
                </a:solidFill>
              </a:rPr>
              <a:t>• 1 actor — no senders / receivers / dispatchers</a:t>
            </a:r>
          </a:p>
          <a:p>
            <a:r>
              <a:rPr sz="1000">
                <a:solidFill>
                  <a:srgbClr val="333333"/>
                </a:solidFill>
              </a:rPr>
              <a:t>• 0 cross-host messages — coordination via shared CXL mutex + epoch</a:t>
            </a:r>
          </a:p>
          <a:p>
            <a:r>
              <a:rPr sz="1000">
                <a:solidFill>
                  <a:srgbClr val="333333"/>
                </a:solidFill>
              </a:rPr>
              <a:t>• 1 linearization point — write_epoch atomic bump (C5)</a:t>
            </a:r>
          </a:p>
          <a:p>
            <a:r>
              <a:rPr sz="1000">
                <a:solidFill>
                  <a:srgbClr val="333333"/>
                </a:solidFill>
              </a:rPr>
              <a:t>• Failure mode: hot-bucket LFM contention scales catastrophically with 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E65100"/>
                </a:solidFill>
              </a:rPr>
              <a:t>╌╌▶  Step arrow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● Linearization (C5 epoch)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 (C1 LFM)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8C3200"/>
                </a:solidFill>
              </a:rPr>
              <a:t>6 steps · 1 actor · 1 blocking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154FC2"/>
                </a:solidFill>
              </a:rPr>
              <a:t>Protocol A — Read path: TLS L1 → KvCachePool L2 → cross-host forwarder-pool-direct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16 numbered steps · 4 actors · 1 cross-host blocking (A8r staging poll, 200 ms cap) · 3 linearization checkpoints (TLS epoch, L2 seqlock seq, C13 lookup_epoch)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59" y="1188720"/>
            <a:ext cx="228600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188720"/>
            <a:ext cx="228600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TLS L1
(per-worker private DRAM)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83480" y="1188720"/>
            <a:ext cx="228600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L2 KvCachePool
(host-shared DRAM, seqlock)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188720"/>
            <a:ext cx="2286000" cy="41148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4FC2"/>
                </a:solidFill>
              </a:rPr>
              <a:t>host 1  ReadReceiver (cpu 67)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24160" y="1188720"/>
            <a:ext cx="1645920" cy="411480"/>
          </a:xfrm>
          <a:prstGeom prst="roundRect">
            <a:avLst/>
          </a:prstGeom>
          <a:solidFill>
            <a:srgbClr val="FFF3E0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900" b="1">
                <a:solidFill>
                  <a:srgbClr val="8C3200"/>
                </a:solidFill>
              </a:rPr>
              <a:t>ReadStaging[0][1] (CXL)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0332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2648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0684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24712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133856" y="16367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39" y="169163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enter search(K)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2039112"/>
            <a:ext cx="24231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345435" y="1892807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A2r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699" y="1783080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tls_lookup: read bucket_epoch (1 LD); compare observed_epoch</a:t>
            </a:r>
          </a:p>
        </p:txBody>
      </p:sp>
      <p:sp>
        <p:nvSpPr>
          <p:cNvPr id="19" name="Oval 18"/>
          <p:cNvSpPr/>
          <p:nvPr/>
        </p:nvSpPr>
        <p:spPr>
          <a:xfrm>
            <a:off x="1133856" y="2148839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R0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39" y="2203703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★ on hit: ~80 ns total, return value to caller ★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80160" y="2551176"/>
            <a:ext cx="484632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3557015" y="2404872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A3r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79" y="2295144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else cache_pool_lookup: seqlock CAS read of L2 entry</a:t>
            </a:r>
          </a:p>
        </p:txBody>
      </p:sp>
      <p:sp>
        <p:nvSpPr>
          <p:cNvPr id="24" name="Oval 23"/>
          <p:cNvSpPr/>
          <p:nvPr/>
        </p:nvSpPr>
        <p:spPr>
          <a:xfrm>
            <a:off x="1133856" y="26609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R2h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39" y="2715768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★ on L2 hit: ~5-7 µs total (KV memcpy under MESI), return 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80160" y="3063240"/>
            <a:ext cx="484632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557015" y="29169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A4r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79" y="3154680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on L2 miss: re-load bucket_epoch  ← my_epoch_at_send (C13 tag)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280160" y="3319272"/>
            <a:ext cx="99669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117336" y="317296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A5r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3063240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ReadStaging[0][1][slot].ready_op_id = 0; flush; sfence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280160" y="3575304"/>
            <a:ext cx="77266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997196" y="342900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A6r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80460" y="3319272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ReadRing[0][1].tail.fetch_add(1)  RMW-CXL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280160" y="3831336"/>
            <a:ext cx="77266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997196" y="368503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A7r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80460" y="3575304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write ReadEntry{key, req_op_id}; flush; sfence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80160" y="4087368"/>
            <a:ext cx="99669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6117336" y="3941064"/>
            <a:ext cx="292608" cy="292608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A8r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3831336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worker spin on ReadStaging.ready_op_id  (200 ms cap)</a:t>
            </a:r>
          </a:p>
        </p:txBody>
      </p:sp>
      <p:sp>
        <p:nvSpPr>
          <p:cNvPr id="41" name="Oval 40"/>
          <p:cNvSpPr/>
          <p:nvPr/>
        </p:nvSpPr>
        <p:spPr>
          <a:xfrm>
            <a:off x="8860536" y="41970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A9r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19" y="4251960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poll ReadRing tail; flush bucket; scan 7 slots</a:t>
            </a:r>
          </a:p>
        </p:txBody>
      </p:sp>
      <p:sp>
        <p:nvSpPr>
          <p:cNvPr id="43" name="Oval 42"/>
          <p:cNvSpPr/>
          <p:nvPr/>
        </p:nvSpPr>
        <p:spPr>
          <a:xfrm>
            <a:off x="8860536" y="4453128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A10r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19" y="4507992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acquire SlotDirectoryEntry.spinlock; sharer_bitmap |= (1&lt;&lt;src)  ★ peer-visible state change ★</a:t>
            </a:r>
          </a:p>
        </p:txBody>
      </p:sp>
      <p:sp>
        <p:nvSpPr>
          <p:cNvPr id="45" name="Oval 44"/>
          <p:cNvSpPr/>
          <p:nvPr/>
        </p:nvSpPr>
        <p:spPr>
          <a:xfrm>
            <a:off x="8860536" y="470916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A11r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19" y="4764024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pool-&gt;read(blk_off, 4) → value_len; pool-&gt;read(blk_off+4, vlen)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006840" y="5111496"/>
            <a:ext cx="22402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9980676" y="496519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A12r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63940" y="4855464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write ReadStaging value_bytes + lookup_epoch (C13 tag) + status; flush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006840" y="5367528"/>
            <a:ext cx="224028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9980676" y="5221224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A13r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63940" y="545896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★ publish staging.ready_op_id = req_op_id ★ (release-publish)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1280160" y="5623560"/>
            <a:ext cx="9966960" cy="0"/>
          </a:xfrm>
          <a:prstGeom prst="line">
            <a:avLst/>
          </a:prstGeom>
          <a:ln w="2032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117336" y="54772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A14r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0600" y="5715000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worker A8r poll observes ready_op_id == req_op_id  → break spin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97863" y="4041648"/>
            <a:ext cx="164592" cy="1819656"/>
          </a:xfrm>
          <a:prstGeom prst="rect">
            <a:avLst/>
          </a:prstGeom>
          <a:solidFill>
            <a:srgbClr val="FFCDD2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33856" y="5733288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A15r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63039" y="5788152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C13: if staging.lookup_epoch &lt; my_epoch_at_send → return -3 (retry from L2)</a:t>
            </a:r>
          </a:p>
        </p:txBody>
      </p:sp>
      <p:sp>
        <p:nvSpPr>
          <p:cNvPr id="59" name="Oval 58"/>
          <p:cNvSpPr/>
          <p:nvPr/>
        </p:nvSpPr>
        <p:spPr>
          <a:xfrm>
            <a:off x="1133856" y="598932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54FC2"/>
                </a:solidFill>
              </a:rPr>
              <a:t>A16r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63039" y="6044184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154FC2"/>
                </a:solidFill>
              </a:rPr>
              <a:t>memcpy value_bytes from staging; populate L2; populate TLS L1; return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54FC2"/>
                </a:solidFill>
              </a:rPr>
              <a:t>—▶  Step arrow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● Linearization checkpoint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▌ blocked lifeline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0D327D"/>
                </a:solidFill>
              </a:rPr>
              <a:t>16 steps · 4 actors · 1 blocking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E65100"/>
                </a:solidFill>
              </a:rPr>
              <a:t>Protocol C — Read path: 1 epoch load + 1 flush + scan  (LRC read-singleshot)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4 numbered steps · 1 actor · 0 cross-host blocking · no seqlock revalidation (LRC: value is committed at SOME instant during scan)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188720"/>
            <a:ext cx="2926080" cy="411480"/>
          </a:xfrm>
          <a:prstGeom prst="roundRect">
            <a:avLst/>
          </a:prstGeom>
          <a:solidFill>
            <a:srgbClr val="E3F2FD"/>
          </a:solidFill>
          <a:ln w="15875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1565C0"/>
                </a:solidFill>
              </a:rPr>
              <a:t>host 0  worker (caller)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1600200"/>
            <a:ext cx="0" cy="4389120"/>
          </a:xfrm>
          <a:prstGeom prst="line">
            <a:avLst/>
          </a:prstGeom>
          <a:ln w="7620">
            <a:solidFill>
              <a:srgbClr val="9E9E9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43600" y="1188720"/>
            <a:ext cx="5852160" cy="411480"/>
          </a:xfrm>
          <a:prstGeom prst="roundRect">
            <a:avLst/>
          </a:prstGeom>
          <a:solidFill>
            <a:srgbClr val="FFF3E0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CXL state read on the search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920240"/>
            <a:ext cx="5486400" cy="50292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BucketLockEntry.write_epoch (cacheline_u64) — read seqlock tag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606040"/>
            <a:ext cx="5486400" cy="502920"/>
          </a:xfrm>
          <a:prstGeom prst="roundRect">
            <a:avLst/>
          </a:prstGeom>
          <a:solidFill>
            <a:srgbClr val="C8DAFB"/>
          </a:solidFill>
          <a:ln w="15875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CxlKvBucket  •  flush 2 cachelines, scan 7 slots in L1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291840"/>
            <a:ext cx="5486400" cy="502920"/>
          </a:xfrm>
          <a:prstGeom prst="roundRect">
            <a:avLst/>
          </a:prstGeom>
          <a:solidFill>
            <a:srgbClr val="FFE0B2"/>
          </a:solidFill>
          <a:ln w="15875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8C3200"/>
                </a:solidFill>
              </a:rPr>
              <a:t>DRAM bucket cache (optional, per-process)  •  cache_buckets_[idx], cache_epoch_[idx]</a:t>
            </a:r>
          </a:p>
        </p:txBody>
      </p:sp>
      <p:sp>
        <p:nvSpPr>
          <p:cNvPr id="10" name="Oval 9"/>
          <p:cNvSpPr/>
          <p:nvPr/>
        </p:nvSpPr>
        <p:spPr>
          <a:xfrm>
            <a:off x="2048255" y="2048255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C1r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103120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bucket_idx = fnv1a_u64(K) % B; entry = lock_table_.entry(idx)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94560" y="269748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014215" y="2551176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C2r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79" y="244144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load CXL write_epoch  (1 LD-CXL cacheline)  ★ if == cached_epoch_[idx]: scan DRAM copy + return 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94560" y="3200400"/>
            <a:ext cx="3931920" cy="0"/>
          </a:xfrm>
          <a:prstGeom prst="line">
            <a:avLst/>
          </a:prstGeom>
          <a:ln w="2032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14215" y="30540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E65100"/>
                </a:solidFill>
              </a:rPr>
              <a:t>C3r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79" y="2944368"/>
            <a:ext cx="292608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cache miss / cache disabled: flush_line(slots[0]) + flush_line(slots[4]) + mfence</a:t>
            </a:r>
          </a:p>
        </p:txBody>
      </p:sp>
      <p:sp>
        <p:nvSpPr>
          <p:cNvPr id="18" name="Oval 17"/>
          <p:cNvSpPr/>
          <p:nvPr/>
        </p:nvSpPr>
        <p:spPr>
          <a:xfrm>
            <a:off x="2048255" y="3557015"/>
            <a:ext cx="292608" cy="292608"/>
          </a:xfrm>
          <a:prstGeom prst="ellipse">
            <a:avLst/>
          </a:prstGeom>
          <a:solidFill>
            <a:srgbClr val="FFF49C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333333"/>
                </a:solidFill>
              </a:rPr>
              <a:t>C4r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3611879"/>
            <a:ext cx="274320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5400" rIns="25400" tIns="0" bIns="0">
            <a:spAutoFit/>
          </a:bodyPr>
          <a:lstStyle/>
          <a:p>
            <a:pPr algn="l"/>
            <a:r>
              <a:rPr sz="850" b="1" i="0">
                <a:solidFill>
                  <a:srgbClr val="E65100"/>
                </a:solidFill>
              </a:rPr>
              <a:t>scan 7 slots in L1 (now fresh from CXL); return value or -1   ★ NO post-scan revalidation (LRC) 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937760"/>
            <a:ext cx="5212080" cy="1280160"/>
          </a:xfrm>
          <a:prstGeom prst="roundRect">
            <a:avLst/>
          </a:prstGeom>
          <a:solidFill>
            <a:srgbClr val="EEEEEE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Key features of Protocol C read path:</a:t>
            </a:r>
          </a:p>
          <a:p>
            <a:r>
              <a:rPr sz="1000">
                <a:solidFill>
                  <a:srgbClr val="333333"/>
                </a:solidFill>
              </a:rPr>
              <a:t>• Reader takes NO lock — bucket lock only serializes writers</a:t>
            </a:r>
          </a:p>
          <a:p>
            <a:r>
              <a:rPr sz="1000">
                <a:solidFill>
                  <a:srgbClr val="333333"/>
                </a:solidFill>
              </a:rPr>
              <a:t>• Optional DRAM cache hit path: ~700 ns (1 CXL epoch load + DRAM scan)</a:t>
            </a:r>
          </a:p>
          <a:p>
            <a:r>
              <a:rPr sz="1000">
                <a:solidFill>
                  <a:srgbClr val="333333"/>
                </a:solidFill>
              </a:rPr>
              <a:t>• Cache-miss path: ~1 µs (2 flushes + mfence + L1 scan)</a:t>
            </a:r>
          </a:p>
          <a:p>
            <a:r>
              <a:rPr sz="1000">
                <a:solidFill>
                  <a:srgbClr val="333333"/>
                </a:solidFill>
              </a:rPr>
              <a:t>• LRC semantics: returned value committed at SOME instant during scan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6355080"/>
            <a:ext cx="7772400" cy="3657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E65100"/>
                </a:solidFill>
              </a:rPr>
              <a:t>╌╌▶  Step arrow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79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● Linearization 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 (none!)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6391656"/>
            <a:ext cx="1828800" cy="29260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355080"/>
            <a:ext cx="3840480" cy="365760"/>
          </a:xfrm>
          <a:prstGeom prst="rect">
            <a:avLst/>
          </a:prstGeom>
          <a:noFill/>
        </p:spPr>
        <p:txBody>
          <a:bodyPr wrap="none" tIns="38100">
            <a:spAutoFit/>
          </a:bodyPr>
          <a:lstStyle/>
          <a:p>
            <a:pPr algn="r"/>
            <a:r>
              <a:rPr sz="1100" b="1">
                <a:solidFill>
                  <a:srgbClr val="8C3200"/>
                </a:solidFill>
              </a:rPr>
              <a:t>4 steps · 1 actor · 0 blocking points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333333"/>
                </a:solidFill>
              </a:rPr>
              <a:t>Write path — measured per-stage latency (T=64 workload-A)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Source: A from iter-11A Phase 5 FUSEE_PROBE=1 capture; C from latency_decomp_C iter-2 per-slot LFM build  •  Yellow = linearization point  •  Red = dominant cost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286000"/>
                <a:gridCol w="502920"/>
                <a:gridCol w="594360"/>
                <a:gridCol w="502920"/>
                <a:gridCol w="1463040"/>
              </a:tblGrid>
              <a:tr h="218440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Entry + bucket flush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4.50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43.6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Bucket scan + DRAM spinlock acquire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Re-flush + read sharer_bitmap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Enter invalidate broadcast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per remote sharer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InvalRing.tail.fetch_add (RMW-CXL)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cross-host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Write InvalEntry + flush + sfence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3.45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3.70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5.29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cross-host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Dispatcher sees new tail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Read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cache_pool_set_stale (DRAM CAS)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(producer) Observes 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Free InvalRing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6.38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End of inval broadcast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per remote sharer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pool-&gt;alloc (RMW-CXL bump cursor)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pool-&gt;write (memcpy + per-CL flush)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8 cachelines KV=512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COMMIT POINT: publish_slot_cow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0.02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★ linearization #1 ★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333333"/>
                          </a:solidFill>
                        </a:rPr>
                        <a:t>directory + cache_pool_insert + epoch++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3.56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6.22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18.1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333333"/>
                          </a:solidFill>
                        </a:rPr>
                        <a:t>★ DOMINANT ★ + lin. #2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Return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9.05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097280"/>
          <a:ext cx="5760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2103120"/>
                <a:gridCol w="502920"/>
                <a:gridCol w="502920"/>
                <a:gridCol w="502920"/>
                <a:gridCol w="1554480"/>
              </a:tblGrid>
              <a:tr h="261257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lock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LFM acquire (CROSS-HOST blocking)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9.0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25.0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427.1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★ DOMINANT ★ 84% of total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2 CL + mfence + scan 7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Phase-2.6 flush-collapse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publish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slot.value = V + flush + sfence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epoch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__atomic_add_fetch(write_epoch) + flush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~4.0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4.07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★ linearization #1 ★ CXL atomic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unlock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LFM release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end-to-end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30.6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439.6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914400"/>
            <a:ext cx="5852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D327D"/>
                </a:solidFill>
              </a:rPr>
              <a:t>Protocol A — 17 distinct stages (W1-W12 + I1-I8 sub-path)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914400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8C3200"/>
                </a:solidFill>
              </a:rPr>
              <a:t>Protocol C — 6 stages total (Lock/Scan/Publish/Epoch/Unlock + Total)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108960"/>
            <a:ext cx="5577840" cy="2011680"/>
          </a:xfrm>
          <a:prstGeom prst="roundRect">
            <a:avLst/>
          </a:prstGeom>
          <a:solidFill>
            <a:srgbClr val="EEEEEE"/>
          </a:solidFill>
          <a:ln w="952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ctr"/>
            <a:r>
              <a:rPr sz="1100" b="1">
                <a:solidFill>
                  <a:srgbClr val="333333"/>
                </a:solidFill>
              </a:rPr>
              <a:t>Mean per-op cost</a:t>
            </a:r>
          </a:p>
          <a:p>
            <a:r>
              <a:rPr sz="1000">
                <a:solidFill>
                  <a:srgbClr val="0D327D"/>
                </a:solidFill>
              </a:rPr>
              <a:t>  Protocol A (no remote sharer):    ~ 13 µs/op</a:t>
            </a:r>
          </a:p>
          <a:p>
            <a:r>
              <a:rPr sz="1000">
                <a:solidFill>
                  <a:srgbClr val="0D327D"/>
                </a:solidFill>
              </a:rPr>
              <a:t>  Protocol A (with remote sharer):  ~ 19 µs/op  (+ inval path I1-I8)</a:t>
            </a:r>
          </a:p>
          <a:p>
            <a:r>
              <a:rPr sz="1000">
                <a:solidFill>
                  <a:srgbClr val="8C3200"/>
                </a:solidFill>
              </a:rPr>
              <a:t>  Protocol C (always):              30.6 µs/op  (84% in lock alone)</a:t>
            </a:r>
          </a:p>
          <a:p>
            <a:r>
              <a:rPr sz="1000">
                <a:solidFill>
                  <a:srgbClr val="333333"/>
                </a:solidFill>
              </a:rPr>
              <a:t/>
            </a:r>
          </a:p>
          <a:p>
            <a:r>
              <a:rPr sz="1100" b="1">
                <a:solidFill>
                  <a:srgbClr val="333333"/>
                </a:solidFill>
              </a:rPr>
              <a:t>Dominant stage shape:</a:t>
            </a:r>
          </a:p>
          <a:p>
            <a:r>
              <a:rPr sz="1000">
                <a:solidFill>
                  <a:srgbClr val="333333"/>
                </a:solidFill>
              </a:rPr>
              <a:t>  A: spread across 12 stages (W10 = 6.2 µs largest, MESI on shared L2 insert)</a:t>
            </a:r>
          </a:p>
          <a:p>
            <a:r>
              <a:rPr sz="1000">
                <a:solidFill>
                  <a:srgbClr val="333333"/>
                </a:solidFill>
              </a:rPr>
              <a:t>  C: concentrated in 1 stage (LFM lock acquire under cross-host Zipf hot-bucket)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200" b="1">
                <a:solidFill>
                  <a:srgbClr val="333333"/>
                </a:solidFill>
              </a:rPr>
              <a:t>Read path — measured per-stage latency (T=64 workload-A)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66928"/>
            <a:ext cx="11704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00" i="1">
                <a:solidFill>
                  <a:srgbClr val="9E9E9E"/>
                </a:solidFill>
              </a:rPr>
              <a:t>A measured from iter-11A Phase 5; C inferred from primitives (no historical search-side decomp run for C)  •  Probabilities by outcome shown for 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59893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194560"/>
                <a:gridCol w="502920"/>
                <a:gridCol w="548640"/>
                <a:gridCol w="502920"/>
                <a:gridCol w="1463040"/>
              </a:tblGrid>
              <a:tr h="251460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R0_tls_hit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TLS L1 hit return (when fresh)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0.079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0.81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★ 80 ns ideal ★ (~18% of reads)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Entry + bucket_epoch.load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7.07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5.26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high mean from shared-CL MESI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R2hit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L2 cache_pool seqlock CAS read 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0.079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0.149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~64% of reads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R2miss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L2 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2.80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3.07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8.12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~17% of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R3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forward_read_direct (CROSS-HOST)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13.6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14.0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26.4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★ DOMINANT ★ (~0.2% but tail)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C13 validate + memcpy from staging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Return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5.82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55080" y="1097280"/>
          <a:ext cx="5806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783080"/>
                <a:gridCol w="457200"/>
                <a:gridCol w="502920"/>
                <a:gridCol w="411480"/>
                <a:gridCol w="1325880"/>
              </a:tblGrid>
              <a:tr h="261257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C1r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hash(K) → bucket_idx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inferred from primitives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C2r (cache hit)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CACHELINE_LOAD write_epoch + DRAM scan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opt DRAM cache hit path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C3r (cache miss)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2 CL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2 flush_line@66ns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scan 7 slots in L1 (now fresh)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 (cache hit)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best case end-to-end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8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 (cache miss)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+ scan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383280"/>
            <a:ext cx="5989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D327D"/>
                </a:solidFill>
              </a:rPr>
              <a:t>Protocol A read-path outcome distribution (T=64 wl-A)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74903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TLS L1 hit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379475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65960" y="3794759"/>
            <a:ext cx="969867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374903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74903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~0.08 µs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02335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L2 cache_pool hit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406907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65960" y="4069079"/>
            <a:ext cx="1828800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402335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~64%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402335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~7 µs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29767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Owner-self CXL fetch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5960" y="434339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5960" y="4343399"/>
            <a:ext cx="942541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429767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~17%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429767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~10 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57199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Cross-host miss (R3+R4)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461771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65960" y="4617719"/>
            <a:ext cx="102233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457199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~0.2%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7199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~22 µs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383280"/>
            <a:ext cx="5532120" cy="3108960"/>
          </a:xfrm>
          <a:prstGeom prst="roundRect">
            <a:avLst/>
          </a:prstGeom>
          <a:solidFill>
            <a:srgbClr val="EEEEEE"/>
          </a:solidFill>
          <a:ln w="952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ctr"/>
            <a:r>
              <a:rPr sz="1100" b="1">
                <a:solidFill>
                  <a:srgbClr val="333333"/>
                </a:solidFill>
              </a:rPr>
              <a:t>Reader best-case</a:t>
            </a:r>
          </a:p>
          <a:p>
            <a:r>
              <a:rPr sz="1000" b="0">
                <a:solidFill>
                  <a:srgbClr val="0D327D"/>
                </a:solidFill>
              </a:rPr>
              <a:t>  A (TLS L1 hit):      ~ 80 ns</a:t>
            </a:r>
          </a:p>
          <a:p>
            <a:r>
              <a:rPr sz="1000" b="0">
                <a:solidFill>
                  <a:srgbClr val="8C3200"/>
                </a:solidFill>
              </a:rPr>
              <a:t>  C (DRAM cache hit):  ~ 700 ns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100" b="1">
                <a:solidFill>
                  <a:srgbClr val="333333"/>
                </a:solidFill>
              </a:rPr>
              <a:t>Reader worst-case (cross-host miss)</a:t>
            </a:r>
          </a:p>
          <a:p>
            <a:r>
              <a:rPr sz="1000" b="0">
                <a:solidFill>
                  <a:srgbClr val="0D327D"/>
                </a:solidFill>
              </a:rPr>
              <a:t>  A: ~ 22 µs (R1+R2miss+R3+R4+R6)</a:t>
            </a:r>
          </a:p>
          <a:p>
            <a:r>
              <a:rPr sz="1000" b="0">
                <a:solidFill>
                  <a:srgbClr val="8C3200"/>
                </a:solidFill>
              </a:rPr>
              <a:t>  C: ~ 1 µs  (every read is a local flush+scan)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100" b="1">
                <a:solidFill>
                  <a:srgbClr val="333333"/>
                </a:solidFill>
              </a:rPr>
              <a:t>Key insight</a:t>
            </a:r>
          </a:p>
          <a:p>
            <a:r>
              <a:rPr sz="1000" b="0">
                <a:solidFill>
                  <a:srgbClr val="333333"/>
                </a:solidFill>
              </a:rPr>
              <a:t>  Only TLS L1 hits beat C. Every other A path pays for L2 seqlock or cross-host coordination. C readers are near-CXL-physics regardless of contention.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