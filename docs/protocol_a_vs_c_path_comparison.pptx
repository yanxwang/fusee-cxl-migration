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0"/>
            <a:ext cx="112471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 b="1">
                <a:solidFill>
                  <a:srgbClr val="333333"/>
                </a:solidFill>
              </a:rPr>
              <a:t>Protocol A vs Protocol 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10896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>
                <a:solidFill>
                  <a:srgbClr val="154FC2"/>
                </a:solidFill>
              </a:rPr>
              <a:t>Read / Write Path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93192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i="1">
                <a:solidFill>
                  <a:srgbClr val="9E9E9E"/>
                </a:solidFill>
              </a:rPr>
              <a:t>measured T=64 workload-A on g3+g4 testbed  •  iter-11A snapshot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754880"/>
            <a:ext cx="109728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i="1">
                <a:solidFill>
                  <a:srgbClr val="333333"/>
                </a:solidFill>
              </a:rPr>
              <a:t>Thesis: strict-A linearizability (Protocol A) requires fundamentally more stages, more linearization points, and more cross-host coordination than LRC (Protocol C). The measured per-stage data confirms this is a structural property, not an engineering artefact.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91440"/>
            <a:ext cx="11704320" cy="5029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sz="2200" b="1">
                <a:solidFill>
                  <a:srgbClr val="154FC2"/>
                </a:solidFill>
              </a:rPr>
              <a:t>Protocol A — Write path: cross-host  update(K=1024 B, V)  T=64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566928"/>
            <a:ext cx="11704320" cy="292608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sz="1100" i="1">
                <a:solidFill>
                  <a:srgbClr val="9E9E9E"/>
                </a:solidFill>
              </a:rPr>
              <a:t>14 narrative steps · 3 actors · per-step latency in [µs]  (measured = from iter-11A Phase 5 path_decomp KV=512 scaled to KV=1024; estimated = derived from CXL primitives)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82880" y="1188720"/>
            <a:ext cx="2560320" cy="411480"/>
          </a:xfrm>
          <a:prstGeom prst="roundRect">
            <a:avLst/>
          </a:prstGeom>
          <a:solidFill>
            <a:srgbClr val="E3F2FD"/>
          </a:solidFill>
          <a:ln w="15875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" rIns="38100" tIns="25400" bIns="25400" wrap="square"/>
          <a:lstStyle/>
          <a:p>
            <a:pPr algn="ctr"/>
            <a:r>
              <a:rPr sz="1000" b="1">
                <a:solidFill>
                  <a:srgbClr val="1565C0"/>
                </a:solidFill>
              </a:rPr>
              <a:t>host 0  worker (caller)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06240" y="1188720"/>
            <a:ext cx="2560320" cy="411480"/>
          </a:xfrm>
          <a:prstGeom prst="roundRect">
            <a:avLst/>
          </a:prstGeom>
          <a:solidFill>
            <a:srgbClr val="C8DAFB"/>
          </a:solidFill>
          <a:ln w="15875">
            <a:solidFill>
              <a:srgbClr val="154F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" rIns="38100" tIns="25400" bIns="25400" wrap="square"/>
          <a:lstStyle/>
          <a:p>
            <a:pPr algn="ctr"/>
            <a:r>
              <a:rPr sz="1000" b="1">
                <a:solidFill>
                  <a:srgbClr val="154FC2"/>
                </a:solidFill>
              </a:rPr>
              <a:t>host 1  WriteReceiver (cpu 65)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961119" y="1188720"/>
            <a:ext cx="2560320" cy="411480"/>
          </a:xfrm>
          <a:prstGeom prst="roundRect">
            <a:avLst/>
          </a:prstGeom>
          <a:solidFill>
            <a:srgbClr val="C8DAFB"/>
          </a:solidFill>
          <a:ln w="15875">
            <a:solidFill>
              <a:srgbClr val="154F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" rIns="38100" tIns="25400" bIns="25400" wrap="square"/>
          <a:lstStyle/>
          <a:p>
            <a:pPr algn="ctr"/>
            <a:r>
              <a:rPr sz="1000" b="1">
                <a:solidFill>
                  <a:srgbClr val="154FC2"/>
                </a:solidFill>
              </a:rPr>
              <a:t>host 0  InvalReceiver (cpu 69)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463040" y="1691640"/>
            <a:ext cx="0" cy="4297680"/>
          </a:xfrm>
          <a:prstGeom prst="line">
            <a:avLst/>
          </a:prstGeom>
          <a:ln w="7620">
            <a:solidFill>
              <a:srgbClr val="9E9E9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5486400" y="1691640"/>
            <a:ext cx="0" cy="4297680"/>
          </a:xfrm>
          <a:prstGeom prst="line">
            <a:avLst/>
          </a:prstGeom>
          <a:ln w="7620">
            <a:solidFill>
              <a:srgbClr val="9E9E9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241280" y="1691640"/>
            <a:ext cx="0" cy="4297680"/>
          </a:xfrm>
          <a:prstGeom prst="line">
            <a:avLst/>
          </a:prstGeom>
          <a:ln w="7620">
            <a:solidFill>
              <a:srgbClr val="9E9E9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316736" y="1728216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54F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154FC2"/>
                </a:solidFill>
              </a:rPr>
              <a:t>A1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1783079"/>
            <a:ext cx="2743200" cy="2194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25400" rIns="25400" tIns="0" bIns="0">
            <a:spAutoFit/>
          </a:bodyPr>
          <a:lstStyle/>
          <a:p>
            <a:pPr algn="l"/>
            <a:r>
              <a:rPr sz="850" b="1" i="0">
                <a:solidFill>
                  <a:srgbClr val="154FC2"/>
                </a:solidFill>
              </a:rPr>
              <a:t>[1.1 µs est] write V bytes → ForwardStaging[0][1][slot]  (16 CL flush)</a:t>
            </a:r>
          </a:p>
        </p:txBody>
      </p:sp>
      <p:sp>
        <p:nvSpPr>
          <p:cNvPr id="12" name="Oval 11"/>
          <p:cNvSpPr/>
          <p:nvPr/>
        </p:nvSpPr>
        <p:spPr>
          <a:xfrm>
            <a:off x="1316736" y="2020823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54F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154FC2"/>
                </a:solidFill>
              </a:rPr>
              <a:t>A2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2075687"/>
            <a:ext cx="2743200" cy="2194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25400" rIns="25400" tIns="0" bIns="0">
            <a:spAutoFit/>
          </a:bodyPr>
          <a:lstStyle/>
          <a:p>
            <a:pPr algn="l"/>
            <a:r>
              <a:rPr sz="850" b="1" i="0">
                <a:solidFill>
                  <a:srgbClr val="154FC2"/>
                </a:solidFill>
              </a:rPr>
              <a:t>[1.4 µs est] WriteRing[0][1].tail.fetch_add(1)  CXL atomic</a:t>
            </a:r>
          </a:p>
        </p:txBody>
      </p:sp>
      <p:sp>
        <p:nvSpPr>
          <p:cNvPr id="14" name="Oval 13"/>
          <p:cNvSpPr/>
          <p:nvPr/>
        </p:nvSpPr>
        <p:spPr>
          <a:xfrm>
            <a:off x="1316736" y="2313431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54F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154FC2"/>
                </a:solidFill>
              </a:rPr>
              <a:t>A3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45920" y="2368295"/>
            <a:ext cx="2743200" cy="2194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25400" rIns="25400" tIns="0" bIns="0">
            <a:spAutoFit/>
          </a:bodyPr>
          <a:lstStyle/>
          <a:p>
            <a:pPr algn="l"/>
            <a:r>
              <a:rPr sz="850" b="1" i="0">
                <a:solidFill>
                  <a:srgbClr val="154FC2"/>
                </a:solidFill>
              </a:rPr>
              <a:t>[0.1 µs est] write WriteEntry{key, op_kind, value_len, staging_off} + flush + sfence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463040" y="2752343"/>
            <a:ext cx="4023360" cy="0"/>
          </a:xfrm>
          <a:prstGeom prst="line">
            <a:avLst/>
          </a:prstGeom>
          <a:ln w="20320">
            <a:solidFill>
              <a:srgbClr val="154FC2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3328415" y="2606039"/>
            <a:ext cx="292608" cy="292608"/>
          </a:xfrm>
          <a:prstGeom prst="ellipse">
            <a:avLst/>
          </a:prstGeom>
          <a:solidFill>
            <a:srgbClr val="FFCDD2"/>
          </a:solidFill>
          <a:ln w="190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333333"/>
                </a:solidFill>
              </a:rPr>
              <a:t>A4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11679" y="2496311"/>
            <a:ext cx="2926080" cy="2194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25400" rIns="25400" tIns="0" bIns="0">
            <a:spAutoFit/>
          </a:bodyPr>
          <a:lstStyle/>
          <a:p>
            <a:pPr algn="l"/>
            <a:r>
              <a:rPr sz="850" b="1" i="0">
                <a:solidFill>
                  <a:srgbClr val="154FC2"/>
                </a:solidFill>
              </a:rPr>
              <a:t>[~22 µs blocked] worker spin on WriteRing.resp_op_id  (5 ms cap)</a:t>
            </a:r>
          </a:p>
        </p:txBody>
      </p:sp>
      <p:sp>
        <p:nvSpPr>
          <p:cNvPr id="19" name="Oval 18"/>
          <p:cNvSpPr/>
          <p:nvPr/>
        </p:nvSpPr>
        <p:spPr>
          <a:xfrm>
            <a:off x="5340096" y="2898647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54F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154FC2"/>
                </a:solidFill>
              </a:rPr>
              <a:t>A5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0" y="2953511"/>
            <a:ext cx="2743200" cy="2194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25400" rIns="25400" tIns="0" bIns="0">
            <a:spAutoFit/>
          </a:bodyPr>
          <a:lstStyle/>
          <a:p>
            <a:pPr algn="l"/>
            <a:r>
              <a:rPr sz="850" b="1" i="0">
                <a:solidFill>
                  <a:srgbClr val="154FC2"/>
                </a:solidFill>
              </a:rPr>
              <a:t>[1.5 µs est] WriteReceiver poll WriteRing.tail; reads staging bytes</a:t>
            </a:r>
          </a:p>
        </p:txBody>
      </p:sp>
      <p:sp>
        <p:nvSpPr>
          <p:cNvPr id="21" name="Oval 20"/>
          <p:cNvSpPr/>
          <p:nvPr/>
        </p:nvSpPr>
        <p:spPr>
          <a:xfrm>
            <a:off x="5340096" y="3191255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54F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154FC2"/>
                </a:solidFill>
              </a:rPr>
              <a:t>A6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0" y="3246119"/>
            <a:ext cx="2743200" cy="2194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25400" rIns="25400" tIns="0" bIns="0">
            <a:spAutoFit/>
          </a:bodyPr>
          <a:lstStyle/>
          <a:p>
            <a:pPr algn="l"/>
            <a:r>
              <a:rPr sz="850" b="1" i="0">
                <a:solidFill>
                  <a:srgbClr val="154FC2"/>
                </a:solidFill>
              </a:rPr>
              <a:t>[5.0 µs measured] execute_write_local: W1 flush+mfence + W2 scan+spinlock + W3 bitmap</a:t>
            </a:r>
          </a:p>
        </p:txBody>
      </p:sp>
      <p:sp>
        <p:nvSpPr>
          <p:cNvPr id="23" name="Oval 22"/>
          <p:cNvSpPr/>
          <p:nvPr/>
        </p:nvSpPr>
        <p:spPr>
          <a:xfrm>
            <a:off x="5340096" y="3483863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54F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154FC2"/>
                </a:solidFill>
              </a:rPr>
              <a:t>A7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0" y="3538727"/>
            <a:ext cx="2743200" cy="2194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25400" rIns="25400" tIns="0" bIns="0">
            <a:spAutoFit/>
          </a:bodyPr>
          <a:lstStyle/>
          <a:p>
            <a:pPr algn="l"/>
            <a:r>
              <a:rPr sz="850" b="1" i="0">
                <a:solidFill>
                  <a:srgbClr val="154FC2"/>
                </a:solidFill>
              </a:rPr>
              <a:t>[1.65 µs measured I1] InvalRing[1][0].tail.fetch_add(1)  CXL atomic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486400" y="3922775"/>
            <a:ext cx="4754880" cy="0"/>
          </a:xfrm>
          <a:prstGeom prst="line">
            <a:avLst/>
          </a:prstGeom>
          <a:ln w="20320">
            <a:solidFill>
              <a:srgbClr val="154FC2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Oval 25"/>
          <p:cNvSpPr/>
          <p:nvPr/>
        </p:nvSpPr>
        <p:spPr>
          <a:xfrm>
            <a:off x="7717536" y="3776471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54F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154FC2"/>
                </a:solidFill>
              </a:rPr>
              <a:t>A8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3666743"/>
            <a:ext cx="2926080" cy="2194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25400" rIns="25400" tIns="0" bIns="0">
            <a:spAutoFit/>
          </a:bodyPr>
          <a:lstStyle/>
          <a:p>
            <a:pPr algn="l"/>
            <a:r>
              <a:rPr sz="850" b="1" i="0">
                <a:solidFill>
                  <a:srgbClr val="154FC2"/>
                </a:solidFill>
              </a:rPr>
              <a:t>[3.7 µs measured I2] write InvalEntry{key} + flush + sfence</a:t>
            </a:r>
          </a:p>
        </p:txBody>
      </p:sp>
      <p:sp>
        <p:nvSpPr>
          <p:cNvPr id="28" name="Oval 27"/>
          <p:cNvSpPr/>
          <p:nvPr/>
        </p:nvSpPr>
        <p:spPr>
          <a:xfrm>
            <a:off x="5340096" y="4069079"/>
            <a:ext cx="292608" cy="292608"/>
          </a:xfrm>
          <a:prstGeom prst="ellipse">
            <a:avLst/>
          </a:prstGeom>
          <a:solidFill>
            <a:srgbClr val="FFCDD2"/>
          </a:solidFill>
          <a:ln w="190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333333"/>
                </a:solidFill>
              </a:rPr>
              <a:t>A9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0" y="4123944"/>
            <a:ext cx="2743200" cy="2194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25400" rIns="25400" tIns="0" bIns="0">
            <a:spAutoFit/>
          </a:bodyPr>
          <a:lstStyle/>
          <a:p>
            <a:pPr algn="l"/>
            <a:r>
              <a:rPr sz="850" b="1" i="0">
                <a:solidFill>
                  <a:srgbClr val="154FC2"/>
                </a:solidFill>
              </a:rPr>
              <a:t>[~1.9 µs blocked] WriteReceiver spin on InvalRing.resp_op_id  (5 ms cap)</a:t>
            </a:r>
          </a:p>
        </p:txBody>
      </p:sp>
      <p:sp>
        <p:nvSpPr>
          <p:cNvPr id="30" name="Oval 29"/>
          <p:cNvSpPr/>
          <p:nvPr/>
        </p:nvSpPr>
        <p:spPr>
          <a:xfrm>
            <a:off x="10094976" y="4361688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54F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154FC2"/>
                </a:solidFill>
              </a:rPr>
              <a:t>A10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79" y="4416552"/>
            <a:ext cx="2560320" cy="2194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25400" rIns="25400" tIns="0" bIns="0">
            <a:spAutoFit/>
          </a:bodyPr>
          <a:lstStyle/>
          <a:p>
            <a:pPr algn="r"/>
            <a:r>
              <a:rPr sz="850" b="1" i="0">
                <a:solidFill>
                  <a:srgbClr val="154FC2"/>
                </a:solidFill>
              </a:rPr>
              <a:t>[1.75 µs measured I3+I4] poll InvalRing tail; read req_op_id</a:t>
            </a:r>
          </a:p>
        </p:txBody>
      </p:sp>
      <p:sp>
        <p:nvSpPr>
          <p:cNvPr id="32" name="Oval 31"/>
          <p:cNvSpPr/>
          <p:nvPr/>
        </p:nvSpPr>
        <p:spPr>
          <a:xfrm>
            <a:off x="10094976" y="4654296"/>
            <a:ext cx="292608" cy="292608"/>
          </a:xfrm>
          <a:prstGeom prst="ellipse">
            <a:avLst/>
          </a:prstGeom>
          <a:solidFill>
            <a:srgbClr val="FFF49C"/>
          </a:solidFill>
          <a:ln w="19050">
            <a:solidFill>
              <a:srgbClr val="F9A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333333"/>
                </a:solidFill>
              </a:rPr>
              <a:t>A11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06640" y="4709160"/>
            <a:ext cx="2651760" cy="2194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25400" rIns="25400" tIns="0" bIns="0">
            <a:spAutoFit/>
          </a:bodyPr>
          <a:lstStyle/>
          <a:p>
            <a:pPr algn="r"/>
            <a:r>
              <a:rPr sz="850" b="1" i="0">
                <a:solidFill>
                  <a:srgbClr val="154FC2"/>
                </a:solidFill>
              </a:rPr>
              <a:t>[0.03 µs measured I5] cache_pool_set_stale; bucket_epoch++  (seqlock CAS)</a:t>
            </a:r>
          </a:p>
        </p:txBody>
      </p:sp>
      <p:cxnSp>
        <p:nvCxnSpPr>
          <p:cNvPr id="34" name="Connector 33"/>
          <p:cNvCxnSpPr/>
          <p:nvPr/>
        </p:nvCxnSpPr>
        <p:spPr>
          <a:xfrm flipH="1">
            <a:off x="5486400" y="5093208"/>
            <a:ext cx="4754880" cy="0"/>
          </a:xfrm>
          <a:prstGeom prst="line">
            <a:avLst/>
          </a:prstGeom>
          <a:ln w="20320">
            <a:solidFill>
              <a:srgbClr val="154FC2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Oval 34"/>
          <p:cNvSpPr/>
          <p:nvPr/>
        </p:nvSpPr>
        <p:spPr>
          <a:xfrm>
            <a:off x="7717536" y="4946904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54F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154FC2"/>
                </a:solidFill>
              </a:rPr>
              <a:t>A12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0" y="5184648"/>
            <a:ext cx="2926080" cy="2194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25400" rIns="25400" tIns="0" bIns="0">
            <a:spAutoFit/>
          </a:bodyPr>
          <a:lstStyle/>
          <a:p>
            <a:pPr algn="l"/>
            <a:r>
              <a:rPr sz="850" b="1" i="0">
                <a:solidFill>
                  <a:srgbClr val="154FC2"/>
                </a:solidFill>
              </a:rPr>
              <a:t>[0.07 µs est] write InvalRing.resp_op_id ACK + flush + sfence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04104" y="3877055"/>
            <a:ext cx="164592" cy="1463040"/>
          </a:xfrm>
          <a:prstGeom prst="rect">
            <a:avLst/>
          </a:prstGeom>
          <a:solidFill>
            <a:srgbClr val="FFCDD2"/>
          </a:solidFill>
          <a:ln w="63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5340096" y="5239512"/>
            <a:ext cx="292608" cy="292608"/>
          </a:xfrm>
          <a:prstGeom prst="ellipse">
            <a:avLst/>
          </a:prstGeom>
          <a:solidFill>
            <a:srgbClr val="FFF49C"/>
          </a:solidFill>
          <a:ln w="19050">
            <a:solidFill>
              <a:srgbClr val="F9A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333333"/>
                </a:solidFill>
              </a:rPr>
              <a:t>A13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69280" y="5294376"/>
            <a:ext cx="2743200" cy="2194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25400" rIns="25400" tIns="0" bIns="0">
            <a:spAutoFit/>
          </a:bodyPr>
          <a:lstStyle/>
          <a:p>
            <a:pPr algn="l"/>
            <a:r>
              <a:rPr sz="850" b="1" i="0">
                <a:solidFill>
                  <a:srgbClr val="154FC2"/>
                </a:solidFill>
              </a:rPr>
              <a:t>[10 µs measured+est] W7 pool_alloc + W8 pool_write(1024B) + ★ W9 publish_slot_cow ★ + W10 dir + cache_pool_insert + bucket_epoch++ + W12 return</a:t>
            </a:r>
          </a:p>
        </p:txBody>
      </p:sp>
      <p:cxnSp>
        <p:nvCxnSpPr>
          <p:cNvPr id="40" name="Connector 39"/>
          <p:cNvCxnSpPr/>
          <p:nvPr/>
        </p:nvCxnSpPr>
        <p:spPr>
          <a:xfrm flipH="1">
            <a:off x="1463040" y="5678424"/>
            <a:ext cx="4023360" cy="0"/>
          </a:xfrm>
          <a:prstGeom prst="line">
            <a:avLst/>
          </a:prstGeom>
          <a:ln w="20320">
            <a:solidFill>
              <a:srgbClr val="154FC2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Oval 40"/>
          <p:cNvSpPr/>
          <p:nvPr/>
        </p:nvSpPr>
        <p:spPr>
          <a:xfrm>
            <a:off x="3328415" y="553212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54F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154FC2"/>
                </a:solidFill>
              </a:rPr>
              <a:t>A14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011679" y="5769864"/>
            <a:ext cx="2926080" cy="2194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25400" rIns="25400" tIns="0" bIns="0">
            <a:spAutoFit/>
          </a:bodyPr>
          <a:lstStyle/>
          <a:p>
            <a:pPr algn="l"/>
            <a:r>
              <a:rPr sz="850" b="1" i="0">
                <a:solidFill>
                  <a:srgbClr val="154FC2"/>
                </a:solidFill>
              </a:rPr>
              <a:t>[0.2 µs est] write WriteRing.resp_op_id ACK; worker A4 spin breaks; free slot; return 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380744" y="2706623"/>
            <a:ext cx="164592" cy="3218688"/>
          </a:xfrm>
          <a:prstGeom prst="rect">
            <a:avLst/>
          </a:prstGeom>
          <a:solidFill>
            <a:srgbClr val="FFCDD2"/>
          </a:solidFill>
          <a:ln w="63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274320" y="5989320"/>
            <a:ext cx="7772400" cy="292608"/>
          </a:xfrm>
          <a:prstGeom prst="roundRect">
            <a:avLst/>
          </a:prstGeom>
          <a:solidFill>
            <a:srgbClr val="FFF49C"/>
          </a:solidFill>
          <a:ln w="9525">
            <a:solidFill>
              <a:srgbClr val="F9A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 rIns="101600" tIns="25400" bIns="25400"/>
          <a:lstStyle/>
          <a:p>
            <a:pPr algn="l"/>
            <a:r>
              <a:rPr sz="1000" b="1">
                <a:solidFill>
                  <a:srgbClr val="0D327D"/>
                </a:solidFill>
              </a:rPr>
              <a:t>End-to-end:  with peer-sharer-invalidate (A7-A12 fire)  ≈ 22 µs   |   without (~93% of ops at T=64, sharer_bitmap reset by W10) ≈ 16 µs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74320" y="6355080"/>
            <a:ext cx="7772400" cy="365760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9E9E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6391656"/>
            <a:ext cx="1828800" cy="292608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 algn="l"/>
            <a:r>
              <a:rPr sz="900" b="1">
                <a:solidFill>
                  <a:srgbClr val="154FC2"/>
                </a:solidFill>
              </a:rPr>
              <a:t>● A* step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240279" y="6391656"/>
            <a:ext cx="1828800" cy="292608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 algn="l"/>
            <a:r>
              <a:rPr sz="900" b="1">
                <a:solidFill>
                  <a:srgbClr val="C62828"/>
                </a:solidFill>
              </a:rPr>
              <a:t>● Cross-host blocking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114800" y="6391656"/>
            <a:ext cx="1828800" cy="292608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 algn="l"/>
            <a:r>
              <a:rPr sz="900" b="1">
                <a:solidFill>
                  <a:srgbClr val="F9A825"/>
                </a:solidFill>
              </a:rPr>
              <a:t>★ Linearization point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989320" y="6391656"/>
            <a:ext cx="1828800" cy="292608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 algn="l"/>
            <a:r>
              <a:rPr sz="900" b="1">
                <a:solidFill>
                  <a:srgbClr val="C62828"/>
                </a:solidFill>
              </a:rPr>
              <a:t>▌ blocked lifeline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29600" y="6355080"/>
            <a:ext cx="3840480" cy="365760"/>
          </a:xfrm>
          <a:prstGeom prst="rect">
            <a:avLst/>
          </a:prstGeom>
          <a:noFill/>
        </p:spPr>
        <p:txBody>
          <a:bodyPr wrap="none" tIns="38100">
            <a:spAutoFit/>
          </a:bodyPr>
          <a:lstStyle/>
          <a:p>
            <a:pPr algn="r"/>
            <a:r>
              <a:rPr sz="1100" b="1">
                <a:solidFill>
                  <a:srgbClr val="0D327D"/>
                </a:solidFill>
              </a:rPr>
              <a:t>14 steps · 3 actors · 2 blocking points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91440"/>
            <a:ext cx="11704320" cy="5029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sz="2200" b="1">
                <a:solidFill>
                  <a:srgbClr val="E65100"/>
                </a:solidFill>
              </a:rPr>
              <a:t>Protocol C — Write path: in-place  update(K, V=1024 B)  under cross-host LFM lock, T=64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566928"/>
            <a:ext cx="11704320" cy="292608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sz="1100" i="1">
                <a:solidFill>
                  <a:srgbClr val="9E9E9E"/>
                </a:solidFill>
              </a:rPr>
              <a:t>7 narrative steps · 1 actor · per-step latency in [µs]  (measured = iter-2 DECOMP_REC; KV=1024 adds C0 pool alloc+write before C1)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19" y="1188720"/>
            <a:ext cx="2926080" cy="411480"/>
          </a:xfrm>
          <a:prstGeom prst="roundRect">
            <a:avLst/>
          </a:prstGeom>
          <a:solidFill>
            <a:srgbClr val="E3F2FD"/>
          </a:solidFill>
          <a:ln w="15875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" rIns="38100" tIns="25400" bIns="25400" wrap="square"/>
          <a:lstStyle/>
          <a:p>
            <a:pPr algn="ctr"/>
            <a:r>
              <a:rPr sz="1000" b="1">
                <a:solidFill>
                  <a:srgbClr val="1565C0"/>
                </a:solidFill>
              </a:rPr>
              <a:t>host 0  worker (caller)
insert / update / remove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194560" y="1691640"/>
            <a:ext cx="0" cy="4297680"/>
          </a:xfrm>
          <a:prstGeom prst="line">
            <a:avLst/>
          </a:prstGeom>
          <a:ln w="7620">
            <a:solidFill>
              <a:srgbClr val="9E9E9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5943600" y="1188720"/>
            <a:ext cx="5852160" cy="411480"/>
          </a:xfrm>
          <a:prstGeom prst="roundRect">
            <a:avLst/>
          </a:prstGeom>
          <a:solidFill>
            <a:srgbClr val="FFF3E0"/>
          </a:solidFill>
          <a:ln w="15875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" rIns="38100" tIns="25400" bIns="25400" wrap="square"/>
          <a:lstStyle/>
          <a:p>
            <a:pPr algn="ctr"/>
            <a:r>
              <a:rPr sz="1100" b="1">
                <a:solidFill>
                  <a:srgbClr val="8C3200"/>
                </a:solidFill>
              </a:rPr>
              <a:t>CXL state touched on the write path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1691640"/>
            <a:ext cx="5486400" cy="411480"/>
          </a:xfrm>
          <a:prstGeom prst="roundRect">
            <a:avLst/>
          </a:prstGeom>
          <a:solidFill>
            <a:srgbClr val="C8DAFB"/>
          </a:solidFill>
          <a:ln w="15875">
            <a:solidFill>
              <a:srgbClr val="154F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" rIns="38100" tIns="25400" bIns="25400" wrap="square"/>
          <a:lstStyle/>
          <a:p>
            <a:pPr algn="ctr"/>
            <a:r>
              <a:rPr sz="1000" b="1">
                <a:solidFill>
                  <a:srgbClr val="0D327D"/>
                </a:solidFill>
              </a:rPr>
              <a:t>BucketLockEntry  •  shm_mutex_t (LFM) cross-host  •  write_epoch (cacheline_u64)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2194560"/>
            <a:ext cx="5486400" cy="411480"/>
          </a:xfrm>
          <a:prstGeom prst="roundRect">
            <a:avLst/>
          </a:prstGeom>
          <a:solidFill>
            <a:srgbClr val="C8DAFB"/>
          </a:solidFill>
          <a:ln w="15875">
            <a:solidFill>
              <a:srgbClr val="154F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" rIns="38100" tIns="25400" bIns="25400" wrap="square"/>
          <a:lstStyle/>
          <a:p>
            <a:pPr algn="ctr"/>
            <a:r>
              <a:rPr sz="1000" b="1">
                <a:solidFill>
                  <a:srgbClr val="0D327D"/>
                </a:solidFill>
              </a:rPr>
              <a:t>CxlKvBucket  •  7 × {key, value} = 112 B = 2 cachelines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2697480"/>
            <a:ext cx="5486400" cy="411480"/>
          </a:xfrm>
          <a:prstGeom prst="roundRect">
            <a:avLst/>
          </a:prstGeom>
          <a:solidFill>
            <a:srgbClr val="C8DAFB"/>
          </a:solidFill>
          <a:ln w="15875">
            <a:solidFill>
              <a:srgbClr val="154F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" rIns="38100" tIns="25400" bIns="25400" wrap="square"/>
          <a:lstStyle/>
          <a:p>
            <a:pPr algn="ctr"/>
            <a:r>
              <a:rPr sz="1000" b="1">
                <a:solidFill>
                  <a:srgbClr val="0D327D"/>
                </a:solidFill>
              </a:rPr>
              <a:t>KvBlockPool  •  1024-B blocks (used by KV&gt;8 path)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194560" y="3291840"/>
            <a:ext cx="3931920" cy="0"/>
          </a:xfrm>
          <a:prstGeom prst="line">
            <a:avLst/>
          </a:prstGeom>
          <a:ln w="20320">
            <a:solidFill>
              <a:srgbClr val="E65100"/>
            </a:solidFill>
            <a:tailEnd type="triangle" w="med" h="med"/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Oval 10"/>
          <p:cNvSpPr/>
          <p:nvPr/>
        </p:nvSpPr>
        <p:spPr>
          <a:xfrm>
            <a:off x="4014215" y="3145536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E65100"/>
                </a:solidFill>
              </a:rPr>
              <a:t>C0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97479" y="3035808"/>
            <a:ext cx="2926080" cy="2194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25400" rIns="25400" tIns="0" bIns="0">
            <a:spAutoFit/>
          </a:bodyPr>
          <a:lstStyle/>
          <a:p>
            <a:pPr algn="l"/>
            <a:r>
              <a:rPr sz="850" b="1" i="0">
                <a:solidFill>
                  <a:srgbClr val="E65100"/>
                </a:solidFill>
              </a:rPr>
              <a:t>[2.4 µs est] blockpool-&gt;alloc (CXL atomic) + blockpool-&gt;write(1024 B)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194560" y="3657600"/>
            <a:ext cx="3931920" cy="0"/>
          </a:xfrm>
          <a:prstGeom prst="line">
            <a:avLst/>
          </a:prstGeom>
          <a:ln w="20320">
            <a:solidFill>
              <a:srgbClr val="E65100"/>
            </a:solidFill>
            <a:tailEnd type="triangle" w="med" h="med"/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4014215" y="3511296"/>
            <a:ext cx="292608" cy="292608"/>
          </a:xfrm>
          <a:prstGeom prst="ellipse">
            <a:avLst/>
          </a:prstGeom>
          <a:solidFill>
            <a:srgbClr val="FFCDD2"/>
          </a:solidFill>
          <a:ln w="190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333333"/>
                </a:solidFill>
              </a:rPr>
              <a:t>C1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97479" y="3401568"/>
            <a:ext cx="2926080" cy="2194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25400" rIns="25400" tIns="0" bIns="0">
            <a:spAutoFit/>
          </a:bodyPr>
          <a:lstStyle/>
          <a:p>
            <a:pPr algn="l"/>
            <a:r>
              <a:rPr sz="850" b="1" i="0">
                <a:solidFill>
                  <a:srgbClr val="E65100"/>
                </a:solidFill>
              </a:rPr>
              <a:t>[25.0 µs measured avg] lock_table_.lock(idx)   LFM acquire  (T=64 contention)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194560" y="4023360"/>
            <a:ext cx="3931920" cy="0"/>
          </a:xfrm>
          <a:prstGeom prst="line">
            <a:avLst/>
          </a:prstGeom>
          <a:ln w="20320">
            <a:solidFill>
              <a:srgbClr val="E65100"/>
            </a:solidFill>
            <a:tailEnd type="triangle" w="med" h="med"/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4014215" y="3877056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E65100"/>
                </a:solidFill>
              </a:rPr>
              <a:t>C2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97479" y="3767328"/>
            <a:ext cx="2926080" cy="2194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25400" rIns="25400" tIns="0" bIns="0">
            <a:spAutoFit/>
          </a:bodyPr>
          <a:lstStyle/>
          <a:p>
            <a:pPr algn="l"/>
            <a:r>
              <a:rPr sz="850" b="1" i="0">
                <a:solidFill>
                  <a:srgbClr val="E65100"/>
                </a:solidFill>
              </a:rPr>
              <a:t>[0.15 µs measured] flush_line(slots[0]); flush_line(slots[4]); mfence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194560" y="4389120"/>
            <a:ext cx="3931920" cy="0"/>
          </a:xfrm>
          <a:prstGeom prst="line">
            <a:avLst/>
          </a:prstGeom>
          <a:ln w="20320">
            <a:solidFill>
              <a:srgbClr val="E65100"/>
            </a:solidFill>
            <a:tailEnd type="triangle" w="med" h="med"/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Oval 19"/>
          <p:cNvSpPr/>
          <p:nvPr/>
        </p:nvSpPr>
        <p:spPr>
          <a:xfrm>
            <a:off x="4014215" y="4242816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E65100"/>
                </a:solidFill>
              </a:rPr>
              <a:t>C3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97479" y="4133088"/>
            <a:ext cx="2926080" cy="2194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25400" rIns="25400" tIns="0" bIns="0">
            <a:spAutoFit/>
          </a:bodyPr>
          <a:lstStyle/>
          <a:p>
            <a:pPr algn="l"/>
            <a:r>
              <a:rPr sz="850" b="1" i="0">
                <a:solidFill>
                  <a:srgbClr val="E65100"/>
                </a:solidFill>
              </a:rPr>
              <a:t>[1.25 µs measured] scan 7 slots; pick target_slot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2194560" y="4754880"/>
            <a:ext cx="3931920" cy="0"/>
          </a:xfrm>
          <a:prstGeom prst="line">
            <a:avLst/>
          </a:prstGeom>
          <a:ln w="20320">
            <a:solidFill>
              <a:srgbClr val="E65100"/>
            </a:solidFill>
            <a:tailEnd type="triangle" w="med" h="med"/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4014215" y="4608576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E65100"/>
                </a:solidFill>
              </a:rPr>
              <a:t>C4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97479" y="4498848"/>
            <a:ext cx="2926080" cy="2194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25400" rIns="25400" tIns="0" bIns="0">
            <a:spAutoFit/>
          </a:bodyPr>
          <a:lstStyle/>
          <a:p>
            <a:pPr algn="l"/>
            <a:r>
              <a:rPr sz="850" b="1" i="0">
                <a:solidFill>
                  <a:srgbClr val="E65100"/>
                </a:solidFill>
              </a:rPr>
              <a:t>[0.02 µs measured] slot.value = blk_off; flush; sfence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2194560" y="5120640"/>
            <a:ext cx="3931920" cy="0"/>
          </a:xfrm>
          <a:prstGeom prst="line">
            <a:avLst/>
          </a:prstGeom>
          <a:ln w="20320">
            <a:solidFill>
              <a:srgbClr val="E65100"/>
            </a:solidFill>
            <a:tailEnd type="triangle" w="med" h="med"/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Oval 25"/>
          <p:cNvSpPr/>
          <p:nvPr/>
        </p:nvSpPr>
        <p:spPr>
          <a:xfrm>
            <a:off x="4014215" y="4974336"/>
            <a:ext cx="292608" cy="292608"/>
          </a:xfrm>
          <a:prstGeom prst="ellipse">
            <a:avLst/>
          </a:prstGeom>
          <a:solidFill>
            <a:srgbClr val="FFF49C"/>
          </a:solidFill>
          <a:ln w="19050">
            <a:solidFill>
              <a:srgbClr val="F9A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333333"/>
                </a:solidFill>
              </a:rPr>
              <a:t>C5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97479" y="4864608"/>
            <a:ext cx="2926080" cy="2194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25400" rIns="25400" tIns="0" bIns="0">
            <a:spAutoFit/>
          </a:bodyPr>
          <a:lstStyle/>
          <a:p>
            <a:pPr algn="l"/>
            <a:r>
              <a:rPr sz="850" b="1" i="0">
                <a:solidFill>
                  <a:srgbClr val="E65100"/>
                </a:solidFill>
              </a:rPr>
              <a:t>[4.07 µs measured] ★ atomic_add_fetch(&amp;write_epoch, 1) + flush + sfence ★  (peer-visible commit)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194560" y="5486400"/>
            <a:ext cx="3931920" cy="0"/>
          </a:xfrm>
          <a:prstGeom prst="line">
            <a:avLst/>
          </a:prstGeom>
          <a:ln w="20320">
            <a:solidFill>
              <a:srgbClr val="E65100"/>
            </a:solidFill>
            <a:tailEnd type="triangle" w="med" h="med"/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4014215" y="5340096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E65100"/>
                </a:solidFill>
              </a:rPr>
              <a:t>C6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697479" y="5230368"/>
            <a:ext cx="2926080" cy="2194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25400" rIns="25400" tIns="0" bIns="0">
            <a:spAutoFit/>
          </a:bodyPr>
          <a:lstStyle/>
          <a:p>
            <a:pPr algn="l"/>
            <a:r>
              <a:rPr sz="850" b="1" i="0">
                <a:solidFill>
                  <a:srgbClr val="E65100"/>
                </a:solidFill>
              </a:rPr>
              <a:t>[0.03 µs measured] lock_table_.unlock()   LFM release  → return 0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74320" y="5989320"/>
            <a:ext cx="7772400" cy="292608"/>
          </a:xfrm>
          <a:prstGeom prst="roundRect">
            <a:avLst/>
          </a:prstGeom>
          <a:solidFill>
            <a:srgbClr val="FFF49C"/>
          </a:solidFill>
          <a:ln w="9525">
            <a:solidFill>
              <a:srgbClr val="F9A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 rIns="101600" tIns="25400" bIns="25400"/>
          <a:lstStyle/>
          <a:p>
            <a:pPr algn="l"/>
            <a:r>
              <a:rPr sz="1000" b="1">
                <a:solidFill>
                  <a:srgbClr val="8C3200"/>
                </a:solidFill>
              </a:rPr>
              <a:t>End-to-end:  KV=1024 T=64 ≈ 33 µs avg  (C1 lock = 76% · C0 + C5 = 19% · others &lt; 5%)   |   uncontested T=1 ≈ 6 µs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74320" y="6355080"/>
            <a:ext cx="7772400" cy="365760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9E9E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65760" y="6391656"/>
            <a:ext cx="1828800" cy="292608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 algn="l"/>
            <a:r>
              <a:rPr sz="900" b="1">
                <a:solidFill>
                  <a:srgbClr val="E65100"/>
                </a:solidFill>
              </a:rPr>
              <a:t>╌╌▶  C* step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240279" y="6391656"/>
            <a:ext cx="1828800" cy="292608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 algn="l"/>
            <a:r>
              <a:rPr sz="900" b="1">
                <a:solidFill>
                  <a:srgbClr val="F9A825"/>
                </a:solidFill>
              </a:rPr>
              <a:t>★ Linearization (C5 epoch)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14800" y="6391656"/>
            <a:ext cx="1828800" cy="292608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 algn="l"/>
            <a:r>
              <a:rPr sz="900" b="1">
                <a:solidFill>
                  <a:srgbClr val="C62828"/>
                </a:solidFill>
              </a:rPr>
              <a:t>● Cross-host blocking (C1 LFM)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89320" y="6391656"/>
            <a:ext cx="1828800" cy="292608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0" y="6355080"/>
            <a:ext cx="3840480" cy="365760"/>
          </a:xfrm>
          <a:prstGeom prst="rect">
            <a:avLst/>
          </a:prstGeom>
          <a:noFill/>
        </p:spPr>
        <p:txBody>
          <a:bodyPr wrap="none" tIns="38100">
            <a:spAutoFit/>
          </a:bodyPr>
          <a:lstStyle/>
          <a:p>
            <a:pPr algn="r"/>
            <a:r>
              <a:rPr sz="1100" b="1">
                <a:solidFill>
                  <a:srgbClr val="8C3200"/>
                </a:solidFill>
              </a:rPr>
              <a:t>7 steps · 1 actor · 1 blocking point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91440"/>
            <a:ext cx="11704320" cy="5029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sz="2200" b="1">
                <a:solidFill>
                  <a:srgbClr val="154FC2"/>
                </a:solidFill>
              </a:rPr>
              <a:t>Protocol A — Read path: search(K=1024 B) cross-host miss path, T=64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566928"/>
            <a:ext cx="11704320" cy="292608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sz="1100" i="1">
                <a:solidFill>
                  <a:srgbClr val="9E9E9E"/>
                </a:solidFill>
              </a:rPr>
              <a:t>16 narrative steps · 4 actors · per-step latency in [µs]  (early-exit branches at A2r, A3r short-circuit the path)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7159" y="1188720"/>
            <a:ext cx="2286000" cy="411480"/>
          </a:xfrm>
          <a:prstGeom prst="roundRect">
            <a:avLst/>
          </a:prstGeom>
          <a:solidFill>
            <a:srgbClr val="E3F2FD"/>
          </a:solidFill>
          <a:ln w="15875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" rIns="38100" tIns="25400" bIns="25400" wrap="square"/>
          <a:lstStyle/>
          <a:p>
            <a:pPr algn="ctr"/>
            <a:r>
              <a:rPr sz="1000" b="1">
                <a:solidFill>
                  <a:srgbClr val="1565C0"/>
                </a:solidFill>
              </a:rPr>
              <a:t>host 0  worker (caller)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60320" y="1188720"/>
            <a:ext cx="2286000" cy="411480"/>
          </a:xfrm>
          <a:prstGeom prst="roundRect">
            <a:avLst/>
          </a:prstGeom>
          <a:solidFill>
            <a:srgbClr val="E3F2FD"/>
          </a:solidFill>
          <a:ln w="15875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" rIns="38100" tIns="25400" bIns="25400" wrap="square"/>
          <a:lstStyle/>
          <a:p>
            <a:pPr algn="ctr"/>
            <a:r>
              <a:rPr sz="1000" b="1">
                <a:solidFill>
                  <a:srgbClr val="1565C0"/>
                </a:solidFill>
              </a:rPr>
              <a:t>TLS L1
(private DRAM)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983480" y="1188720"/>
            <a:ext cx="2286000" cy="411480"/>
          </a:xfrm>
          <a:prstGeom prst="roundRect">
            <a:avLst/>
          </a:prstGeom>
          <a:solidFill>
            <a:srgbClr val="E3F2FD"/>
          </a:solidFill>
          <a:ln w="15875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" rIns="38100" tIns="25400" bIns="25400" wrap="square"/>
          <a:lstStyle/>
          <a:p>
            <a:pPr algn="ctr"/>
            <a:r>
              <a:rPr sz="1000" b="1">
                <a:solidFill>
                  <a:srgbClr val="1565C0"/>
                </a:solidFill>
              </a:rPr>
              <a:t>L2 KvCachePool
(MAP_SHARED DRAM, seqlock CAS)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63840" y="1188720"/>
            <a:ext cx="2286000" cy="411480"/>
          </a:xfrm>
          <a:prstGeom prst="roundRect">
            <a:avLst/>
          </a:prstGeom>
          <a:solidFill>
            <a:srgbClr val="C8DAFB"/>
          </a:solidFill>
          <a:ln w="15875">
            <a:solidFill>
              <a:srgbClr val="154F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" rIns="38100" tIns="25400" bIns="25400" wrap="square"/>
          <a:lstStyle/>
          <a:p>
            <a:pPr algn="ctr"/>
            <a:r>
              <a:rPr sz="1000" b="1">
                <a:solidFill>
                  <a:srgbClr val="154FC2"/>
                </a:solidFill>
              </a:rPr>
              <a:t>host 1  ReadReceiver (cpu 67)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424160" y="1188720"/>
            <a:ext cx="1645920" cy="457200"/>
          </a:xfrm>
          <a:prstGeom prst="roundRect">
            <a:avLst/>
          </a:prstGeom>
          <a:solidFill>
            <a:srgbClr val="FFF3E0"/>
          </a:solidFill>
          <a:ln w="15875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" rIns="38100" tIns="25400" bIns="25400" wrap="square"/>
          <a:lstStyle/>
          <a:p>
            <a:pPr algn="ctr"/>
            <a:r>
              <a:rPr sz="900" b="1">
                <a:solidFill>
                  <a:srgbClr val="8C3200"/>
                </a:solidFill>
              </a:rPr>
              <a:t>ReadStaging[0][1]
(CXL arena)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280160" y="1691640"/>
            <a:ext cx="0" cy="4297680"/>
          </a:xfrm>
          <a:prstGeom prst="line">
            <a:avLst/>
          </a:prstGeom>
          <a:ln w="7620">
            <a:solidFill>
              <a:srgbClr val="9E9E9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3703320" y="1691640"/>
            <a:ext cx="0" cy="4297680"/>
          </a:xfrm>
          <a:prstGeom prst="line">
            <a:avLst/>
          </a:prstGeom>
          <a:ln w="7620">
            <a:solidFill>
              <a:srgbClr val="9E9E9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126480" y="1691640"/>
            <a:ext cx="0" cy="4297680"/>
          </a:xfrm>
          <a:prstGeom prst="line">
            <a:avLst/>
          </a:prstGeom>
          <a:ln w="7620">
            <a:solidFill>
              <a:srgbClr val="9E9E9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9006840" y="1691640"/>
            <a:ext cx="0" cy="4297680"/>
          </a:xfrm>
          <a:prstGeom prst="line">
            <a:avLst/>
          </a:prstGeom>
          <a:ln w="7620">
            <a:solidFill>
              <a:srgbClr val="9E9E9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1247120" y="1691640"/>
            <a:ext cx="0" cy="4297680"/>
          </a:xfrm>
          <a:prstGeom prst="line">
            <a:avLst/>
          </a:prstGeom>
          <a:ln w="7620">
            <a:solidFill>
              <a:srgbClr val="9E9E9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1133856" y="1636776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54F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154FC2"/>
                </a:solidFill>
              </a:rPr>
              <a:t>A1r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39" y="1691639"/>
            <a:ext cx="2743200" cy="2194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25400" rIns="25400" tIns="0" bIns="0">
            <a:spAutoFit/>
          </a:bodyPr>
          <a:lstStyle/>
          <a:p>
            <a:pPr algn="l"/>
            <a:r>
              <a:rPr sz="850" b="1" i="0">
                <a:solidFill>
                  <a:srgbClr val="154FC2"/>
                </a:solidFill>
              </a:rPr>
              <a:t>[0.05 µs est] enter search(K); compute bucket_idx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280160" y="2029967"/>
            <a:ext cx="2423160" cy="0"/>
          </a:xfrm>
          <a:prstGeom prst="line">
            <a:avLst/>
          </a:prstGeom>
          <a:ln w="20320">
            <a:solidFill>
              <a:srgbClr val="154FC2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2345435" y="1883663"/>
            <a:ext cx="292608" cy="292608"/>
          </a:xfrm>
          <a:prstGeom prst="ellipse">
            <a:avLst/>
          </a:prstGeom>
          <a:solidFill>
            <a:srgbClr val="FFF49C"/>
          </a:solidFill>
          <a:ln w="19050">
            <a:solidFill>
              <a:srgbClr val="F9A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333333"/>
                </a:solidFill>
              </a:rPr>
              <a:t>A2r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699" y="1773935"/>
            <a:ext cx="2926080" cy="2194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25400" rIns="25400" tIns="0" bIns="0">
            <a:spAutoFit/>
          </a:bodyPr>
          <a:lstStyle/>
          <a:p>
            <a:pPr algn="l"/>
            <a:r>
              <a:rPr sz="850" b="1" i="0">
                <a:solidFill>
                  <a:srgbClr val="154FC2"/>
                </a:solidFill>
              </a:rPr>
              <a:t>[0.05 µs est] tls_lookup: bucket_epoch.load + compare  ★ on hit: return ~80 ns (~18% of reads)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280160" y="2276856"/>
            <a:ext cx="4846320" cy="0"/>
          </a:xfrm>
          <a:prstGeom prst="line">
            <a:avLst/>
          </a:prstGeom>
          <a:ln w="20320">
            <a:solidFill>
              <a:srgbClr val="154FC2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Oval 19"/>
          <p:cNvSpPr/>
          <p:nvPr/>
        </p:nvSpPr>
        <p:spPr>
          <a:xfrm>
            <a:off x="3557015" y="2130551"/>
            <a:ext cx="292608" cy="292608"/>
          </a:xfrm>
          <a:prstGeom prst="ellipse">
            <a:avLst/>
          </a:prstGeom>
          <a:solidFill>
            <a:srgbClr val="FFF49C"/>
          </a:solidFill>
          <a:ln w="19050">
            <a:solidFill>
              <a:srgbClr val="F9A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333333"/>
                </a:solidFill>
              </a:rPr>
              <a:t>A3r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40279" y="2020824"/>
            <a:ext cx="2926080" cy="2194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25400" rIns="25400" tIns="0" bIns="0">
            <a:spAutoFit/>
          </a:bodyPr>
          <a:lstStyle/>
          <a:p>
            <a:pPr algn="l"/>
            <a:r>
              <a:rPr sz="850" b="1" i="0">
                <a:solidFill>
                  <a:srgbClr val="154FC2"/>
                </a:solidFill>
              </a:rPr>
              <a:t>[0.5 µs measured R2hit/miss] cache_pool_lookup: seqlock CAS  ★ on hit: return ~7 µs (~64% of reads incl memcpy)</a:t>
            </a:r>
          </a:p>
        </p:txBody>
      </p:sp>
      <p:sp>
        <p:nvSpPr>
          <p:cNvPr id="22" name="Oval 21"/>
          <p:cNvSpPr/>
          <p:nvPr/>
        </p:nvSpPr>
        <p:spPr>
          <a:xfrm>
            <a:off x="1133856" y="2377439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54F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154FC2"/>
                </a:solidFill>
              </a:rPr>
              <a:t>A4r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39" y="2432303"/>
            <a:ext cx="2743200" cy="2194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25400" rIns="25400" tIns="0" bIns="0">
            <a:spAutoFit/>
          </a:bodyPr>
          <a:lstStyle/>
          <a:p>
            <a:pPr algn="l"/>
            <a:r>
              <a:rPr sz="850" b="1" i="0">
                <a:solidFill>
                  <a:srgbClr val="154FC2"/>
                </a:solidFill>
              </a:rPr>
              <a:t>[0.1 µs est] L2 miss → my_epoch_at_send = bucket_epoch.load  (C13 tag)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280160" y="2770632"/>
            <a:ext cx="9966960" cy="0"/>
          </a:xfrm>
          <a:prstGeom prst="line">
            <a:avLst/>
          </a:prstGeom>
          <a:ln w="20320">
            <a:solidFill>
              <a:srgbClr val="154FC2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6117336" y="2624327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54F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154FC2"/>
                </a:solidFill>
              </a:rPr>
              <a:t>A5r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00600" y="2514600"/>
            <a:ext cx="2926080" cy="2194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25400" rIns="25400" tIns="0" bIns="0">
            <a:spAutoFit/>
          </a:bodyPr>
          <a:lstStyle/>
          <a:p>
            <a:pPr algn="l"/>
            <a:r>
              <a:rPr sz="850" b="1" i="0">
                <a:solidFill>
                  <a:srgbClr val="154FC2"/>
                </a:solidFill>
              </a:rPr>
              <a:t>[0.1 µs est] staging.ready_op_id = 0; flush; sfence  (clear prior)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1280160" y="3017520"/>
            <a:ext cx="7726680" cy="0"/>
          </a:xfrm>
          <a:prstGeom prst="line">
            <a:avLst/>
          </a:prstGeom>
          <a:ln w="20320">
            <a:solidFill>
              <a:srgbClr val="154FC2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Oval 27"/>
          <p:cNvSpPr/>
          <p:nvPr/>
        </p:nvSpPr>
        <p:spPr>
          <a:xfrm>
            <a:off x="4997196" y="2871215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54F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154FC2"/>
                </a:solidFill>
              </a:rPr>
              <a:t>A6r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80460" y="2761487"/>
            <a:ext cx="2926080" cy="2194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25400" rIns="25400" tIns="0" bIns="0">
            <a:spAutoFit/>
          </a:bodyPr>
          <a:lstStyle/>
          <a:p>
            <a:pPr algn="l"/>
            <a:r>
              <a:rPr sz="850" b="1" i="0">
                <a:solidFill>
                  <a:srgbClr val="154FC2"/>
                </a:solidFill>
              </a:rPr>
              <a:t>[1.4 µs est] ReadRing[0][1].tail.fetch_add(1)  CXL atomic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1280160" y="3264408"/>
            <a:ext cx="7726680" cy="0"/>
          </a:xfrm>
          <a:prstGeom prst="line">
            <a:avLst/>
          </a:prstGeom>
          <a:ln w="20320">
            <a:solidFill>
              <a:srgbClr val="154FC2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4997196" y="3118103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54F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154FC2"/>
                </a:solidFill>
              </a:rPr>
              <a:t>A7r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80460" y="3008376"/>
            <a:ext cx="2926080" cy="2194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25400" rIns="25400" tIns="0" bIns="0">
            <a:spAutoFit/>
          </a:bodyPr>
          <a:lstStyle/>
          <a:p>
            <a:pPr algn="l"/>
            <a:r>
              <a:rPr sz="850" b="1" i="0">
                <a:solidFill>
                  <a:srgbClr val="154FC2"/>
                </a:solidFill>
              </a:rPr>
              <a:t>[0.1 µs est] write ReadEntry{key, req_op_id}; flush; sfence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1280160" y="3511296"/>
            <a:ext cx="9966960" cy="0"/>
          </a:xfrm>
          <a:prstGeom prst="line">
            <a:avLst/>
          </a:prstGeom>
          <a:ln w="20320">
            <a:solidFill>
              <a:srgbClr val="154FC2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Oval 33"/>
          <p:cNvSpPr/>
          <p:nvPr/>
        </p:nvSpPr>
        <p:spPr>
          <a:xfrm>
            <a:off x="6117336" y="3364991"/>
            <a:ext cx="292608" cy="292608"/>
          </a:xfrm>
          <a:prstGeom prst="ellipse">
            <a:avLst/>
          </a:prstGeom>
          <a:solidFill>
            <a:srgbClr val="FFCDD2"/>
          </a:solidFill>
          <a:ln w="190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333333"/>
                </a:solidFill>
              </a:rPr>
              <a:t>A8r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800600" y="3255263"/>
            <a:ext cx="2926080" cy="2194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25400" rIns="25400" tIns="0" bIns="0">
            <a:spAutoFit/>
          </a:bodyPr>
          <a:lstStyle/>
          <a:p>
            <a:pPr algn="l"/>
            <a:r>
              <a:rPr sz="850" b="1" i="0">
                <a:solidFill>
                  <a:srgbClr val="154FC2"/>
                </a:solidFill>
              </a:rPr>
              <a:t>[~14 µs blocked  measured R3] worker spin on staging.ready_op_id  (200 ms cap)</a:t>
            </a:r>
          </a:p>
        </p:txBody>
      </p:sp>
      <p:sp>
        <p:nvSpPr>
          <p:cNvPr id="36" name="Oval 35"/>
          <p:cNvSpPr/>
          <p:nvPr/>
        </p:nvSpPr>
        <p:spPr>
          <a:xfrm>
            <a:off x="8860536" y="3611879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54F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154FC2"/>
                </a:solidFill>
              </a:rPr>
              <a:t>A9r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89719" y="3666744"/>
            <a:ext cx="2743200" cy="2194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25400" rIns="25400" tIns="0" bIns="0">
            <a:spAutoFit/>
          </a:bodyPr>
          <a:lstStyle/>
          <a:p>
            <a:pPr algn="l"/>
            <a:r>
              <a:rPr sz="850" b="1" i="0">
                <a:solidFill>
                  <a:srgbClr val="154FC2"/>
                </a:solidFill>
              </a:rPr>
              <a:t>[1.5 µs est] ReadReceiver poll ReadRing.tail; reads ReadEntry</a:t>
            </a:r>
          </a:p>
        </p:txBody>
      </p:sp>
      <p:sp>
        <p:nvSpPr>
          <p:cNvPr id="38" name="Oval 37"/>
          <p:cNvSpPr/>
          <p:nvPr/>
        </p:nvSpPr>
        <p:spPr>
          <a:xfrm>
            <a:off x="8860536" y="3858767"/>
            <a:ext cx="292608" cy="292608"/>
          </a:xfrm>
          <a:prstGeom prst="ellipse">
            <a:avLst/>
          </a:prstGeom>
          <a:solidFill>
            <a:srgbClr val="FFF49C"/>
          </a:solidFill>
          <a:ln w="19050">
            <a:solidFill>
              <a:srgbClr val="F9A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333333"/>
                </a:solidFill>
              </a:rPr>
              <a:t>A10r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89719" y="3913631"/>
            <a:ext cx="2743200" cy="2194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25400" rIns="25400" tIns="0" bIns="0">
            <a:spAutoFit/>
          </a:bodyPr>
          <a:lstStyle/>
          <a:p>
            <a:pPr algn="l"/>
            <a:r>
              <a:rPr sz="850" b="1" i="0">
                <a:solidFill>
                  <a:srgbClr val="154FC2"/>
                </a:solidFill>
              </a:rPr>
              <a:t>[5 µs est] flush bucket + scan + acquire spinlock + sharer_bitmap |= (1&lt;&lt;src)  ★ peer-visible state change</a:t>
            </a:r>
          </a:p>
        </p:txBody>
      </p:sp>
      <p:sp>
        <p:nvSpPr>
          <p:cNvPr id="40" name="Oval 39"/>
          <p:cNvSpPr/>
          <p:nvPr/>
        </p:nvSpPr>
        <p:spPr>
          <a:xfrm>
            <a:off x="8860536" y="4105655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54F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154FC2"/>
                </a:solidFill>
              </a:rPr>
              <a:t>A11r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89719" y="4160519"/>
            <a:ext cx="2743200" cy="2194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25400" rIns="25400" tIns="0" bIns="0">
            <a:spAutoFit/>
          </a:bodyPr>
          <a:lstStyle/>
          <a:p>
            <a:pPr algn="l"/>
            <a:r>
              <a:rPr sz="850" b="1" i="0">
                <a:solidFill>
                  <a:srgbClr val="154FC2"/>
                </a:solidFill>
              </a:rPr>
              <a:t>[5 µs est] pool-&gt;read(blk_off, 4) → value_len; pool-&gt;read(blk_off+4, 1024)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9006840" y="4498847"/>
            <a:ext cx="2240280" cy="0"/>
          </a:xfrm>
          <a:prstGeom prst="line">
            <a:avLst/>
          </a:prstGeom>
          <a:ln w="20320">
            <a:solidFill>
              <a:srgbClr val="154FC2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Oval 42"/>
          <p:cNvSpPr/>
          <p:nvPr/>
        </p:nvSpPr>
        <p:spPr>
          <a:xfrm>
            <a:off x="9980676" y="4352543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54F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154FC2"/>
                </a:solidFill>
              </a:rPr>
              <a:t>A12r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663940" y="4242815"/>
            <a:ext cx="2926080" cy="2194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25400" rIns="25400" tIns="0" bIns="0">
            <a:spAutoFit/>
          </a:bodyPr>
          <a:lstStyle/>
          <a:p>
            <a:pPr algn="l"/>
            <a:r>
              <a:rPr sz="850" b="1" i="0">
                <a:solidFill>
                  <a:srgbClr val="154FC2"/>
                </a:solidFill>
              </a:rPr>
              <a:t>[1.0 µs est] write staging.value_bytes + lookup_epoch (C13 tag) + status; flush 16 CL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9006840" y="4745735"/>
            <a:ext cx="2240280" cy="0"/>
          </a:xfrm>
          <a:prstGeom prst="line">
            <a:avLst/>
          </a:prstGeom>
          <a:ln w="20320">
            <a:solidFill>
              <a:srgbClr val="154FC2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Oval 45"/>
          <p:cNvSpPr/>
          <p:nvPr/>
        </p:nvSpPr>
        <p:spPr>
          <a:xfrm>
            <a:off x="9980676" y="4599431"/>
            <a:ext cx="292608" cy="292608"/>
          </a:xfrm>
          <a:prstGeom prst="ellipse">
            <a:avLst/>
          </a:prstGeom>
          <a:solidFill>
            <a:srgbClr val="FFF49C"/>
          </a:solidFill>
          <a:ln w="19050">
            <a:solidFill>
              <a:srgbClr val="F9A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333333"/>
                </a:solidFill>
              </a:rPr>
              <a:t>A13r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63940" y="4837175"/>
            <a:ext cx="2926080" cy="2194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25400" rIns="25400" tIns="0" bIns="0">
            <a:spAutoFit/>
          </a:bodyPr>
          <a:lstStyle/>
          <a:p>
            <a:pPr algn="l"/>
            <a:r>
              <a:rPr sz="850" b="1" i="0">
                <a:solidFill>
                  <a:srgbClr val="154FC2"/>
                </a:solidFill>
              </a:rPr>
              <a:t>[0.07 µs est] ★ staging.ready_op_id = req_op_id ★  (release-publish)</a:t>
            </a:r>
          </a:p>
        </p:txBody>
      </p:sp>
      <p:cxnSp>
        <p:nvCxnSpPr>
          <p:cNvPr id="48" name="Connector 47"/>
          <p:cNvCxnSpPr/>
          <p:nvPr/>
        </p:nvCxnSpPr>
        <p:spPr>
          <a:xfrm flipH="1">
            <a:off x="1280160" y="4992623"/>
            <a:ext cx="9966960" cy="0"/>
          </a:xfrm>
          <a:prstGeom prst="line">
            <a:avLst/>
          </a:prstGeom>
          <a:ln w="20320">
            <a:solidFill>
              <a:srgbClr val="154FC2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Oval 48"/>
          <p:cNvSpPr/>
          <p:nvPr/>
        </p:nvSpPr>
        <p:spPr>
          <a:xfrm>
            <a:off x="6117336" y="4846319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54F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154FC2"/>
                </a:solidFill>
              </a:rPr>
              <a:t>A14r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00600" y="5084063"/>
            <a:ext cx="2926080" cy="2194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25400" rIns="25400" tIns="0" bIns="0">
            <a:spAutoFit/>
          </a:bodyPr>
          <a:lstStyle/>
          <a:p>
            <a:pPr algn="l"/>
            <a:r>
              <a:rPr sz="850" b="1" i="0">
                <a:solidFill>
                  <a:srgbClr val="154FC2"/>
                </a:solidFill>
              </a:rPr>
              <a:t>[&lt; 0.1 µs est] worker A8r spin observes ready_op_id  → break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197863" y="3465576"/>
            <a:ext cx="164592" cy="1737359"/>
          </a:xfrm>
          <a:prstGeom prst="rect">
            <a:avLst/>
          </a:prstGeom>
          <a:solidFill>
            <a:srgbClr val="FFCDD2"/>
          </a:solidFill>
          <a:ln w="63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1133856" y="5093207"/>
            <a:ext cx="292608" cy="292608"/>
          </a:xfrm>
          <a:prstGeom prst="ellipse">
            <a:avLst/>
          </a:prstGeom>
          <a:solidFill>
            <a:srgbClr val="FFF49C"/>
          </a:solidFill>
          <a:ln w="19050">
            <a:solidFill>
              <a:srgbClr val="F9A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333333"/>
                </a:solidFill>
              </a:rPr>
              <a:t>A15r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463039" y="5148071"/>
            <a:ext cx="2743200" cy="2194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25400" rIns="25400" tIns="0" bIns="0">
            <a:spAutoFit/>
          </a:bodyPr>
          <a:lstStyle/>
          <a:p>
            <a:pPr algn="l"/>
            <a:r>
              <a:rPr sz="850" b="1" i="0">
                <a:solidFill>
                  <a:srgbClr val="154FC2"/>
                </a:solidFill>
              </a:rPr>
              <a:t>[0.4 µs measured R4] C13 validate: lookup_epoch &gt;= my_epoch_at_send; memcpy value_bytes from staging</a:t>
            </a:r>
          </a:p>
        </p:txBody>
      </p:sp>
      <p:sp>
        <p:nvSpPr>
          <p:cNvPr id="54" name="Oval 53"/>
          <p:cNvSpPr/>
          <p:nvPr/>
        </p:nvSpPr>
        <p:spPr>
          <a:xfrm>
            <a:off x="1133856" y="5340095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54F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154FC2"/>
                </a:solidFill>
              </a:rPr>
              <a:t>A16r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463039" y="5394959"/>
            <a:ext cx="2743200" cy="2194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25400" rIns="25400" tIns="0" bIns="0">
            <a:spAutoFit/>
          </a:bodyPr>
          <a:lstStyle/>
          <a:p>
            <a:pPr algn="l"/>
            <a:r>
              <a:rPr sz="850" b="1" i="0">
                <a:solidFill>
                  <a:srgbClr val="154FC2"/>
                </a:solidFill>
              </a:rPr>
              <a:t>[1.1 µs measured R6+misc] cache_pool_insert (L2); tls_insert (L1); return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274320" y="5989320"/>
            <a:ext cx="7772400" cy="292608"/>
          </a:xfrm>
          <a:prstGeom prst="roundRect">
            <a:avLst/>
          </a:prstGeom>
          <a:solidFill>
            <a:srgbClr val="FFF49C"/>
          </a:solidFill>
          <a:ln w="9525">
            <a:solidFill>
              <a:srgbClr val="F9A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 rIns="101600" tIns="25400" bIns="25400"/>
          <a:lstStyle/>
          <a:p>
            <a:pPr algn="l"/>
            <a:r>
              <a:rPr sz="1000" b="1">
                <a:solidFill>
                  <a:srgbClr val="0D327D"/>
                </a:solidFill>
              </a:rPr>
              <a:t>End-to-end:  TLS hit  ≈ 80 ns (18%)  |  L2 hit  ≈ 7 µs (64%)  |  owner-self miss  ≈ 10 µs (17%)  |  cross-host miss  ≈ 22 µs (0.2%)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274320" y="6355080"/>
            <a:ext cx="7772400" cy="365760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9E9E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65760" y="6391656"/>
            <a:ext cx="1828800" cy="292608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 algn="l"/>
            <a:r>
              <a:rPr sz="900" b="1">
                <a:solidFill>
                  <a:srgbClr val="154FC2"/>
                </a:solidFill>
              </a:rPr>
              <a:t>● A*r step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240279" y="6391656"/>
            <a:ext cx="1828800" cy="292608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 algn="l"/>
            <a:r>
              <a:rPr sz="900" b="1">
                <a:solidFill>
                  <a:srgbClr val="C62828"/>
                </a:solidFill>
              </a:rPr>
              <a:t>● Cross-host blocking (A8r)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114800" y="6391656"/>
            <a:ext cx="1828800" cy="292608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 algn="l"/>
            <a:r>
              <a:rPr sz="900" b="1">
                <a:solidFill>
                  <a:srgbClr val="F9A825"/>
                </a:solidFill>
              </a:rPr>
              <a:t>★ Linearization (A2r, A3r, A10r, A13r, A15r)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989320" y="6391656"/>
            <a:ext cx="1828800" cy="292608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—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229600" y="6355080"/>
            <a:ext cx="3840480" cy="365760"/>
          </a:xfrm>
          <a:prstGeom prst="rect">
            <a:avLst/>
          </a:prstGeom>
          <a:noFill/>
        </p:spPr>
        <p:txBody>
          <a:bodyPr wrap="none" tIns="38100">
            <a:spAutoFit/>
          </a:bodyPr>
          <a:lstStyle/>
          <a:p>
            <a:pPr algn="r"/>
            <a:r>
              <a:rPr sz="1100" b="1">
                <a:solidFill>
                  <a:srgbClr val="0D327D"/>
                </a:solidFill>
              </a:rPr>
              <a:t>16 steps · 4 actors · 1 blocking point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91440"/>
            <a:ext cx="11704320" cy="5029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sz="2200" b="1">
                <a:solidFill>
                  <a:srgbClr val="E65100"/>
                </a:solidFill>
              </a:rPr>
              <a:t>Protocol C — Read path: search(K=1024 B) under LRC read-singleshot, T=64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566928"/>
            <a:ext cx="11704320" cy="292608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sz="1100" i="1">
                <a:solidFill>
                  <a:srgbClr val="9E9E9E"/>
                </a:solidFill>
              </a:rPr>
              <a:t>5 narrative steps · 1 actor · per-step latency in [µs]  (C inferred from CXL primitives — no search() DECOMP_REC probe)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19" y="1188720"/>
            <a:ext cx="2926080" cy="411480"/>
          </a:xfrm>
          <a:prstGeom prst="roundRect">
            <a:avLst/>
          </a:prstGeom>
          <a:solidFill>
            <a:srgbClr val="E3F2FD"/>
          </a:solidFill>
          <a:ln w="15875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" rIns="38100" tIns="25400" bIns="25400" wrap="square"/>
          <a:lstStyle/>
          <a:p>
            <a:pPr algn="ctr"/>
            <a:r>
              <a:rPr sz="1000" b="1">
                <a:solidFill>
                  <a:srgbClr val="1565C0"/>
                </a:solidFill>
              </a:rPr>
              <a:t>host 0  worker (caller)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194560" y="1600200"/>
            <a:ext cx="0" cy="4389120"/>
          </a:xfrm>
          <a:prstGeom prst="line">
            <a:avLst/>
          </a:prstGeom>
          <a:ln w="7620">
            <a:solidFill>
              <a:srgbClr val="9E9E9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5943600" y="1188720"/>
            <a:ext cx="5852160" cy="411480"/>
          </a:xfrm>
          <a:prstGeom prst="roundRect">
            <a:avLst/>
          </a:prstGeom>
          <a:solidFill>
            <a:srgbClr val="FFF3E0"/>
          </a:solidFill>
          <a:ln w="15875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" rIns="38100" tIns="25400" bIns="25400" wrap="square"/>
          <a:lstStyle/>
          <a:p>
            <a:pPr algn="ctr"/>
            <a:r>
              <a:rPr sz="1100" b="1">
                <a:solidFill>
                  <a:srgbClr val="8C3200"/>
                </a:solidFill>
              </a:rPr>
              <a:t>CXL state read on the search path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1691640"/>
            <a:ext cx="5486400" cy="365760"/>
          </a:xfrm>
          <a:prstGeom prst="roundRect">
            <a:avLst/>
          </a:prstGeom>
          <a:solidFill>
            <a:srgbClr val="C8DAFB"/>
          </a:solidFill>
          <a:ln w="15875">
            <a:solidFill>
              <a:srgbClr val="154F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" rIns="38100" tIns="25400" bIns="25400" wrap="square"/>
          <a:lstStyle/>
          <a:p>
            <a:pPr algn="ctr"/>
            <a:r>
              <a:rPr sz="1000" b="1">
                <a:solidFill>
                  <a:srgbClr val="0D327D"/>
                </a:solidFill>
              </a:rPr>
              <a:t>BucketLockEntry.write_epoch (cacheline_u64) — read seqlock tag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2148840"/>
            <a:ext cx="5486400" cy="365760"/>
          </a:xfrm>
          <a:prstGeom prst="roundRect">
            <a:avLst/>
          </a:prstGeom>
          <a:solidFill>
            <a:srgbClr val="C8DAFB"/>
          </a:solidFill>
          <a:ln w="15875">
            <a:solidFill>
              <a:srgbClr val="154F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" rIns="38100" tIns="25400" bIns="25400" wrap="square"/>
          <a:lstStyle/>
          <a:p>
            <a:pPr algn="ctr"/>
            <a:r>
              <a:rPr sz="1000" b="1">
                <a:solidFill>
                  <a:srgbClr val="0D327D"/>
                </a:solidFill>
              </a:rPr>
              <a:t>CxlKvBucket  •  flush 2 cachelines, scan 7 slots in L1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2606040"/>
            <a:ext cx="5486400" cy="365760"/>
          </a:xfrm>
          <a:prstGeom prst="roundRect">
            <a:avLst/>
          </a:prstGeom>
          <a:solidFill>
            <a:srgbClr val="C8DAFB"/>
          </a:solidFill>
          <a:ln w="15875">
            <a:solidFill>
              <a:srgbClr val="154F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" rIns="38100" tIns="25400" bIns="25400" wrap="square"/>
          <a:lstStyle/>
          <a:p>
            <a:pPr algn="ctr"/>
            <a:r>
              <a:rPr sz="1000" b="1">
                <a:solidFill>
                  <a:srgbClr val="0D327D"/>
                </a:solidFill>
              </a:rPr>
              <a:t>KvBlockPool  •  1024 B block holding value bytes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3063240"/>
            <a:ext cx="5486400" cy="365760"/>
          </a:xfrm>
          <a:prstGeom prst="roundRect">
            <a:avLst/>
          </a:prstGeom>
          <a:solidFill>
            <a:srgbClr val="FFE0B2"/>
          </a:solidFill>
          <a:ln w="15875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" rIns="38100" tIns="25400" bIns="25400" wrap="square"/>
          <a:lstStyle/>
          <a:p>
            <a:pPr algn="ctr"/>
            <a:r>
              <a:rPr sz="1000" b="1">
                <a:solidFill>
                  <a:srgbClr val="8C3200"/>
                </a:solidFill>
              </a:rPr>
              <a:t>DRAM bucket cache (optional, per-process) — cache_buckets_, cache_epoch_</a:t>
            </a:r>
          </a:p>
        </p:txBody>
      </p:sp>
      <p:sp>
        <p:nvSpPr>
          <p:cNvPr id="11" name="Oval 10"/>
          <p:cNvSpPr/>
          <p:nvPr/>
        </p:nvSpPr>
        <p:spPr>
          <a:xfrm>
            <a:off x="2048255" y="3511296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E65100"/>
                </a:solidFill>
              </a:rPr>
              <a:t>C1r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77440" y="3566160"/>
            <a:ext cx="2743200" cy="2194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25400" rIns="25400" tIns="0" bIns="0">
            <a:spAutoFit/>
          </a:bodyPr>
          <a:lstStyle/>
          <a:p>
            <a:pPr algn="l"/>
            <a:r>
              <a:rPr sz="850" b="1" i="0">
                <a:solidFill>
                  <a:srgbClr val="E65100"/>
                </a:solidFill>
              </a:rPr>
              <a:t>[0.015 µs est] bucket_idx = fnv1a_u64(K) % B; entry = lock_table_.entry(idx)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194560" y="4023360"/>
            <a:ext cx="3931920" cy="0"/>
          </a:xfrm>
          <a:prstGeom prst="line">
            <a:avLst/>
          </a:prstGeom>
          <a:ln w="20320">
            <a:solidFill>
              <a:srgbClr val="E65100"/>
            </a:solidFill>
            <a:tailEnd type="triangle" w="med" h="med"/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4014215" y="3877056"/>
            <a:ext cx="292608" cy="292608"/>
          </a:xfrm>
          <a:prstGeom prst="ellipse">
            <a:avLst/>
          </a:prstGeom>
          <a:solidFill>
            <a:srgbClr val="FFF49C"/>
          </a:solidFill>
          <a:ln w="19050">
            <a:solidFill>
              <a:srgbClr val="F9A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333333"/>
                </a:solidFill>
              </a:rPr>
              <a:t>C2r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97479" y="3767328"/>
            <a:ext cx="2926080" cy="2194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25400" rIns="25400" tIns="0" bIns="0">
            <a:spAutoFit/>
          </a:bodyPr>
          <a:lstStyle/>
          <a:p>
            <a:pPr algn="l"/>
            <a:r>
              <a:rPr sz="850" b="1" i="0">
                <a:solidFill>
                  <a:srgbClr val="E65100"/>
                </a:solidFill>
              </a:rPr>
              <a:t>[0.7 µs est] load CXL write_epoch (1 LD-CXL)  ★ if == cached_epoch_[idx]: scan DRAM copy + return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194560" y="4389120"/>
            <a:ext cx="3931920" cy="0"/>
          </a:xfrm>
          <a:prstGeom prst="line">
            <a:avLst/>
          </a:prstGeom>
          <a:ln w="20320">
            <a:solidFill>
              <a:srgbClr val="E65100"/>
            </a:solidFill>
            <a:tailEnd type="triangle" w="med" h="med"/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4014215" y="4242816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E65100"/>
                </a:solidFill>
              </a:rPr>
              <a:t>C3r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97479" y="4133088"/>
            <a:ext cx="2926080" cy="2194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25400" rIns="25400" tIns="0" bIns="0">
            <a:spAutoFit/>
          </a:bodyPr>
          <a:lstStyle/>
          <a:p>
            <a:pPr algn="l"/>
            <a:r>
              <a:rPr sz="850" b="1" i="0">
                <a:solidFill>
                  <a:srgbClr val="E65100"/>
                </a:solidFill>
              </a:rPr>
              <a:t>[0.15 µs est] cache miss → flush_line(slots[0]) + flush_line(slots[4]) + mfence</a:t>
            </a:r>
          </a:p>
        </p:txBody>
      </p:sp>
      <p:sp>
        <p:nvSpPr>
          <p:cNvPr id="19" name="Oval 18"/>
          <p:cNvSpPr/>
          <p:nvPr/>
        </p:nvSpPr>
        <p:spPr>
          <a:xfrm>
            <a:off x="2048255" y="4608576"/>
            <a:ext cx="292608" cy="292608"/>
          </a:xfrm>
          <a:prstGeom prst="ellipse">
            <a:avLst/>
          </a:prstGeom>
          <a:solidFill>
            <a:srgbClr val="FFF49C"/>
          </a:solidFill>
          <a:ln w="19050">
            <a:solidFill>
              <a:srgbClr val="F9A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333333"/>
                </a:solidFill>
              </a:rPr>
              <a:t>C4r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77440" y="4663440"/>
            <a:ext cx="2743200" cy="2194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25400" rIns="25400" tIns="0" bIns="0">
            <a:spAutoFit/>
          </a:bodyPr>
          <a:lstStyle/>
          <a:p>
            <a:pPr algn="l"/>
            <a:r>
              <a:rPr sz="850" b="1" i="0">
                <a:solidFill>
                  <a:srgbClr val="E65100"/>
                </a:solidFill>
              </a:rPr>
              <a:t>[0.05 µs est] scan 7 slots in L1; get slot.value (= blk_off)  ★ NO post-scan revalidation (LRC)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194560" y="5120640"/>
            <a:ext cx="3931920" cy="0"/>
          </a:xfrm>
          <a:prstGeom prst="line">
            <a:avLst/>
          </a:prstGeom>
          <a:ln w="20320">
            <a:solidFill>
              <a:srgbClr val="E65100"/>
            </a:solidFill>
            <a:tailEnd type="triangle" w="med" h="med"/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4014215" y="4974336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E65100"/>
                </a:solidFill>
              </a:rPr>
              <a:t>C5r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97479" y="4864608"/>
            <a:ext cx="2926080" cy="2194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25400" rIns="25400" tIns="0" bIns="0">
            <a:spAutoFit/>
          </a:bodyPr>
          <a:lstStyle/>
          <a:p>
            <a:pPr algn="l"/>
            <a:r>
              <a:rPr sz="850" b="1" i="0">
                <a:solidFill>
                  <a:srgbClr val="E65100"/>
                </a:solidFill>
              </a:rPr>
              <a:t>[1.0 µs est] blockpool-&gt;read(blk_off, 1024)  (16 CL × LD-CXL for value bytes)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74320" y="5989320"/>
            <a:ext cx="7772400" cy="292608"/>
          </a:xfrm>
          <a:prstGeom prst="roundRect">
            <a:avLst/>
          </a:prstGeom>
          <a:solidFill>
            <a:srgbClr val="FFF49C"/>
          </a:solidFill>
          <a:ln w="9525">
            <a:solidFill>
              <a:srgbClr val="F9A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 rIns="101600" tIns="25400" bIns="25400"/>
          <a:lstStyle/>
          <a:p>
            <a:pPr algn="l"/>
            <a:r>
              <a:rPr sz="1000" b="1">
                <a:solidFill>
                  <a:srgbClr val="8C3200"/>
                </a:solidFill>
              </a:rPr>
              <a:t>End-to-end:  cache hit + value read  ≈ 1.7 µs  |  cache miss + value read  ≈ 1.2 µs  |  no cross-host coordination, every read pays roughly the same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4320" y="6355080"/>
            <a:ext cx="7772400" cy="365760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9E9E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6391656"/>
            <a:ext cx="1828800" cy="292608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 algn="l"/>
            <a:r>
              <a:rPr sz="900" b="1">
                <a:solidFill>
                  <a:srgbClr val="E65100"/>
                </a:solidFill>
              </a:rPr>
              <a:t>╌╌▶  C*r step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240279" y="6391656"/>
            <a:ext cx="1828800" cy="292608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 algn="l"/>
            <a:r>
              <a:rPr sz="900" b="1">
                <a:solidFill>
                  <a:srgbClr val="F9A825"/>
                </a:solidFill>
              </a:rPr>
              <a:t>★ Linearization (C2r, C4r)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0" y="6391656"/>
            <a:ext cx="1828800" cy="292608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 algn="l"/>
            <a:r>
              <a:rPr sz="900" b="1">
                <a:solidFill>
                  <a:srgbClr val="C62828"/>
                </a:solidFill>
              </a:rPr>
              <a:t>● Cross-host blocking (none!)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89320" y="6391656"/>
            <a:ext cx="1828800" cy="292608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0" y="6355080"/>
            <a:ext cx="3840480" cy="365760"/>
          </a:xfrm>
          <a:prstGeom prst="rect">
            <a:avLst/>
          </a:prstGeom>
          <a:noFill/>
        </p:spPr>
        <p:txBody>
          <a:bodyPr wrap="none" tIns="38100">
            <a:spAutoFit/>
          </a:bodyPr>
          <a:lstStyle/>
          <a:p>
            <a:pPr algn="r"/>
            <a:r>
              <a:rPr sz="1100" b="1">
                <a:solidFill>
                  <a:srgbClr val="8C3200"/>
                </a:solidFill>
              </a:rPr>
              <a:t>5 steps · 1 actor · 0 blocking points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91440"/>
            <a:ext cx="11704320" cy="5029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sz="2200" b="1">
                <a:solidFill>
                  <a:srgbClr val="333333"/>
                </a:solidFill>
              </a:rPr>
              <a:t>Write path — measured per-stage latency (T=64 workload-A)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566928"/>
            <a:ext cx="11704320" cy="292608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sz="1100" i="1">
                <a:solidFill>
                  <a:srgbClr val="9E9E9E"/>
                </a:solidFill>
              </a:rPr>
              <a:t>Source: A from iter-11A Phase 5 FUSEE_PROBE=1 capture; C from latency_decomp_C iter-2 per-slot LFM build  •  Yellow = linearization point  •  Red = dominant cost stage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097280"/>
          <a:ext cx="585216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2286000"/>
                <a:gridCol w="502920"/>
                <a:gridCol w="594360"/>
                <a:gridCol w="502920"/>
                <a:gridCol w="1463040"/>
              </a:tblGrid>
              <a:tr h="218440">
                <a:tc>
                  <a:txBody>
                    <a:bodyPr lIns="38100" rIns="38100" tIns="25400" bIns="25400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Stage</a:t>
                      </a:r>
                    </a:p>
                  </a:txBody>
                  <a:tcPr>
                    <a:solidFill>
                      <a:srgbClr val="154FC2"/>
                    </a:solidFill>
                  </a:tcPr>
                </a:tc>
                <a:tc>
                  <a:txBody>
                    <a:bodyPr lIns="38100" rIns="38100" tIns="25400" bIns="25400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What it does</a:t>
                      </a:r>
                    </a:p>
                  </a:txBody>
                  <a:tcPr>
                    <a:solidFill>
                      <a:srgbClr val="154FC2"/>
                    </a:solidFill>
                  </a:tcPr>
                </a:tc>
                <a:tc>
                  <a:txBody>
                    <a:bodyPr lIns="38100" rIns="38100" tIns="25400" bIns="25400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p50 µs</a:t>
                      </a:r>
                    </a:p>
                  </a:txBody>
                  <a:tcPr>
                    <a:solidFill>
                      <a:srgbClr val="154FC2"/>
                    </a:solidFill>
                  </a:tcPr>
                </a:tc>
                <a:tc>
                  <a:txBody>
                    <a:bodyPr lIns="38100" rIns="38100" tIns="25400" bIns="25400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mean µs</a:t>
                      </a:r>
                    </a:p>
                  </a:txBody>
                  <a:tcPr>
                    <a:solidFill>
                      <a:srgbClr val="154FC2"/>
                    </a:solidFill>
                  </a:tcPr>
                </a:tc>
                <a:tc>
                  <a:txBody>
                    <a:bodyPr lIns="38100" rIns="38100" tIns="25400" bIns="25400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p99 µs</a:t>
                      </a:r>
                    </a:p>
                  </a:txBody>
                  <a:tcPr>
                    <a:solidFill>
                      <a:srgbClr val="154FC2"/>
                    </a:solidFill>
                  </a:tcPr>
                </a:tc>
                <a:tc>
                  <a:txBody>
                    <a:bodyPr lIns="38100" rIns="38100" tIns="25400" bIns="25400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Note</a:t>
                      </a:r>
                    </a:p>
                  </a:txBody>
                  <a:tcPr>
                    <a:solidFill>
                      <a:srgbClr val="154FC2"/>
                    </a:solidFill>
                  </a:tcPr>
                </a:tc>
              </a:tr>
              <a:tr h="218440"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 b="1">
                          <a:solidFill>
                            <a:srgbClr val="154FC2"/>
                          </a:solidFill>
                        </a:rPr>
                        <a:t>W1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>
                          <a:solidFill>
                            <a:srgbClr val="333333"/>
                          </a:solidFill>
                        </a:rPr>
                        <a:t>Entry + bucket flush + mfence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>
                          <a:solidFill>
                            <a:srgbClr val="333333"/>
                          </a:solidFill>
                        </a:rPr>
                        <a:t>0.87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>
                          <a:solidFill>
                            <a:srgbClr val="333333"/>
                          </a:solidFill>
                        </a:rPr>
                        <a:t>4.50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>
                          <a:solidFill>
                            <a:srgbClr val="333333"/>
                          </a:solidFill>
                        </a:rPr>
                        <a:t>43.6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18440"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 b="1">
                          <a:solidFill>
                            <a:srgbClr val="154FC2"/>
                          </a:solidFill>
                        </a:rPr>
                        <a:t>W2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>
                          <a:solidFill>
                            <a:srgbClr val="333333"/>
                          </a:solidFill>
                        </a:rPr>
                        <a:t>Bucket scan + DRAM spinlock acquire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>
                          <a:solidFill>
                            <a:srgbClr val="333333"/>
                          </a:solidFill>
                        </a:rPr>
                        <a:t>0.15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>
                          <a:solidFill>
                            <a:srgbClr val="333333"/>
                          </a:solidFill>
                        </a:rPr>
                        <a:t>0.27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>
                          <a:solidFill>
                            <a:srgbClr val="333333"/>
                          </a:solidFill>
                        </a:rPr>
                        <a:t>1.89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18440"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 b="1">
                          <a:solidFill>
                            <a:srgbClr val="154FC2"/>
                          </a:solidFill>
                        </a:rPr>
                        <a:t>W3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>
                          <a:solidFill>
                            <a:srgbClr val="333333"/>
                          </a:solidFill>
                        </a:rPr>
                        <a:t>Re-flush + read sharer_bitmap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>
                          <a:solidFill>
                            <a:srgbClr val="333333"/>
                          </a:solidFill>
                        </a:rPr>
                        <a:t>0.03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>
                          <a:solidFill>
                            <a:srgbClr val="333333"/>
                          </a:solidFill>
                        </a:rPr>
                        <a:t>0.19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>
                          <a:solidFill>
                            <a:srgbClr val="333333"/>
                          </a:solidFill>
                        </a:rPr>
                        <a:t>0.69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18440"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 b="1">
                          <a:solidFill>
                            <a:srgbClr val="154FC2"/>
                          </a:solidFill>
                        </a:rPr>
                        <a:t>W4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>
                          <a:solidFill>
                            <a:srgbClr val="333333"/>
                          </a:solidFill>
                        </a:rPr>
                        <a:t>Enter invalidate broadcast loop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>
                          <a:solidFill>
                            <a:srgbClr val="333333"/>
                          </a:solidFill>
                        </a:rPr>
                        <a:t>0.76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>
                          <a:solidFill>
                            <a:srgbClr val="333333"/>
                          </a:solidFill>
                        </a:rPr>
                        <a:t>0.83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>
                          <a:solidFill>
                            <a:srgbClr val="333333"/>
                          </a:solidFill>
                        </a:rPr>
                        <a:t>1.10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>
                          <a:solidFill>
                            <a:srgbClr val="333333"/>
                          </a:solidFill>
                        </a:rPr>
                        <a:t>per remote sharer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18440"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 b="1">
                          <a:solidFill>
                            <a:srgbClr val="154FC2"/>
                          </a:solidFill>
                        </a:rPr>
                        <a:t>I1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>
                          <a:solidFill>
                            <a:srgbClr val="333333"/>
                          </a:solidFill>
                        </a:rPr>
                        <a:t>InvalRing.tail.fetch_add (RMW-CXL)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>
                          <a:solidFill>
                            <a:srgbClr val="333333"/>
                          </a:solidFill>
                        </a:rPr>
                        <a:t>1.69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>
                          <a:solidFill>
                            <a:srgbClr val="333333"/>
                          </a:solidFill>
                        </a:rPr>
                        <a:t>1.65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>
                          <a:solidFill>
                            <a:srgbClr val="333333"/>
                          </a:solidFill>
                        </a:rPr>
                        <a:t>1.87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>
                          <a:solidFill>
                            <a:srgbClr val="333333"/>
                          </a:solidFill>
                        </a:rPr>
                        <a:t>cross-host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18440"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 b="1">
                          <a:solidFill>
                            <a:srgbClr val="154FC2"/>
                          </a:solidFill>
                        </a:rPr>
                        <a:t>I2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>
                          <a:solidFill>
                            <a:srgbClr val="333333"/>
                          </a:solidFill>
                        </a:rPr>
                        <a:t>Write InvalEntry + flush + sfence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>
                          <a:solidFill>
                            <a:srgbClr val="333333"/>
                          </a:solidFill>
                        </a:rPr>
                        <a:t>3.45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>
                          <a:solidFill>
                            <a:srgbClr val="333333"/>
                          </a:solidFill>
                        </a:rPr>
                        <a:t>3.70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>
                          <a:solidFill>
                            <a:srgbClr val="333333"/>
                          </a:solidFill>
                        </a:rPr>
                        <a:t>5.29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>
                          <a:solidFill>
                            <a:srgbClr val="333333"/>
                          </a:solidFill>
                        </a:rPr>
                        <a:t>cross-host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18440"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 b="1">
                          <a:solidFill>
                            <a:srgbClr val="154FC2"/>
                          </a:solidFill>
                        </a:rPr>
                        <a:t>I3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>
                          <a:solidFill>
                            <a:srgbClr val="333333"/>
                          </a:solidFill>
                        </a:rPr>
                        <a:t>(peer) Dispatcher sees new tail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>
                          <a:solidFill>
                            <a:srgbClr val="333333"/>
                          </a:solidFill>
                        </a:rPr>
                        <a:t>0.99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>
                          <a:solidFill>
                            <a:srgbClr val="333333"/>
                          </a:solidFill>
                        </a:rPr>
                        <a:t>1.12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>
                          <a:solidFill>
                            <a:srgbClr val="333333"/>
                          </a:solidFill>
                        </a:rPr>
                        <a:t>1.73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18440"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 b="1">
                          <a:solidFill>
                            <a:srgbClr val="154FC2"/>
                          </a:solidFill>
                        </a:rPr>
                        <a:t>I4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>
                          <a:solidFill>
                            <a:srgbClr val="333333"/>
                          </a:solidFill>
                        </a:rPr>
                        <a:t>(peer) Read entry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>
                          <a:solidFill>
                            <a:srgbClr val="333333"/>
                          </a:solidFill>
                        </a:rPr>
                        <a:t>0.58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>
                          <a:solidFill>
                            <a:srgbClr val="333333"/>
                          </a:solidFill>
                        </a:rPr>
                        <a:t>0.63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>
                          <a:solidFill>
                            <a:srgbClr val="333333"/>
                          </a:solidFill>
                        </a:rPr>
                        <a:t>1.33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18440"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 b="1">
                          <a:solidFill>
                            <a:srgbClr val="154FC2"/>
                          </a:solidFill>
                        </a:rPr>
                        <a:t>I5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>
                          <a:solidFill>
                            <a:srgbClr val="333333"/>
                          </a:solidFill>
                        </a:rPr>
                        <a:t>(peer) cache_pool_set_stale (DRAM CAS)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>
                          <a:solidFill>
                            <a:srgbClr val="333333"/>
                          </a:solidFill>
                        </a:rPr>
                        <a:t>0.03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>
                          <a:solidFill>
                            <a:srgbClr val="333333"/>
                          </a:solidFill>
                        </a:rPr>
                        <a:t>0.03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>
                          <a:solidFill>
                            <a:srgbClr val="333333"/>
                          </a:solidFill>
                        </a:rPr>
                        <a:t>0.05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18440"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 b="1">
                          <a:solidFill>
                            <a:srgbClr val="154FC2"/>
                          </a:solidFill>
                        </a:rPr>
                        <a:t>I7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>
                          <a:solidFill>
                            <a:srgbClr val="333333"/>
                          </a:solidFill>
                        </a:rPr>
                        <a:t>(producer) Observes ACK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>
                          <a:solidFill>
                            <a:srgbClr val="333333"/>
                          </a:solidFill>
                        </a:rPr>
                        <a:t>0.03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>
                          <a:solidFill>
                            <a:srgbClr val="333333"/>
                          </a:solidFill>
                        </a:rPr>
                        <a:t>0.04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>
                          <a:solidFill>
                            <a:srgbClr val="333333"/>
                          </a:solidFill>
                        </a:rPr>
                        <a:t>0.06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18440"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 b="1">
                          <a:solidFill>
                            <a:srgbClr val="154FC2"/>
                          </a:solidFill>
                        </a:rPr>
                        <a:t>I8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>
                          <a:solidFill>
                            <a:srgbClr val="333333"/>
                          </a:solidFill>
                        </a:rPr>
                        <a:t>Free InvalRing slot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>
                          <a:solidFill>
                            <a:srgbClr val="333333"/>
                          </a:solidFill>
                        </a:rPr>
                        <a:t>0.05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>
                          <a:solidFill>
                            <a:srgbClr val="333333"/>
                          </a:solidFill>
                        </a:rPr>
                        <a:t>0.65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>
                          <a:solidFill>
                            <a:srgbClr val="333333"/>
                          </a:solidFill>
                        </a:rPr>
                        <a:t>6.38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18440"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 b="1">
                          <a:solidFill>
                            <a:srgbClr val="154FC2"/>
                          </a:solidFill>
                        </a:rPr>
                        <a:t>W6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>
                          <a:solidFill>
                            <a:srgbClr val="333333"/>
                          </a:solidFill>
                        </a:rPr>
                        <a:t>End of inval broadcast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>
                          <a:solidFill>
                            <a:srgbClr val="333333"/>
                          </a:solidFill>
                        </a:rPr>
                        <a:t>1.37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>
                          <a:solidFill>
                            <a:srgbClr val="333333"/>
                          </a:solidFill>
                        </a:rPr>
                        <a:t>1.22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>
                          <a:solidFill>
                            <a:srgbClr val="333333"/>
                          </a:solidFill>
                        </a:rPr>
                        <a:t>1.77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>
                          <a:solidFill>
                            <a:srgbClr val="333333"/>
                          </a:solidFill>
                        </a:rPr>
                        <a:t>per remote sharer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18440"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 b="1">
                          <a:solidFill>
                            <a:srgbClr val="154FC2"/>
                          </a:solidFill>
                        </a:rPr>
                        <a:t>W7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>
                          <a:solidFill>
                            <a:srgbClr val="333333"/>
                          </a:solidFill>
                        </a:rPr>
                        <a:t>pool-&gt;alloc (RMW-CXL bump cursor)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>
                          <a:solidFill>
                            <a:srgbClr val="333333"/>
                          </a:solidFill>
                        </a:rPr>
                        <a:t>0.04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>
                          <a:solidFill>
                            <a:srgbClr val="333333"/>
                          </a:solidFill>
                        </a:rPr>
                        <a:t>0.11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>
                          <a:solidFill>
                            <a:srgbClr val="333333"/>
                          </a:solidFill>
                        </a:rPr>
                        <a:t>1.96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18440"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 b="1">
                          <a:solidFill>
                            <a:srgbClr val="154FC2"/>
                          </a:solidFill>
                        </a:rPr>
                        <a:t>W8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>
                          <a:solidFill>
                            <a:srgbClr val="333333"/>
                          </a:solidFill>
                        </a:rPr>
                        <a:t>pool-&gt;write (memcpy + per-CL flush)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>
                          <a:solidFill>
                            <a:srgbClr val="333333"/>
                          </a:solidFill>
                        </a:rPr>
                        <a:t>0.03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>
                          <a:solidFill>
                            <a:srgbClr val="333333"/>
                          </a:solidFill>
                        </a:rPr>
                        <a:t>0.16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>
                          <a:solidFill>
                            <a:srgbClr val="333333"/>
                          </a:solidFill>
                        </a:rPr>
                        <a:t>1.59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>
                          <a:solidFill>
                            <a:srgbClr val="333333"/>
                          </a:solidFill>
                        </a:rPr>
                        <a:t>8 cachelines KV=512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18440"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 b="1">
                          <a:solidFill>
                            <a:srgbClr val="154FC2"/>
                          </a:solidFill>
                        </a:rPr>
                        <a:t>W9</a:t>
                      </a:r>
                    </a:p>
                  </a:txBody>
                  <a:tcPr>
                    <a:solidFill>
                      <a:srgbClr val="FFF49C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>
                          <a:solidFill>
                            <a:srgbClr val="333333"/>
                          </a:solidFill>
                        </a:rPr>
                        <a:t>COMMIT POINT: publish_slot_cow</a:t>
                      </a:r>
                    </a:p>
                  </a:txBody>
                  <a:tcPr>
                    <a:solidFill>
                      <a:srgbClr val="FFF49C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>
                          <a:solidFill>
                            <a:srgbClr val="333333"/>
                          </a:solidFill>
                        </a:rPr>
                        <a:t>0.02</a:t>
                      </a:r>
                    </a:p>
                  </a:txBody>
                  <a:tcPr>
                    <a:solidFill>
                      <a:srgbClr val="FFF49C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>
                          <a:solidFill>
                            <a:srgbClr val="333333"/>
                          </a:solidFill>
                        </a:rPr>
                        <a:t>0.05</a:t>
                      </a:r>
                    </a:p>
                  </a:txBody>
                  <a:tcPr>
                    <a:solidFill>
                      <a:srgbClr val="FFF49C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>
                          <a:solidFill>
                            <a:srgbClr val="333333"/>
                          </a:solidFill>
                        </a:rPr>
                        <a:t>0.04</a:t>
                      </a:r>
                    </a:p>
                  </a:txBody>
                  <a:tcPr>
                    <a:solidFill>
                      <a:srgbClr val="FFF49C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>
                          <a:solidFill>
                            <a:srgbClr val="333333"/>
                          </a:solidFill>
                        </a:rPr>
                        <a:t>★ linearization #1 ★</a:t>
                      </a:r>
                    </a:p>
                  </a:txBody>
                  <a:tcPr>
                    <a:solidFill>
                      <a:srgbClr val="FFF49C"/>
                    </a:solidFill>
                  </a:tcPr>
                </a:tc>
              </a:tr>
              <a:tr h="218440"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 b="1">
                          <a:solidFill>
                            <a:srgbClr val="154FC2"/>
                          </a:solidFill>
                        </a:rPr>
                        <a:t>W10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 b="1">
                          <a:solidFill>
                            <a:srgbClr val="333333"/>
                          </a:solidFill>
                        </a:rPr>
                        <a:t>directory + cache_pool_insert + epoch++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 b="1">
                          <a:solidFill>
                            <a:srgbClr val="333333"/>
                          </a:solidFill>
                        </a:rPr>
                        <a:t>3.56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 b="1">
                          <a:solidFill>
                            <a:srgbClr val="333333"/>
                          </a:solidFill>
                        </a:rPr>
                        <a:t>6.22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 b="1">
                          <a:solidFill>
                            <a:srgbClr val="333333"/>
                          </a:solidFill>
                        </a:rPr>
                        <a:t>18.1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 b="1">
                          <a:solidFill>
                            <a:srgbClr val="333333"/>
                          </a:solidFill>
                        </a:rPr>
                        <a:t>★ DOMINANT ★ + lin. #2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</a:tr>
              <a:tr h="218440"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 b="1">
                          <a:solidFill>
                            <a:srgbClr val="154FC2"/>
                          </a:solidFill>
                        </a:rPr>
                        <a:t>W12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>
                          <a:solidFill>
                            <a:srgbClr val="333333"/>
                          </a:solidFill>
                        </a:rPr>
                        <a:t>Return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>
                          <a:solidFill>
                            <a:srgbClr val="333333"/>
                          </a:solidFill>
                        </a:rPr>
                        <a:t>0.34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>
                          <a:solidFill>
                            <a:srgbClr val="333333"/>
                          </a:solidFill>
                        </a:rPr>
                        <a:t>1.50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>
                          <a:solidFill>
                            <a:srgbClr val="333333"/>
                          </a:solidFill>
                        </a:rPr>
                        <a:t>9.05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309360" y="1097280"/>
          <a:ext cx="576072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94360"/>
                <a:gridCol w="2103120"/>
                <a:gridCol w="502920"/>
                <a:gridCol w="502920"/>
                <a:gridCol w="502920"/>
                <a:gridCol w="1554480"/>
              </a:tblGrid>
              <a:tr h="261257">
                <a:tc>
                  <a:txBody>
                    <a:bodyPr lIns="38100" rIns="38100" tIns="25400" bIns="25400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Stage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  <a:tc>
                  <a:txBody>
                    <a:bodyPr lIns="38100" rIns="38100" tIns="25400" bIns="25400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What it does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  <a:tc>
                  <a:txBody>
                    <a:bodyPr lIns="38100" rIns="38100" tIns="25400" bIns="25400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p50 µs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  <a:tc>
                  <a:txBody>
                    <a:bodyPr lIns="38100" rIns="38100" tIns="25400" bIns="25400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mean µs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  <a:tc>
                  <a:txBody>
                    <a:bodyPr lIns="38100" rIns="38100" tIns="25400" bIns="25400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p99 µs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  <a:tc>
                  <a:txBody>
                    <a:bodyPr lIns="38100" rIns="38100" tIns="25400" bIns="25400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Note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</a:tr>
              <a:tr h="261257"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 b="1">
                          <a:solidFill>
                            <a:srgbClr val="E65100"/>
                          </a:solidFill>
                        </a:rPr>
                        <a:t>lock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</a:rPr>
                        <a:t>LFM acquire (CROSS-HOST blocking)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 b="1">
                          <a:solidFill>
                            <a:srgbClr val="333333"/>
                          </a:solidFill>
                        </a:rPr>
                        <a:t>9.0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 b="1">
                          <a:solidFill>
                            <a:srgbClr val="333333"/>
                          </a:solidFill>
                        </a:rPr>
                        <a:t>25.0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 b="1">
                          <a:solidFill>
                            <a:srgbClr val="333333"/>
                          </a:solidFill>
                        </a:rPr>
                        <a:t>427.1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</a:rPr>
                        <a:t>★ DOMINANT ★ 84% of total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</a:tr>
              <a:tr h="261257"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 b="1">
                          <a:solidFill>
                            <a:srgbClr val="E65100"/>
                          </a:solidFill>
                        </a:rPr>
                        <a:t>scan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>
                          <a:solidFill>
                            <a:srgbClr val="333333"/>
                          </a:solidFill>
                        </a:rPr>
                        <a:t>flush 2 CL + mfence + scan 7 slots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~1.4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1.40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>
                          <a:solidFill>
                            <a:srgbClr val="333333"/>
                          </a:solidFill>
                        </a:rPr>
                        <a:t>Phase-2.6 flush-collapse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1257"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 b="1">
                          <a:solidFill>
                            <a:srgbClr val="E65100"/>
                          </a:solidFill>
                        </a:rPr>
                        <a:t>publish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>
                          <a:solidFill>
                            <a:srgbClr val="333333"/>
                          </a:solidFill>
                        </a:rPr>
                        <a:t>slot.value = V + flush + sfence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~0.02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0.018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1257"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 b="1">
                          <a:solidFill>
                            <a:srgbClr val="E65100"/>
                          </a:solidFill>
                        </a:rPr>
                        <a:t>epoch</a:t>
                      </a:r>
                    </a:p>
                  </a:txBody>
                  <a:tcPr>
                    <a:solidFill>
                      <a:srgbClr val="FFF49C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>
                          <a:solidFill>
                            <a:srgbClr val="333333"/>
                          </a:solidFill>
                        </a:rPr>
                        <a:t>__atomic_add_fetch(write_epoch) + flush</a:t>
                      </a:r>
                    </a:p>
                  </a:txBody>
                  <a:tcPr>
                    <a:solidFill>
                      <a:srgbClr val="FFF49C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~4.0</a:t>
                      </a:r>
                    </a:p>
                  </a:txBody>
                  <a:tcPr>
                    <a:solidFill>
                      <a:srgbClr val="FFF49C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4.07</a:t>
                      </a:r>
                    </a:p>
                  </a:txBody>
                  <a:tcPr>
                    <a:solidFill>
                      <a:srgbClr val="FFF49C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49C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>
                          <a:solidFill>
                            <a:srgbClr val="333333"/>
                          </a:solidFill>
                        </a:rPr>
                        <a:t>★ linearization #1 ★ CXL atomic</a:t>
                      </a:r>
                    </a:p>
                  </a:txBody>
                  <a:tcPr>
                    <a:solidFill>
                      <a:srgbClr val="FFF49C"/>
                    </a:solidFill>
                  </a:tcPr>
                </a:tc>
              </a:tr>
              <a:tr h="261257"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 b="1">
                          <a:solidFill>
                            <a:srgbClr val="E65100"/>
                          </a:solidFill>
                        </a:rPr>
                        <a:t>unlock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>
                          <a:solidFill>
                            <a:srgbClr val="333333"/>
                          </a:solidFill>
                        </a:rPr>
                        <a:t>LFM release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~0.03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0.026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1258"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 b="1">
                          <a:solidFill>
                            <a:srgbClr val="E65100"/>
                          </a:solidFill>
                        </a:rP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>
                          <a:solidFill>
                            <a:srgbClr val="333333"/>
                          </a:solidFill>
                        </a:rPr>
                        <a:t>end-to-end UPDATE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13.4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30.6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439.6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274320" y="914400"/>
            <a:ext cx="58521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>
                <a:solidFill>
                  <a:srgbClr val="0D327D"/>
                </a:solidFill>
              </a:rPr>
              <a:t>Protocol A — 17 distinct stages (W1-W12 + I1-I8 sub-path)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914400"/>
            <a:ext cx="55778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>
                <a:solidFill>
                  <a:srgbClr val="8C3200"/>
                </a:solidFill>
              </a:rPr>
              <a:t>Protocol C — 6 stages total (Lock/Scan/Publish/Epoch/Unlock + Total)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3108960"/>
            <a:ext cx="5577840" cy="2011680"/>
          </a:xfrm>
          <a:prstGeom prst="roundRect">
            <a:avLst/>
          </a:prstGeom>
          <a:solidFill>
            <a:srgbClr val="EEEEEE"/>
          </a:solidFill>
          <a:ln w="9525">
            <a:solidFill>
              <a:srgbClr val="9E9E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 rIns="101600" tIns="63500" bIns="63500" wrap="square"/>
          <a:lstStyle/>
          <a:p>
            <a:pPr algn="ctr"/>
            <a:r>
              <a:rPr sz="1100" b="1">
                <a:solidFill>
                  <a:srgbClr val="333333"/>
                </a:solidFill>
              </a:rPr>
              <a:t>Mean per-op cost</a:t>
            </a:r>
          </a:p>
          <a:p>
            <a:r>
              <a:rPr sz="1000">
                <a:solidFill>
                  <a:srgbClr val="0D327D"/>
                </a:solidFill>
              </a:rPr>
              <a:t>  Protocol A (no remote sharer):    ~ 13 µs/op</a:t>
            </a:r>
          </a:p>
          <a:p>
            <a:r>
              <a:rPr sz="1000">
                <a:solidFill>
                  <a:srgbClr val="0D327D"/>
                </a:solidFill>
              </a:rPr>
              <a:t>  Protocol A (with remote sharer):  ~ 19 µs/op  (+ inval path I1-I8)</a:t>
            </a:r>
          </a:p>
          <a:p>
            <a:r>
              <a:rPr sz="1000">
                <a:solidFill>
                  <a:srgbClr val="8C3200"/>
                </a:solidFill>
              </a:rPr>
              <a:t>  Protocol C (always):              30.6 µs/op  (84% in lock alone)</a:t>
            </a:r>
          </a:p>
          <a:p>
            <a:r>
              <a:rPr sz="1000">
                <a:solidFill>
                  <a:srgbClr val="333333"/>
                </a:solidFill>
              </a:rPr>
              <a:t/>
            </a:r>
          </a:p>
          <a:p>
            <a:r>
              <a:rPr sz="1100" b="1">
                <a:solidFill>
                  <a:srgbClr val="333333"/>
                </a:solidFill>
              </a:rPr>
              <a:t>Dominant stage shape:</a:t>
            </a:r>
          </a:p>
          <a:p>
            <a:r>
              <a:rPr sz="1000">
                <a:solidFill>
                  <a:srgbClr val="333333"/>
                </a:solidFill>
              </a:rPr>
              <a:t>  A: spread across 12 stages (W10 = 6.2 µs largest, MESI on shared L2 insert)</a:t>
            </a:r>
          </a:p>
          <a:p>
            <a:r>
              <a:rPr sz="1000">
                <a:solidFill>
                  <a:srgbClr val="333333"/>
                </a:solidFill>
              </a:rPr>
              <a:t>  C: concentrated in 1 stage (LFM lock acquire under cross-host Zipf hot-bucket)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91440"/>
            <a:ext cx="11704320" cy="5029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sz="2200" b="1">
                <a:solidFill>
                  <a:srgbClr val="333333"/>
                </a:solidFill>
              </a:rPr>
              <a:t>Read path — measured per-stage latency (T=64 workload-A)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566928"/>
            <a:ext cx="11704320" cy="292608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sz="1100" i="1">
                <a:solidFill>
                  <a:srgbClr val="9E9E9E"/>
                </a:solidFill>
              </a:rPr>
              <a:t>A measured from iter-11A Phase 5; C inferred from primitives (no historical search-side decomp run for C)  •  Probabilities by outcome shown for A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097280"/>
          <a:ext cx="598932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7240"/>
                <a:gridCol w="2194560"/>
                <a:gridCol w="502920"/>
                <a:gridCol w="548640"/>
                <a:gridCol w="502920"/>
                <a:gridCol w="1463040"/>
              </a:tblGrid>
              <a:tr h="251460">
                <a:tc>
                  <a:txBody>
                    <a:bodyPr lIns="38100" rIns="38100" tIns="25400" bIns="25400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Stage</a:t>
                      </a:r>
                    </a:p>
                  </a:txBody>
                  <a:tcPr>
                    <a:solidFill>
                      <a:srgbClr val="154FC2"/>
                    </a:solidFill>
                  </a:tcPr>
                </a:tc>
                <a:tc>
                  <a:txBody>
                    <a:bodyPr lIns="38100" rIns="38100" tIns="25400" bIns="25400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What it does</a:t>
                      </a:r>
                    </a:p>
                  </a:txBody>
                  <a:tcPr>
                    <a:solidFill>
                      <a:srgbClr val="154FC2"/>
                    </a:solidFill>
                  </a:tcPr>
                </a:tc>
                <a:tc>
                  <a:txBody>
                    <a:bodyPr lIns="38100" rIns="38100" tIns="25400" bIns="25400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p50 µs</a:t>
                      </a:r>
                    </a:p>
                  </a:txBody>
                  <a:tcPr>
                    <a:solidFill>
                      <a:srgbClr val="154FC2"/>
                    </a:solidFill>
                  </a:tcPr>
                </a:tc>
                <a:tc>
                  <a:txBody>
                    <a:bodyPr lIns="38100" rIns="38100" tIns="25400" bIns="25400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mean µs</a:t>
                      </a:r>
                    </a:p>
                  </a:txBody>
                  <a:tcPr>
                    <a:solidFill>
                      <a:srgbClr val="154FC2"/>
                    </a:solidFill>
                  </a:tcPr>
                </a:tc>
                <a:tc>
                  <a:txBody>
                    <a:bodyPr lIns="38100" rIns="38100" tIns="25400" bIns="25400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p99 µs</a:t>
                      </a:r>
                    </a:p>
                  </a:txBody>
                  <a:tcPr>
                    <a:solidFill>
                      <a:srgbClr val="154FC2"/>
                    </a:solidFill>
                  </a:tcPr>
                </a:tc>
                <a:tc>
                  <a:txBody>
                    <a:bodyPr lIns="38100" rIns="38100" tIns="25400" bIns="25400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Note</a:t>
                      </a:r>
                    </a:p>
                  </a:txBody>
                  <a:tcPr>
                    <a:solidFill>
                      <a:srgbClr val="154FC2"/>
                    </a:solidFill>
                  </a:tcPr>
                </a:tc>
              </a:tr>
              <a:tr h="251460"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 b="1">
                          <a:solidFill>
                            <a:srgbClr val="154FC2"/>
                          </a:solidFill>
                        </a:rPr>
                        <a:t>R0_tls_hit</a:t>
                      </a:r>
                    </a:p>
                  </a:txBody>
                  <a:tcPr>
                    <a:solidFill>
                      <a:srgbClr val="FFF49C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>
                          <a:solidFill>
                            <a:srgbClr val="333333"/>
                          </a:solidFill>
                        </a:rPr>
                        <a:t>TLS L1 hit return (when fresh)</a:t>
                      </a:r>
                    </a:p>
                  </a:txBody>
                  <a:tcPr>
                    <a:solidFill>
                      <a:srgbClr val="FFF49C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0.025</a:t>
                      </a:r>
                    </a:p>
                  </a:txBody>
                  <a:tcPr>
                    <a:solidFill>
                      <a:srgbClr val="FFF49C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0.079</a:t>
                      </a:r>
                    </a:p>
                  </a:txBody>
                  <a:tcPr>
                    <a:solidFill>
                      <a:srgbClr val="FFF49C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0.81</a:t>
                      </a:r>
                    </a:p>
                  </a:txBody>
                  <a:tcPr>
                    <a:solidFill>
                      <a:srgbClr val="FFF49C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>
                          <a:solidFill>
                            <a:srgbClr val="333333"/>
                          </a:solidFill>
                        </a:rPr>
                        <a:t>★ 80 ns ideal ★ (~18% of reads)</a:t>
                      </a:r>
                    </a:p>
                  </a:txBody>
                  <a:tcPr>
                    <a:solidFill>
                      <a:srgbClr val="FFF49C"/>
                    </a:solidFill>
                  </a:tcPr>
                </a:tc>
              </a:tr>
              <a:tr h="251460"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 b="1">
                          <a:solidFill>
                            <a:srgbClr val="154FC2"/>
                          </a:solidFill>
                        </a:rPr>
                        <a:t>R1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>
                          <a:solidFill>
                            <a:srgbClr val="333333"/>
                          </a:solidFill>
                        </a:rPr>
                        <a:t>Entry + bucket_epoch.load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7.07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5.26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16.5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>
                          <a:solidFill>
                            <a:srgbClr val="333333"/>
                          </a:solidFill>
                        </a:rPr>
                        <a:t>high mean from shared-CL MESI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 b="1">
                          <a:solidFill>
                            <a:srgbClr val="154FC2"/>
                          </a:solidFill>
                        </a:rPr>
                        <a:t>R2hit</a:t>
                      </a:r>
                    </a:p>
                  </a:txBody>
                  <a:tcPr>
                    <a:solidFill>
                      <a:srgbClr val="FFF49C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>
                          <a:solidFill>
                            <a:srgbClr val="333333"/>
                          </a:solidFill>
                        </a:rPr>
                        <a:t>L2 cache_pool seqlock CAS read hit</a:t>
                      </a:r>
                    </a:p>
                  </a:txBody>
                  <a:tcPr>
                    <a:solidFill>
                      <a:srgbClr val="FFF49C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0.079</a:t>
                      </a:r>
                    </a:p>
                  </a:txBody>
                  <a:tcPr>
                    <a:solidFill>
                      <a:srgbClr val="FFF49C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0.149</a:t>
                      </a:r>
                    </a:p>
                  </a:txBody>
                  <a:tcPr>
                    <a:solidFill>
                      <a:srgbClr val="FFF49C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0.42</a:t>
                      </a:r>
                    </a:p>
                  </a:txBody>
                  <a:tcPr>
                    <a:solidFill>
                      <a:srgbClr val="FFF49C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>
                          <a:solidFill>
                            <a:srgbClr val="333333"/>
                          </a:solidFill>
                        </a:rPr>
                        <a:t>~64% of reads</a:t>
                      </a:r>
                    </a:p>
                  </a:txBody>
                  <a:tcPr>
                    <a:solidFill>
                      <a:srgbClr val="FFF49C"/>
                    </a:solidFill>
                  </a:tcPr>
                </a:tc>
              </a:tr>
              <a:tr h="251460"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 b="1">
                          <a:solidFill>
                            <a:srgbClr val="154FC2"/>
                          </a:solidFill>
                        </a:rPr>
                        <a:t>R2miss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>
                          <a:solidFill>
                            <a:srgbClr val="333333"/>
                          </a:solidFill>
                        </a:rPr>
                        <a:t>L2 miss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2.80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3.07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8.12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>
                          <a:solidFill>
                            <a:srgbClr val="333333"/>
                          </a:solidFill>
                        </a:rPr>
                        <a:t>~17% of reads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 b="1">
                          <a:solidFill>
                            <a:srgbClr val="154FC2"/>
                          </a:solidFill>
                        </a:rPr>
                        <a:t>R3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</a:rPr>
                        <a:t>forward_read_direct (CROSS-HOST)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 b="1">
                          <a:solidFill>
                            <a:srgbClr val="333333"/>
                          </a:solidFill>
                        </a:rPr>
                        <a:t>13.6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 b="1">
                          <a:solidFill>
                            <a:srgbClr val="333333"/>
                          </a:solidFill>
                        </a:rPr>
                        <a:t>14.0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 b="1">
                          <a:solidFill>
                            <a:srgbClr val="333333"/>
                          </a:solidFill>
                        </a:rPr>
                        <a:t>26.4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</a:rPr>
                        <a:t>★ DOMINANT ★ (~0.2% but tail)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</a:tr>
              <a:tr h="251460"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 b="1">
                          <a:solidFill>
                            <a:srgbClr val="154FC2"/>
                          </a:solidFill>
                        </a:rPr>
                        <a:t>R4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>
                          <a:solidFill>
                            <a:srgbClr val="333333"/>
                          </a:solidFill>
                        </a:rPr>
                        <a:t>C13 validate + memcpy from staging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0.34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0.39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 b="1">
                          <a:solidFill>
                            <a:srgbClr val="154FC2"/>
                          </a:solidFill>
                        </a:rPr>
                        <a:t>R6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>
                          <a:solidFill>
                            <a:srgbClr val="333333"/>
                          </a:solidFill>
                        </a:rPr>
                        <a:t>Return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0.73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1.14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5.82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355080" y="1097280"/>
          <a:ext cx="58064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5880"/>
                <a:gridCol w="1783080"/>
                <a:gridCol w="457200"/>
                <a:gridCol w="502920"/>
                <a:gridCol w="411480"/>
                <a:gridCol w="1325880"/>
              </a:tblGrid>
              <a:tr h="261257">
                <a:tc>
                  <a:txBody>
                    <a:bodyPr lIns="38100" rIns="38100" tIns="25400" bIns="25400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Stage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  <a:tc>
                  <a:txBody>
                    <a:bodyPr lIns="38100" rIns="38100" tIns="25400" bIns="25400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What it does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  <a:tc>
                  <a:txBody>
                    <a:bodyPr lIns="38100" rIns="38100" tIns="25400" bIns="25400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p50 µs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  <a:tc>
                  <a:txBody>
                    <a:bodyPr lIns="38100" rIns="38100" tIns="25400" bIns="25400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mean µs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  <a:tc>
                  <a:txBody>
                    <a:bodyPr lIns="38100" rIns="38100" tIns="25400" bIns="25400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p99 µs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  <a:tc>
                  <a:txBody>
                    <a:bodyPr lIns="38100" rIns="38100" tIns="25400" bIns="25400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Note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</a:tr>
              <a:tr h="261257"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 b="1">
                          <a:solidFill>
                            <a:srgbClr val="E65100"/>
                          </a:solidFill>
                        </a:rPr>
                        <a:t>C1r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>
                          <a:solidFill>
                            <a:srgbClr val="333333"/>
                          </a:solidFill>
                        </a:rPr>
                        <a:t>hash(K) → bucket_idx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~0.015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0.015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>
                          <a:solidFill>
                            <a:srgbClr val="333333"/>
                          </a:solidFill>
                        </a:rPr>
                        <a:t>inferred from primitives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1257"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 b="1">
                          <a:solidFill>
                            <a:srgbClr val="E65100"/>
                          </a:solidFill>
                        </a:rPr>
                        <a:t>C2r (cache hit)</a:t>
                      </a:r>
                    </a:p>
                  </a:txBody>
                  <a:tcPr>
                    <a:solidFill>
                      <a:srgbClr val="FFF49C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>
                          <a:solidFill>
                            <a:srgbClr val="333333"/>
                          </a:solidFill>
                        </a:rPr>
                        <a:t>CACHELINE_LOAD write_epoch + DRAM scan</a:t>
                      </a:r>
                    </a:p>
                  </a:txBody>
                  <a:tcPr>
                    <a:solidFill>
                      <a:srgbClr val="FFF49C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~0.70</a:t>
                      </a:r>
                    </a:p>
                  </a:txBody>
                  <a:tcPr>
                    <a:solidFill>
                      <a:srgbClr val="FFF49C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0.70</a:t>
                      </a:r>
                    </a:p>
                  </a:txBody>
                  <a:tcPr>
                    <a:solidFill>
                      <a:srgbClr val="FFF49C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49C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>
                          <a:solidFill>
                            <a:srgbClr val="333333"/>
                          </a:solidFill>
                        </a:rPr>
                        <a:t>opt DRAM cache hit path</a:t>
                      </a:r>
                    </a:p>
                  </a:txBody>
                  <a:tcPr>
                    <a:solidFill>
                      <a:srgbClr val="FFF49C"/>
                    </a:solidFill>
                  </a:tcPr>
                </a:tc>
              </a:tr>
              <a:tr h="261257"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 b="1">
                          <a:solidFill>
                            <a:srgbClr val="E65100"/>
                          </a:solidFill>
                        </a:rPr>
                        <a:t>C3r (cache miss)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>
                          <a:solidFill>
                            <a:srgbClr val="333333"/>
                          </a:solidFill>
                        </a:rPr>
                        <a:t>flush 2 CL + mfence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~0.15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0.15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>
                          <a:solidFill>
                            <a:srgbClr val="333333"/>
                          </a:solidFill>
                        </a:rPr>
                        <a:t>2 flush_line@66ns + mfence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1257"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 b="1">
                          <a:solidFill>
                            <a:srgbClr val="E65100"/>
                          </a:solidFill>
                        </a:rPr>
                        <a:t>C4r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>
                          <a:solidFill>
                            <a:srgbClr val="333333"/>
                          </a:solidFill>
                        </a:rPr>
                        <a:t>scan 7 slots in L1 (now fresh)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~0.05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0.05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1257"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 b="1">
                          <a:solidFill>
                            <a:srgbClr val="E65100"/>
                          </a:solidFill>
                        </a:rPr>
                        <a:t>TOTAL (cache hit)</a:t>
                      </a:r>
                    </a:p>
                  </a:txBody>
                  <a:tcPr>
                    <a:solidFill>
                      <a:srgbClr val="FFF49C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>
                          <a:solidFill>
                            <a:srgbClr val="333333"/>
                          </a:solidFill>
                        </a:rPr>
                        <a:t>best case end-to-end</a:t>
                      </a:r>
                    </a:p>
                  </a:txBody>
                  <a:tcPr>
                    <a:solidFill>
                      <a:srgbClr val="FFF49C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~0.70</a:t>
                      </a:r>
                    </a:p>
                  </a:txBody>
                  <a:tcPr>
                    <a:solidFill>
                      <a:srgbClr val="FFF49C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0.70</a:t>
                      </a:r>
                    </a:p>
                  </a:txBody>
                  <a:tcPr>
                    <a:solidFill>
                      <a:srgbClr val="FFF49C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49C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FF49C"/>
                    </a:solidFill>
                  </a:tcPr>
                </a:tc>
              </a:tr>
              <a:tr h="261258"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 b="1">
                          <a:solidFill>
                            <a:srgbClr val="E65100"/>
                          </a:solidFill>
                        </a:rPr>
                        <a:t>TOTAL (cache miss)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>
                          <a:solidFill>
                            <a:srgbClr val="333333"/>
                          </a:solidFill>
                        </a:rPr>
                        <a:t>flush + scan path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~1.0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1.0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274320" y="3383280"/>
            <a:ext cx="5989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>
                <a:solidFill>
                  <a:srgbClr val="0D327D"/>
                </a:solidFill>
              </a:rPr>
              <a:t>Protocol A read-path outcome distribution (T=64 wl-A)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3749039"/>
            <a:ext cx="16459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333333"/>
                </a:solidFill>
              </a:rPr>
              <a:t>TLS L1 hit</a:t>
            </a:r>
          </a:p>
        </p:txBody>
      </p:sp>
      <p:sp>
        <p:nvSpPr>
          <p:cNvPr id="8" name="Rectangle 7"/>
          <p:cNvSpPr/>
          <p:nvPr/>
        </p:nvSpPr>
        <p:spPr>
          <a:xfrm>
            <a:off x="1965960" y="3794759"/>
            <a:ext cx="2286000" cy="164592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965960" y="3794759"/>
            <a:ext cx="969867" cy="164592"/>
          </a:xfrm>
          <a:prstGeom prst="rect">
            <a:avLst/>
          </a:prstGeom>
          <a:solidFill>
            <a:srgbClr val="154F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43400" y="3749039"/>
            <a:ext cx="7315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333333"/>
                </a:solidFill>
              </a:rPr>
              <a:t>~18%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74920" y="3749039"/>
            <a:ext cx="1280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0D327D"/>
                </a:solidFill>
              </a:rPr>
              <a:t>~0.08 µs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" y="4023359"/>
            <a:ext cx="16459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333333"/>
                </a:solidFill>
              </a:rPr>
              <a:t>L2 cache_pool hit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965960" y="4069079"/>
            <a:ext cx="2286000" cy="164592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965960" y="4069079"/>
            <a:ext cx="1828800" cy="164592"/>
          </a:xfrm>
          <a:prstGeom prst="rect">
            <a:avLst/>
          </a:prstGeom>
          <a:solidFill>
            <a:srgbClr val="154F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43400" y="4023359"/>
            <a:ext cx="7315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333333"/>
                </a:solidFill>
              </a:rPr>
              <a:t>~64%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74920" y="4023359"/>
            <a:ext cx="1280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0D327D"/>
                </a:solidFill>
              </a:rPr>
              <a:t>~7 µs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" y="4297679"/>
            <a:ext cx="16459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333333"/>
                </a:solidFill>
              </a:rPr>
              <a:t>Owner-self CXL fetch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965960" y="4343399"/>
            <a:ext cx="2286000" cy="164592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965960" y="4343399"/>
            <a:ext cx="942541" cy="164592"/>
          </a:xfrm>
          <a:prstGeom prst="rect">
            <a:avLst/>
          </a:prstGeom>
          <a:solidFill>
            <a:srgbClr val="154F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43400" y="4297679"/>
            <a:ext cx="7315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333333"/>
                </a:solidFill>
              </a:rPr>
              <a:t>~17%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4297679"/>
            <a:ext cx="1280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0D327D"/>
                </a:solidFill>
              </a:rPr>
              <a:t>~10 µs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" y="4571999"/>
            <a:ext cx="16459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333333"/>
                </a:solidFill>
              </a:rPr>
              <a:t>Cross-host miss (R3+R4)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965960" y="4617719"/>
            <a:ext cx="2286000" cy="164592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965960" y="4617719"/>
            <a:ext cx="102233" cy="164592"/>
          </a:xfrm>
          <a:prstGeom prst="rect">
            <a:avLst/>
          </a:prstGeom>
          <a:solidFill>
            <a:srgbClr val="154F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43400" y="4571999"/>
            <a:ext cx="7315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333333"/>
                </a:solidFill>
              </a:rPr>
              <a:t>~0.2%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74920" y="4571999"/>
            <a:ext cx="1280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0D327D"/>
                </a:solidFill>
              </a:rPr>
              <a:t>~22 µs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355080" y="3383280"/>
            <a:ext cx="5532120" cy="3108960"/>
          </a:xfrm>
          <a:prstGeom prst="roundRect">
            <a:avLst/>
          </a:prstGeom>
          <a:solidFill>
            <a:srgbClr val="EEEEEE"/>
          </a:solidFill>
          <a:ln w="9525">
            <a:solidFill>
              <a:srgbClr val="9E9E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 rIns="101600" tIns="63500" bIns="63500" wrap="square"/>
          <a:lstStyle/>
          <a:p>
            <a:pPr algn="ctr"/>
            <a:r>
              <a:rPr sz="1100" b="1">
                <a:solidFill>
                  <a:srgbClr val="333333"/>
                </a:solidFill>
              </a:rPr>
              <a:t>Reader best-case</a:t>
            </a:r>
          </a:p>
          <a:p>
            <a:r>
              <a:rPr sz="1000" b="0">
                <a:solidFill>
                  <a:srgbClr val="0D327D"/>
                </a:solidFill>
              </a:rPr>
              <a:t>  A (TLS L1 hit):      ~ 80 ns</a:t>
            </a:r>
          </a:p>
          <a:p>
            <a:r>
              <a:rPr sz="1000" b="0">
                <a:solidFill>
                  <a:srgbClr val="8C3200"/>
                </a:solidFill>
              </a:rPr>
              <a:t>  C (DRAM cache hit):  ~ 700 ns</a:t>
            </a:r>
          </a:p>
          <a:p>
            <a:r>
              <a:rPr sz="1000" b="0">
                <a:solidFill>
                  <a:srgbClr val="333333"/>
                </a:solidFill>
              </a:rPr>
              <a:t/>
            </a:r>
          </a:p>
          <a:p>
            <a:r>
              <a:rPr sz="1100" b="1">
                <a:solidFill>
                  <a:srgbClr val="333333"/>
                </a:solidFill>
              </a:rPr>
              <a:t>Reader worst-case (cross-host miss)</a:t>
            </a:r>
          </a:p>
          <a:p>
            <a:r>
              <a:rPr sz="1000" b="0">
                <a:solidFill>
                  <a:srgbClr val="0D327D"/>
                </a:solidFill>
              </a:rPr>
              <a:t>  A: ~ 22 µs (R1+R2miss+R3+R4+R6)</a:t>
            </a:r>
          </a:p>
          <a:p>
            <a:r>
              <a:rPr sz="1000" b="0">
                <a:solidFill>
                  <a:srgbClr val="8C3200"/>
                </a:solidFill>
              </a:rPr>
              <a:t>  C: ~ 1 µs  (every read is a local flush+scan)</a:t>
            </a:r>
          </a:p>
          <a:p>
            <a:r>
              <a:rPr sz="1000" b="0">
                <a:solidFill>
                  <a:srgbClr val="333333"/>
                </a:solidFill>
              </a:rPr>
              <a:t/>
            </a:r>
          </a:p>
          <a:p>
            <a:r>
              <a:rPr sz="1100" b="1">
                <a:solidFill>
                  <a:srgbClr val="333333"/>
                </a:solidFill>
              </a:rPr>
              <a:t>Key insight</a:t>
            </a:r>
          </a:p>
          <a:p>
            <a:r>
              <a:rPr sz="1000" b="0">
                <a:solidFill>
                  <a:srgbClr val="333333"/>
                </a:solidFill>
              </a:rPr>
              <a:t>  Only TLS L1 hits beat C. Every other A path pays for L2 seqlock or cross-host coordination. C readers are near-CXL-physics regardless of contention.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