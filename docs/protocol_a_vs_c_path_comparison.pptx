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Protocol A vs Protocol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154FC2"/>
                </a:solidFill>
              </a:rPr>
              <a:t>Read / Write Path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9E9E9E"/>
                </a:solidFill>
              </a:rPr>
              <a:t>measured T=64 workload-A on g3+g4 testbed  •  iter-11A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333333"/>
                </a:solidFill>
              </a:rPr>
              <a:t>Thesis: strict-A linearizability (Protocol A) requires fundamentally more stages, more linearization points, and more cross-host coordination than LRC (Protocol C). The measured per-stage data confirms this is a structural property, not an engineering artefact.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54FC2"/>
                </a:solidFill>
              </a:rPr>
              <a:t>Protocol A — Write path: cross-host  update(K=1024 B, V)  T=64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704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i="1">
                <a:solidFill>
                  <a:srgbClr val="9E9E9E"/>
                </a:solidFill>
              </a:rPr>
              <a:t>14 narrative steps · 3 actors · per-step latency in [µs]  (measured = from iter-11A Phase 5 path_decomp KV=512 scaled to KV=1024; estimated = derived from CXL primitives)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188720"/>
            <a:ext cx="2560320" cy="411480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65C0"/>
                </a:solidFill>
              </a:rPr>
              <a:t>host 0  worker (caller)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2560320" cy="41148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4FC2"/>
                </a:solidFill>
              </a:rPr>
              <a:t>host 1  WriteReceiver (cpu 65)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19" y="1188720"/>
            <a:ext cx="2560320" cy="41148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4FC2"/>
                </a:solidFill>
              </a:rPr>
              <a:t>host 0  InvalReceiver (cpu 69)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24128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16736" y="17282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83079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[1.1 µs est] write V bytes → ForwardStaging[0][1][slot]  (16 CL flush)</a:t>
            </a:r>
          </a:p>
        </p:txBody>
      </p:sp>
      <p:sp>
        <p:nvSpPr>
          <p:cNvPr id="12" name="Oval 11"/>
          <p:cNvSpPr/>
          <p:nvPr/>
        </p:nvSpPr>
        <p:spPr>
          <a:xfrm>
            <a:off x="1316736" y="2020823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75687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[1.4 µs est] WriteRing[0][1].tail.fetch_add(1)  CXL atomic</a:t>
            </a:r>
          </a:p>
        </p:txBody>
      </p:sp>
      <p:sp>
        <p:nvSpPr>
          <p:cNvPr id="14" name="Oval 13"/>
          <p:cNvSpPr/>
          <p:nvPr/>
        </p:nvSpPr>
        <p:spPr>
          <a:xfrm>
            <a:off x="1316736" y="2313431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368295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[0.1 µs est] write WriteEntry{key, op_kind, value_len, staging_off} + flush + sfence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63040" y="2752343"/>
            <a:ext cx="402336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328415" y="2606039"/>
            <a:ext cx="292608" cy="292608"/>
          </a:xfrm>
          <a:prstGeom prst="ellipse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79" y="2496311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[~22 µs blocked] worker spin on WriteRing.resp_op_id  (5 ms cap)</a:t>
            </a:r>
          </a:p>
        </p:txBody>
      </p:sp>
      <p:sp>
        <p:nvSpPr>
          <p:cNvPr id="19" name="Oval 18"/>
          <p:cNvSpPr/>
          <p:nvPr/>
        </p:nvSpPr>
        <p:spPr>
          <a:xfrm>
            <a:off x="5340096" y="2898647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953511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[1.5 µs est] WriteReceiver poll WriteRing.tail; reads staging bytes</a:t>
            </a:r>
          </a:p>
        </p:txBody>
      </p:sp>
      <p:sp>
        <p:nvSpPr>
          <p:cNvPr id="21" name="Oval 20"/>
          <p:cNvSpPr/>
          <p:nvPr/>
        </p:nvSpPr>
        <p:spPr>
          <a:xfrm>
            <a:off x="5340096" y="3191255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246119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[5.0 µs measured] execute_write_local: W1 flush+mfence + W2 scan+spinlock + W3 bitmap</a:t>
            </a:r>
          </a:p>
        </p:txBody>
      </p:sp>
      <p:sp>
        <p:nvSpPr>
          <p:cNvPr id="23" name="Oval 22"/>
          <p:cNvSpPr/>
          <p:nvPr/>
        </p:nvSpPr>
        <p:spPr>
          <a:xfrm>
            <a:off x="5340096" y="3483863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538727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[1.65 µs measured I1] InvalRing[1][0].tail.fetch_add(1)  CXL atomic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0" y="3922775"/>
            <a:ext cx="47548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717536" y="3776471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66743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[3.7 µs measured I2] write InvalEntry{key} + flush + sfence</a:t>
            </a:r>
          </a:p>
        </p:txBody>
      </p:sp>
      <p:sp>
        <p:nvSpPr>
          <p:cNvPr id="28" name="Oval 27"/>
          <p:cNvSpPr/>
          <p:nvPr/>
        </p:nvSpPr>
        <p:spPr>
          <a:xfrm>
            <a:off x="5340096" y="4069079"/>
            <a:ext cx="292608" cy="292608"/>
          </a:xfrm>
          <a:prstGeom prst="ellipse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123944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[~1.9 µs blocked] WriteReceiver spin on InvalRing.resp_op_id  (5 ms cap)</a:t>
            </a:r>
          </a:p>
        </p:txBody>
      </p:sp>
      <p:sp>
        <p:nvSpPr>
          <p:cNvPr id="30" name="Oval 29"/>
          <p:cNvSpPr/>
          <p:nvPr/>
        </p:nvSpPr>
        <p:spPr>
          <a:xfrm>
            <a:off x="10094976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416552"/>
            <a:ext cx="25603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r"/>
            <a:r>
              <a:rPr sz="850" b="1" i="0">
                <a:solidFill>
                  <a:srgbClr val="154FC2"/>
                </a:solidFill>
              </a:rPr>
              <a:t>[1.75 µs measured I3+I4] poll InvalRing tail; read req_op_id</a:t>
            </a:r>
          </a:p>
        </p:txBody>
      </p:sp>
      <p:sp>
        <p:nvSpPr>
          <p:cNvPr id="32" name="Oval 31"/>
          <p:cNvSpPr/>
          <p:nvPr/>
        </p:nvSpPr>
        <p:spPr>
          <a:xfrm>
            <a:off x="10094976" y="4654296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709160"/>
            <a:ext cx="26517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r"/>
            <a:r>
              <a:rPr sz="850" b="1" i="0">
                <a:solidFill>
                  <a:srgbClr val="154FC2"/>
                </a:solidFill>
              </a:rPr>
              <a:t>[0.03 µs measured I5] cache_pool_set_stale; bucket_epoch++  (seqlock CAS)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486400" y="5093208"/>
            <a:ext cx="47548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717536" y="49469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8464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[0.07 µs est] write InvalRing.resp_op_id ACK + flush + sfence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4" y="3877055"/>
            <a:ext cx="164592" cy="1463040"/>
          </a:xfrm>
          <a:prstGeom prst="rect">
            <a:avLst/>
          </a:prstGeom>
          <a:solidFill>
            <a:srgbClr val="FFCDD2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40096" y="5239512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294376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[10 µs measured+est] W7 pool_alloc + W8 pool_write(1024B) + ★ W9 publish_slot_cow ★ + W10 dir + cache_pool_insert + bucket_epoch++ + W12 return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1463040" y="5678424"/>
            <a:ext cx="402336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328415" y="55321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79" y="5769864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[0.2 µs est] write WriteRing.resp_op_id ACK; worker A4 spin breaks; free slot; return 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80744" y="2706623"/>
            <a:ext cx="164592" cy="3218688"/>
          </a:xfrm>
          <a:prstGeom prst="rect">
            <a:avLst/>
          </a:prstGeom>
          <a:solidFill>
            <a:srgbClr val="FFCDD2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4320" y="5989320"/>
            <a:ext cx="7772400" cy="292608"/>
          </a:xfrm>
          <a:prstGeom prst="roundRect">
            <a:avLst/>
          </a:prstGeom>
          <a:solidFill>
            <a:srgbClr val="FFF49C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l"/>
            <a:r>
              <a:rPr sz="1000" b="1">
                <a:solidFill>
                  <a:srgbClr val="0D327D"/>
                </a:solidFill>
              </a:rPr>
              <a:t>End-to-end:  with peer-sharer-invalidate (A7-A12 fire)  ≈ 22 µs   |   without (~93% of ops at T=64, sharer_bitmap reset by W10) ≈ 16 µs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6355080"/>
            <a:ext cx="7772400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154FC2"/>
                </a:solidFill>
              </a:rPr>
              <a:t>● A* step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79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</a:rPr>
              <a:t>● Cross-host blocking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9A825"/>
                </a:solidFill>
              </a:rPr>
              <a:t>★ Linearization 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</a:rPr>
              <a:t>▌ blocked lifeline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6355080"/>
            <a:ext cx="38404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r"/>
            <a:r>
              <a:rPr sz="1100" b="1">
                <a:solidFill>
                  <a:srgbClr val="0D327D"/>
                </a:solidFill>
              </a:rPr>
              <a:t>14 steps · 3 actors · 2 blocking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E65100"/>
                </a:solidFill>
              </a:rPr>
              <a:t>Protocol C — Write path: in-place  update(K, V=1024 B)  under cross-host LFM lock, T=64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704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i="1">
                <a:solidFill>
                  <a:srgbClr val="9E9E9E"/>
                </a:solidFill>
              </a:rPr>
              <a:t>7 narrative steps · 1 actor · per-step latency in [µs]  (measured = iter-2 DECOMP_REC; KV=1024 adds C0 pool alloc+write before C1)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188720"/>
            <a:ext cx="2926080" cy="411480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65C0"/>
                </a:solidFill>
              </a:rPr>
              <a:t>host 0  worker (caller)
insert / update / remove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0" y="1188720"/>
            <a:ext cx="5852160" cy="411480"/>
          </a:xfrm>
          <a:prstGeom prst="roundRect">
            <a:avLst/>
          </a:prstGeom>
          <a:solidFill>
            <a:srgbClr val="FFF3E0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100" b="1">
                <a:solidFill>
                  <a:srgbClr val="8C3200"/>
                </a:solidFill>
              </a:rPr>
              <a:t>CXL state touched on the write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486400" cy="41148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0D327D"/>
                </a:solidFill>
              </a:rPr>
              <a:t>BucketLockEntry  •  shm_mutex_t (LFM) cross-host  •  write_epoch (cacheline_u64)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5486400" cy="41148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0D327D"/>
                </a:solidFill>
              </a:rPr>
              <a:t>CxlKvBucket  •  7 × {key, value} = 112 B = 2 cachelines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697480"/>
            <a:ext cx="5486400" cy="41148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0D327D"/>
                </a:solidFill>
              </a:rPr>
              <a:t>KvBlockPool  •  1024-B blocks (used by KV&gt;8 path)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29184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014215" y="31455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65100"/>
                </a:solidFill>
              </a:rPr>
              <a:t>C0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03580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[2.4 µs est] blockpool-&gt;alloc (CXL atomic) + blockpool-&gt;write(1024 B)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365760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014215" y="3511296"/>
            <a:ext cx="292608" cy="292608"/>
          </a:xfrm>
          <a:prstGeom prst="ellipse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340156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[25.0 µs measured avg] lock_table_.lock(idx)   LFM acquire  (T=64 contention)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94560" y="402336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014215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65100"/>
                </a:solidFill>
              </a:rPr>
              <a:t>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376732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[0.15 µs measured] flush_line(slots[0]); flush_line(slots[4]); mfence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438912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014215" y="42428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65100"/>
                </a:solidFill>
              </a:rPr>
              <a:t>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413308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[1.25 µs measured] scan 7 slots; pick target_slot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94560" y="475488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14215" y="46085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65100"/>
                </a:solidFill>
              </a:rPr>
              <a:t>C4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449884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[0.02 µs measured] slot.value = blk_off; flush; sfence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512064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014215" y="4974336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486460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[4.07 µs measured] ★ atomic_add_fetch(&amp;write_epoch, 1) + flush + sfence ★  (peer-visible commit)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94560" y="548640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014215" y="53400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65100"/>
                </a:solidFill>
              </a:rPr>
              <a:t>C6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79" y="523036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[0.03 µs measured] lock_table_.unlock()   LFM release  → return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89320"/>
            <a:ext cx="7772400" cy="292608"/>
          </a:xfrm>
          <a:prstGeom prst="roundRect">
            <a:avLst/>
          </a:prstGeom>
          <a:solidFill>
            <a:srgbClr val="FFF49C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l"/>
            <a:r>
              <a:rPr sz="1000" b="1">
                <a:solidFill>
                  <a:srgbClr val="8C3200"/>
                </a:solidFill>
              </a:rPr>
              <a:t>End-to-end:  KV=1024 T=64 ≈ 33 µs avg  (C1 lock = 76% · C0 + C5 = 19% · others &lt; 5%)   |   uncontested T=1 ≈ 6 µs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6355080"/>
            <a:ext cx="7772400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E65100"/>
                </a:solidFill>
              </a:rPr>
              <a:t>╌╌▶  C*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79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9A825"/>
                </a:solidFill>
              </a:rPr>
              <a:t>★ Linearization (C5 epoch)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</a:rPr>
              <a:t>● Cross-host blocking (C1 LFM)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355080"/>
            <a:ext cx="38404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r"/>
            <a:r>
              <a:rPr sz="1100" b="1">
                <a:solidFill>
                  <a:srgbClr val="8C3200"/>
                </a:solidFill>
              </a:rPr>
              <a:t>7 steps · 1 actor · 1 blocking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54FC2"/>
                </a:solidFill>
              </a:rPr>
              <a:t>Protocol A — Read path: search(K=1024 B) cross-host miss path, T=64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704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i="1">
                <a:solidFill>
                  <a:srgbClr val="9E9E9E"/>
                </a:solidFill>
              </a:rPr>
              <a:t>16 narrative steps · 4 actors · per-step latency in [µs]  (early-exit branches at A2r, A3r short-circuit the path)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59" y="1188720"/>
            <a:ext cx="2286000" cy="411480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65C0"/>
                </a:solidFill>
              </a:rPr>
              <a:t>host 0  worker (caller)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188720"/>
            <a:ext cx="2286000" cy="411480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65C0"/>
                </a:solidFill>
              </a:rPr>
              <a:t>TLS L1
(private DRAM)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188720"/>
            <a:ext cx="2286000" cy="411480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65C0"/>
                </a:solidFill>
              </a:rPr>
              <a:t>L2 KvCachePool
(MAP_SHARED DRAM, seqlock CAS)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188720"/>
            <a:ext cx="2286000" cy="41148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4FC2"/>
                </a:solidFill>
              </a:rPr>
              <a:t>host 1  ReadReceiver (cpu 67)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60" y="1188720"/>
            <a:ext cx="1645920" cy="457200"/>
          </a:xfrm>
          <a:prstGeom prst="roundRect">
            <a:avLst/>
          </a:prstGeom>
          <a:solidFill>
            <a:srgbClr val="FFF3E0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8C3200"/>
                </a:solidFill>
              </a:rPr>
              <a:t>ReadStaging[0][1]
(CXL arena)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2648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0684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4712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33856" y="16367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39" y="1691639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[0.05 µs est] enter search(K); compute bucket_idx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2029967"/>
            <a:ext cx="242316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45435" y="1883663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A2r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699" y="1773935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[0.05 µs est] tls_lookup: bucket_epoch.load + compare  ★ on hit: return ~80 ns (~18% of reads)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2276856"/>
            <a:ext cx="484632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557015" y="2130551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A3r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79" y="2020824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[0.5 µs measured R2hit/miss] cache_pool_lookup: seqlock CAS  ★ on hit: return ~7 µs (~64% of reads incl memcpy)</a:t>
            </a:r>
          </a:p>
        </p:txBody>
      </p:sp>
      <p:sp>
        <p:nvSpPr>
          <p:cNvPr id="22" name="Oval 21"/>
          <p:cNvSpPr/>
          <p:nvPr/>
        </p:nvSpPr>
        <p:spPr>
          <a:xfrm>
            <a:off x="1133856" y="2377439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A4r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39" y="2432303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[0.1 µs est] L2 miss → my_epoch_at_send = bucket_epoch.load  (C13 tag)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80160" y="2770632"/>
            <a:ext cx="996696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117336" y="2624327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A5r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514600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[0.1 µs est] staging.ready_op_id = 0; flush; sfence  (clear prior)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80160" y="3017520"/>
            <a:ext cx="77266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997196" y="2871215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A6r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0460" y="2761487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[1.4 µs est] ReadRing[0][1].tail.fetch_add(1)  CXL atomic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80160" y="3264408"/>
            <a:ext cx="77266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997196" y="3118103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A7r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80460" y="3008376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[0.1 µs est] write ReadEntry{key, req_op_id}; flush; sfence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80160" y="3511296"/>
            <a:ext cx="996696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117336" y="3364991"/>
            <a:ext cx="292608" cy="292608"/>
          </a:xfrm>
          <a:prstGeom prst="ellipse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A8r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255263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[~14 µs blocked  measured R3] worker spin on staging.ready_op_id  (200 ms cap)</a:t>
            </a:r>
          </a:p>
        </p:txBody>
      </p:sp>
      <p:sp>
        <p:nvSpPr>
          <p:cNvPr id="36" name="Oval 35"/>
          <p:cNvSpPr/>
          <p:nvPr/>
        </p:nvSpPr>
        <p:spPr>
          <a:xfrm>
            <a:off x="8860536" y="3611879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A9r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3666744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[1.5 µs est] ReadReceiver poll ReadRing.tail; reads ReadEntry</a:t>
            </a:r>
          </a:p>
        </p:txBody>
      </p:sp>
      <p:sp>
        <p:nvSpPr>
          <p:cNvPr id="38" name="Oval 37"/>
          <p:cNvSpPr/>
          <p:nvPr/>
        </p:nvSpPr>
        <p:spPr>
          <a:xfrm>
            <a:off x="8860536" y="3858767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A10r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3913631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[5 µs est] flush bucket + scan + acquire spinlock + sharer_bitmap |= (1&lt;&lt;src)  ★ peer-visible state change</a:t>
            </a:r>
          </a:p>
        </p:txBody>
      </p:sp>
      <p:sp>
        <p:nvSpPr>
          <p:cNvPr id="40" name="Oval 39"/>
          <p:cNvSpPr/>
          <p:nvPr/>
        </p:nvSpPr>
        <p:spPr>
          <a:xfrm>
            <a:off x="8860536" y="4105655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A11r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19" y="4160519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[5 µs est] pool-&gt;read(blk_off, 4) → value_len; pool-&gt;read(blk_off+4, 1024)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06840" y="4498847"/>
            <a:ext cx="22402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980676" y="4352543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A12r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3940" y="4242815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[1.0 µs est] write staging.value_bytes + lookup_epoch (C13 tag) + status; flush 16 CL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06840" y="4745735"/>
            <a:ext cx="22402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980676" y="4599431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A13r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3940" y="4837175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[0.07 µs est] ★ staging.ready_op_id = req_op_id ★  (release-publish)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280160" y="4992623"/>
            <a:ext cx="996696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117336" y="4846319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A14r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5084063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[&lt; 0.1 µs est] worker A8r spin observes ready_op_id  → break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97863" y="3465576"/>
            <a:ext cx="164592" cy="1737359"/>
          </a:xfrm>
          <a:prstGeom prst="rect">
            <a:avLst/>
          </a:prstGeom>
          <a:solidFill>
            <a:srgbClr val="FFCDD2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33856" y="5093207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A15r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39" y="5148071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[0.4 µs measured R4] C13 validate: lookup_epoch &gt;= my_epoch_at_send; memcpy value_bytes from staging</a:t>
            </a:r>
          </a:p>
        </p:txBody>
      </p:sp>
      <p:sp>
        <p:nvSpPr>
          <p:cNvPr id="54" name="Oval 53"/>
          <p:cNvSpPr/>
          <p:nvPr/>
        </p:nvSpPr>
        <p:spPr>
          <a:xfrm>
            <a:off x="1133856" y="5340095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A16r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3039" y="5394959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[1.1 µs measured R6+misc] cache_pool_insert (L2); tls_insert (L1); return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5989320"/>
            <a:ext cx="7772400" cy="292608"/>
          </a:xfrm>
          <a:prstGeom prst="roundRect">
            <a:avLst/>
          </a:prstGeom>
          <a:solidFill>
            <a:srgbClr val="FFF49C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l"/>
            <a:r>
              <a:rPr sz="1000" b="1">
                <a:solidFill>
                  <a:srgbClr val="0D327D"/>
                </a:solidFill>
              </a:rPr>
              <a:t>End-to-end:  TLS hit  ≈ 80 ns (18%)  |  L2 hit  ≈ 7 µs (64%)  |  owner-self miss  ≈ 10 µs (17%)  |  cross-host miss  ≈ 22 µs (0.2%)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" y="6355080"/>
            <a:ext cx="7772400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154FC2"/>
                </a:solidFill>
              </a:rPr>
              <a:t>● A*r step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79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</a:rPr>
              <a:t>● Cross-host blocking (A8r)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9A825"/>
                </a:solidFill>
              </a:rPr>
              <a:t>★ Linearization (A2r, A3r, A10r, A13r, A15r)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6355080"/>
            <a:ext cx="38404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r"/>
            <a:r>
              <a:rPr sz="1100" b="1">
                <a:solidFill>
                  <a:srgbClr val="0D327D"/>
                </a:solidFill>
              </a:rPr>
              <a:t>16 steps · 4 actors · 1 blocking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54FC2"/>
                </a:solidFill>
              </a:rPr>
              <a:t>Protocol A — Read path WITHOUT TLS L1 (pre-iter-10A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704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i="1">
                <a:solidFill>
                  <a:srgbClr val="9E9E9E"/>
                </a:solidFill>
              </a:rPr>
              <a:t>15 narrative steps · 3 actors · per-step latency in [µs] · every read pays the L2 seqlock CAS + ~7 µs value_bytes memcpy under T=64 MESI ping-pong (no 80 ns TLS short-circuit)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188720"/>
            <a:ext cx="2560320" cy="411480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65C0"/>
                </a:solidFill>
              </a:rPr>
              <a:t>host 0  worker (caller)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188720"/>
            <a:ext cx="2560320" cy="411480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65C0"/>
                </a:solidFill>
              </a:rPr>
              <a:t>L2 KvCachePool
(MAP_SHARED DRAM, seqlock CAS)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2560320" cy="41148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4FC2"/>
                </a:solidFill>
              </a:rPr>
              <a:t>host 1  ReadReceiver (cpu 67)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1188720"/>
            <a:ext cx="1645920" cy="457200"/>
          </a:xfrm>
          <a:prstGeom prst="roundRect">
            <a:avLst/>
          </a:prstGeom>
          <a:solidFill>
            <a:srgbClr val="FFF3E0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8C3200"/>
                </a:solidFill>
              </a:rPr>
              <a:t>ReadStaging[0][1]
(CXL arena)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9536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247120" y="1691640"/>
            <a:ext cx="0" cy="429768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16736" y="16824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37360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[0.05 µs est] enter search(K); compute bucket_idx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2084832"/>
            <a:ext cx="38404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236976" y="1938528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A2r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828800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[~7 µs measured KV=1024] cache_pool_lookup: seqlock CAS read of L2 entry  ★ on hit: return (~82% of reads, KV memcpy under MESI ping-pong)</a:t>
            </a:r>
          </a:p>
        </p:txBody>
      </p:sp>
      <p:sp>
        <p:nvSpPr>
          <p:cNvPr id="17" name="Oval 16"/>
          <p:cNvSpPr/>
          <p:nvPr/>
        </p:nvSpPr>
        <p:spPr>
          <a:xfrm>
            <a:off x="1316736" y="219456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A3r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249424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[0.1 µs est] L2 miss → my_epoch_at_send = bucket_epoch.load  (C13 tag)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63040" y="2596896"/>
            <a:ext cx="97840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208776" y="245059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A4r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340864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[0.1 µs est] staging.ready_op_id = 0; flush; sfence  (clear prior)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63040" y="2852928"/>
            <a:ext cx="713232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882896" y="270662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A5r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596896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[1.4 µs est] ReadRing[0][1].tail.fetch_add(1)  CXL atomic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63040" y="3108960"/>
            <a:ext cx="713232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82896" y="29626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A6r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85292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[0.1 µs est] write ReadEntry{key, req_op_id}; flush; sfence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63040" y="3364992"/>
            <a:ext cx="97840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208776" y="3218688"/>
            <a:ext cx="292608" cy="292608"/>
          </a:xfrm>
          <a:prstGeom prst="ellipse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A7r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108960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[~14 µs blocked measured R3] worker spin on staging.ready_op_id  (200 ms cap)</a:t>
            </a:r>
          </a:p>
        </p:txBody>
      </p:sp>
      <p:sp>
        <p:nvSpPr>
          <p:cNvPr id="31" name="Oval 30"/>
          <p:cNvSpPr/>
          <p:nvPr/>
        </p:nvSpPr>
        <p:spPr>
          <a:xfrm>
            <a:off x="8449056" y="34747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A8r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529584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[1.5 µs est] ReadReceiver poll ReadRing.tail; reads ReadEntry</a:t>
            </a:r>
          </a:p>
        </p:txBody>
      </p:sp>
      <p:sp>
        <p:nvSpPr>
          <p:cNvPr id="33" name="Oval 32"/>
          <p:cNvSpPr/>
          <p:nvPr/>
        </p:nvSpPr>
        <p:spPr>
          <a:xfrm>
            <a:off x="8449056" y="3730752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A9r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785616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[5 µs est] flush bucket + scan + acquire spinlock + sharer_bitmap |= (1&lt;&lt;src)  ★ peer-visible state change</a:t>
            </a:r>
          </a:p>
        </p:txBody>
      </p:sp>
      <p:sp>
        <p:nvSpPr>
          <p:cNvPr id="35" name="Oval 34"/>
          <p:cNvSpPr/>
          <p:nvPr/>
        </p:nvSpPr>
        <p:spPr>
          <a:xfrm>
            <a:off x="8449056" y="398678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A10r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041648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[5 µs est] pool-&gt;read(blk_off, 4) → value_len; pool-&gt;read(blk_off+4, 1024)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95360" y="4389120"/>
            <a:ext cx="265176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774936" y="42428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A11r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13308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[1.0 µs est] write staging.value_bytes + lookup_epoch (C13) + status; flush 16 CL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95360" y="4645152"/>
            <a:ext cx="265176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774936" y="4498848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A12r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736592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[0.07 µs est] ★ staging.ready_op_id = req_op_id ★  (release-publish)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463040" y="4901184"/>
            <a:ext cx="9784080" cy="0"/>
          </a:xfrm>
          <a:prstGeom prst="line">
            <a:avLst/>
          </a:prstGeom>
          <a:ln w="20320">
            <a:solidFill>
              <a:srgbClr val="154FC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208776" y="47548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A13r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992624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[&lt; 0.1 µs est] worker A7r spin observes ready_op_id  → break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80744" y="3319272"/>
            <a:ext cx="164592" cy="1801368"/>
          </a:xfrm>
          <a:prstGeom prst="rect">
            <a:avLst/>
          </a:prstGeom>
          <a:solidFill>
            <a:srgbClr val="FFCDD2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16736" y="5010912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A14r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45920" y="5065776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[0.4 µs measured R4] C13 validate: lookup_epoch &gt;= my_epoch_at_send; memcpy value_bytes from staging</a:t>
            </a:r>
          </a:p>
        </p:txBody>
      </p:sp>
      <p:sp>
        <p:nvSpPr>
          <p:cNvPr id="49" name="Oval 48"/>
          <p:cNvSpPr/>
          <p:nvPr/>
        </p:nvSpPr>
        <p:spPr>
          <a:xfrm>
            <a:off x="1316736" y="526694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54FC2"/>
                </a:solidFill>
              </a:rPr>
              <a:t>A15r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20" y="5321808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154FC2"/>
                </a:solidFill>
              </a:rPr>
              <a:t>[1.0 µs measured R6+misc] cache_pool_insert (L2 only — no TLS L1 to populate); return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989320"/>
            <a:ext cx="7772400" cy="292608"/>
          </a:xfrm>
          <a:prstGeom prst="roundRect">
            <a:avLst/>
          </a:prstGeom>
          <a:solidFill>
            <a:srgbClr val="FFF49C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l"/>
            <a:r>
              <a:rPr sz="1000" b="1">
                <a:solidFill>
                  <a:srgbClr val="0D327D"/>
                </a:solidFill>
              </a:rPr>
              <a:t>End-to-end:  L2 hit ≈ 7 µs (82%, no TLS short-circuit)  |  owner-self miss ≈ 10 µs (17%)  |  cross-host miss ≈ 22 µs (0.2%)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6355080"/>
            <a:ext cx="7772400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154FC2"/>
                </a:solidFill>
              </a:rPr>
              <a:t>● A*r step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79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</a:rPr>
              <a:t>● Cross-host blocking (A7r)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9A825"/>
                </a:solidFill>
              </a:rPr>
              <a:t>★ Linearization (A2r, A9r, A12r, A14r)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355080"/>
            <a:ext cx="38404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r"/>
            <a:r>
              <a:rPr sz="1100" b="1">
                <a:solidFill>
                  <a:srgbClr val="0D327D"/>
                </a:solidFill>
              </a:rPr>
              <a:t>15 steps · 3 actors · 1 blocking point  (NO TLS)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E65100"/>
                </a:solidFill>
              </a:rPr>
              <a:t>Protocol C — Read path: search(K=1024 B) under LRC read-singleshot, T=64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704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i="1">
                <a:solidFill>
                  <a:srgbClr val="9E9E9E"/>
                </a:solidFill>
              </a:rPr>
              <a:t>5 narrative steps · 1 actor · per-step latency in [µs]  (C inferred from CXL primitives — no search() DECOMP_REC probe)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188720"/>
            <a:ext cx="2926080" cy="411480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65C0"/>
                </a:solidFill>
              </a:rPr>
              <a:t>host 0  worker (caller)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1600200"/>
            <a:ext cx="0" cy="4389120"/>
          </a:xfrm>
          <a:prstGeom prst="line">
            <a:avLst/>
          </a:prstGeom>
          <a:ln w="7620">
            <a:solidFill>
              <a:srgbClr val="9E9E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0" y="1188720"/>
            <a:ext cx="5852160" cy="411480"/>
          </a:xfrm>
          <a:prstGeom prst="roundRect">
            <a:avLst/>
          </a:prstGeom>
          <a:solidFill>
            <a:srgbClr val="FFF3E0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100" b="1">
                <a:solidFill>
                  <a:srgbClr val="8C3200"/>
                </a:solidFill>
              </a:rPr>
              <a:t>CXL state read on the search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486400" cy="36576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0D327D"/>
                </a:solidFill>
              </a:rPr>
              <a:t>BucketLockEntry.write_epoch (cacheline_u64) — read seqlock 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48840"/>
            <a:ext cx="5486400" cy="36576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0D327D"/>
                </a:solidFill>
              </a:rPr>
              <a:t>CxlKvBucket  •  flush 2 cachelines, scan 7 slots in L1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606040"/>
            <a:ext cx="5486400" cy="365760"/>
          </a:xfrm>
          <a:prstGeom prst="round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0D327D"/>
                </a:solidFill>
              </a:rPr>
              <a:t>KvBlockPool  •  1024 B block holding value bytes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063240"/>
            <a:ext cx="5486400" cy="365760"/>
          </a:xfrm>
          <a:prstGeom prst="roundRect">
            <a:avLst/>
          </a:prstGeom>
          <a:solidFill>
            <a:srgbClr val="FFE0B2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8C3200"/>
                </a:solidFill>
              </a:rPr>
              <a:t>DRAM bucket cache (optional, per-process) — cache_buckets_, cache_epoch_</a:t>
            </a:r>
          </a:p>
        </p:txBody>
      </p:sp>
      <p:sp>
        <p:nvSpPr>
          <p:cNvPr id="11" name="Oval 10"/>
          <p:cNvSpPr/>
          <p:nvPr/>
        </p:nvSpPr>
        <p:spPr>
          <a:xfrm>
            <a:off x="2048255" y="35112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65100"/>
                </a:solidFill>
              </a:rPr>
              <a:t>C1r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566160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[0.015 µs est] bucket_idx = fnv1a_u64(K) % B; entry = lock_table_.entry(idx)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402336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014215" y="3877056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C2r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376732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[0.7 µs est] load CXL write_epoch (1 LD-CXL)  ★ if == cached_epoch_[idx]: scan DRAM copy + return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94560" y="438912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014215" y="42428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65100"/>
                </a:solidFill>
              </a:rPr>
              <a:t>C3r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413308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[0.15 µs est] cache miss → flush_line(slots[0]) + flush_line(slots[4]) + mfence</a:t>
            </a:r>
          </a:p>
        </p:txBody>
      </p:sp>
      <p:sp>
        <p:nvSpPr>
          <p:cNvPr id="19" name="Oval 18"/>
          <p:cNvSpPr/>
          <p:nvPr/>
        </p:nvSpPr>
        <p:spPr>
          <a:xfrm>
            <a:off x="2048255" y="4608576"/>
            <a:ext cx="292608" cy="292608"/>
          </a:xfrm>
          <a:prstGeom prst="ellipse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333333"/>
                </a:solidFill>
              </a:rPr>
              <a:t>C4r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663440"/>
            <a:ext cx="274320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[0.05 µs est] scan 7 slots in L1; get slot.value (= blk_off)  ★ NO post-scan revalidation (LRC)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94560" y="5120640"/>
            <a:ext cx="3931920" cy="0"/>
          </a:xfrm>
          <a:prstGeom prst="line">
            <a:avLst/>
          </a:prstGeom>
          <a:ln w="20320">
            <a:solidFill>
              <a:srgbClr val="E6510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014215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E65100"/>
                </a:solidFill>
              </a:rPr>
              <a:t>C5r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4864608"/>
            <a:ext cx="29260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5400" rIns="25400" tIns="0" bIns="0">
            <a:spAutoFit/>
          </a:bodyPr>
          <a:lstStyle/>
          <a:p>
            <a:pPr algn="l"/>
            <a:r>
              <a:rPr sz="850" b="1" i="0">
                <a:solidFill>
                  <a:srgbClr val="E65100"/>
                </a:solidFill>
              </a:rPr>
              <a:t>[1.0 µs est] blockpool-&gt;read(blk_off, 1024)  (16 CL × LD-CXL for value bytes)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989320"/>
            <a:ext cx="7772400" cy="292608"/>
          </a:xfrm>
          <a:prstGeom prst="roundRect">
            <a:avLst/>
          </a:prstGeom>
          <a:solidFill>
            <a:srgbClr val="FFF49C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l"/>
            <a:r>
              <a:rPr sz="1000" b="1">
                <a:solidFill>
                  <a:srgbClr val="8C3200"/>
                </a:solidFill>
              </a:rPr>
              <a:t>End-to-end:  cache hit + value read  ≈ 1.7 µs  |  cache miss + value read  ≈ 1.2 µs  |  no cross-host coordination, every read pays roughly the same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355080"/>
            <a:ext cx="7772400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E65100"/>
                </a:solidFill>
              </a:rPr>
              <a:t>╌╌▶  C*r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79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9A825"/>
                </a:solidFill>
              </a:rPr>
              <a:t>★ Linearization (C2r, C4r)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</a:rPr>
              <a:t>● Cross-host blocking (none!)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639165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355080"/>
            <a:ext cx="38404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r"/>
            <a:r>
              <a:rPr sz="1100" b="1">
                <a:solidFill>
                  <a:srgbClr val="8C3200"/>
                </a:solidFill>
              </a:rPr>
              <a:t>5 steps · 1 actor · 0 blocking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333333"/>
                </a:solidFill>
              </a:rPr>
              <a:t>Write path — measured per-stage latency (T=64 workload-A)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704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i="1">
                <a:solidFill>
                  <a:srgbClr val="9E9E9E"/>
                </a:solidFill>
              </a:rPr>
              <a:t>Source: A from iter-11A Phase 5 FUSEE_PROBE=1 capture; C from latency_decomp_C iter-2 per-slot LFM build  •  Yellow = linearization point  •  Red = dominant cost stage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58521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286000"/>
                <a:gridCol w="502920"/>
                <a:gridCol w="594360"/>
                <a:gridCol w="502920"/>
                <a:gridCol w="1463040"/>
              </a:tblGrid>
              <a:tr h="218440"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p50 µs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 µs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p99 µs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Entry + bucket flush + mfence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4.50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43.6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Bucket scan + DRAM spinlock acquire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Re-flush + read sharer_bitmap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Enter invalidate broadcast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per remote sharer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I1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InvalRing.tail.fetch_add (RMW-CXL)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cross-host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I2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Write InvalEntry + flush + sfence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3.45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3.70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5.29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cross-host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I3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(peer) Dispatcher sees new 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I4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(peer) Read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I5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(peer) cache_pool_set_stale (DRAM 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I7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(producer) Observes 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I8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Free InvalRing 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6.38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End of inval broadcast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per remote sharer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pool-&gt;alloc (RMW-CXL bump cursor)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pool-&gt;write (memcpy + per-CL flush)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8 cachelines KV=512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W9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COMMIT POINT: publish_slot_cow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0.04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★ linearization #1 ★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W10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</a:rPr>
                        <a:t>directory + cache_pool_insert + epoch++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 b="1">
                          <a:solidFill>
                            <a:srgbClr val="333333"/>
                          </a:solidFill>
                        </a:rPr>
                        <a:t>3.56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 b="1">
                          <a:solidFill>
                            <a:srgbClr val="333333"/>
                          </a:solidFill>
                        </a:rPr>
                        <a:t>6.22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 b="1">
                          <a:solidFill>
                            <a:srgbClr val="333333"/>
                          </a:solidFill>
                        </a:rPr>
                        <a:t>18.1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333333"/>
                          </a:solidFill>
                        </a:rPr>
                        <a:t>★ DOMINANT ★ + lin. #2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21844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 b="1">
                          <a:solidFill>
                            <a:srgbClr val="154FC2"/>
                          </a:solidFill>
                        </a:rPr>
                        <a:t>W12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>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800">
                          <a:solidFill>
                            <a:srgbClr val="333333"/>
                          </a:solidFill>
                        </a:rPr>
                        <a:t>9.05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8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09728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03120"/>
                <a:gridCol w="502920"/>
                <a:gridCol w="502920"/>
                <a:gridCol w="502920"/>
                <a:gridCol w="1554480"/>
              </a:tblGrid>
              <a:tr h="261257"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p50 µs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 µs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p99 µs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lock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</a:rPr>
                        <a:t>LFM acquire (CROSS-HOST blocking)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</a:rPr>
                        <a:t>9.0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</a:rPr>
                        <a:t>25.0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</a:rPr>
                        <a:t>427.1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</a:rPr>
                        <a:t>★ DOMINANT ★ 84% of total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flush 2 CL + mfence + scan 7 slots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1.40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Phase-2.6 flush-collapse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publish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slot.value = V + flush + sfence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epoch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__atomic_add_fetch(write_epoch) + flush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~4.0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4.07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★ linearization #1 ★ CXL atomic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unlock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LFM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end-to-end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13.4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30.6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439.6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91440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D327D"/>
                </a:solidFill>
              </a:rPr>
              <a:t>Protocol A — 17 distinct stages (W1-W12 + I1-I8 sub-path)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914400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C3200"/>
                </a:solidFill>
              </a:rPr>
              <a:t>Protocol C — 6 stages total (Lock/Scan/Publish/Epoch/Unlock + Total)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108960"/>
            <a:ext cx="5577840" cy="2011680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63500" bIns="63500" wrap="square"/>
          <a:lstStyle/>
          <a:p>
            <a:pPr algn="ctr"/>
            <a:r>
              <a:rPr sz="1100" b="1">
                <a:solidFill>
                  <a:srgbClr val="333333"/>
                </a:solidFill>
              </a:rPr>
              <a:t>Mean per-op cost</a:t>
            </a:r>
          </a:p>
          <a:p>
            <a:r>
              <a:rPr sz="1000">
                <a:solidFill>
                  <a:srgbClr val="0D327D"/>
                </a:solidFill>
              </a:rPr>
              <a:t>  Protocol A (no remote sharer):    ~ 13 µs/op</a:t>
            </a:r>
          </a:p>
          <a:p>
            <a:r>
              <a:rPr sz="1000">
                <a:solidFill>
                  <a:srgbClr val="0D327D"/>
                </a:solidFill>
              </a:rPr>
              <a:t>  Protocol A (with remote sharer):  ~ 19 µs/op  (+ inval path I1-I8)</a:t>
            </a:r>
          </a:p>
          <a:p>
            <a:r>
              <a:rPr sz="1000">
                <a:solidFill>
                  <a:srgbClr val="8C3200"/>
                </a:solidFill>
              </a:rPr>
              <a:t>  Protocol C (always):              30.6 µs/op  (84% in lock alone)</a:t>
            </a:r>
          </a:p>
          <a:p>
            <a:r>
              <a:rPr sz="100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333333"/>
                </a:solidFill>
              </a:rPr>
              <a:t>Dominant stage shape:</a:t>
            </a:r>
          </a:p>
          <a:p>
            <a:r>
              <a:rPr sz="1000">
                <a:solidFill>
                  <a:srgbClr val="333333"/>
                </a:solidFill>
              </a:rPr>
              <a:t>  A: spread across 12 stages (W10 = 6.2 µs largest, MESI on shared L2 insert)</a:t>
            </a:r>
          </a:p>
          <a:p>
            <a:r>
              <a:rPr sz="1000">
                <a:solidFill>
                  <a:srgbClr val="333333"/>
                </a:solidFill>
              </a:rPr>
              <a:t>  C: concentrated in 1 stage (LFM lock acquire under cross-host Zipf hot-bucket)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333333"/>
                </a:solidFill>
              </a:rPr>
              <a:t>Read path — measured per-stage latency (T=64 workload-A)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704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i="1">
                <a:solidFill>
                  <a:srgbClr val="9E9E9E"/>
                </a:solidFill>
              </a:rPr>
              <a:t>A measured from iter-11A Phase 5; C inferred from primitives (no historical search-side decomp run for C)  •  Probabilities by outcome shown for 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5989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94560"/>
                <a:gridCol w="502920"/>
                <a:gridCol w="548640"/>
                <a:gridCol w="502920"/>
                <a:gridCol w="1463040"/>
              </a:tblGrid>
              <a:tr h="251460"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p50 µs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 µs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p99 µs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54FC2"/>
                    </a:solidFill>
                  </a:tcPr>
                </a:tc>
              </a:tr>
              <a:tr h="25146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154FC2"/>
                          </a:solidFill>
                        </a:rPr>
                        <a:t>R0_tls_hit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TLS L1 hit return (when fresh)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0.025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0.079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★ 80 ns ideal ★ (~18% of reads)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</a:tr>
              <a:tr h="25146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154FC2"/>
                          </a:solidFill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Entry + bucket_epoch.load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5.26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16.5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high mean from shared-CL 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154FC2"/>
                          </a:solidFill>
                        </a:rPr>
                        <a:t>R2hit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L2 cache_pool seqlock CAS read hit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0.079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0.149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~64% of reads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</a:tr>
              <a:tr h="25146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154FC2"/>
                          </a:solidFill>
                        </a:rPr>
                        <a:t>R2miss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L2 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2.80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3.07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~17% of 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154FC2"/>
                          </a:solidFill>
                        </a:rPr>
                        <a:t>R3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</a:rPr>
                        <a:t>forward_read_direct (CROSS-HOST)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</a:rPr>
                        <a:t>13.6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</a:rPr>
                        <a:t>14.0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</a:rPr>
                        <a:t>26.4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</a:rPr>
                        <a:t>★ DOMINANT ★ (~0.2% but tail)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25146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154FC2"/>
                          </a:solidFill>
                        </a:rPr>
                        <a:t>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C13 validate + memcpy from staging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154FC2"/>
                          </a:solidFill>
                        </a:rPr>
                        <a:t>R6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5.82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55080" y="1097280"/>
          <a:ext cx="5806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783080"/>
                <a:gridCol w="457200"/>
                <a:gridCol w="502920"/>
                <a:gridCol w="411480"/>
                <a:gridCol w="1325880"/>
              </a:tblGrid>
              <a:tr h="261257"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p50 µs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 µs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p99 µs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 lIns="38100" rIns="381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C1r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hash(K) → bucket_idx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inferred from primitives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C2r (cache hit)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CACHELINE_LOAD write_epoch + DRAM scan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opt DRAM cache hit path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C3r (cache miss)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flush 2 CL + mfence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2 flush_line@66ns + mfence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C4r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scan 7 slots in L1 (now fresh)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TOTAL (cache hit)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best case end-to-end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49C"/>
                    </a:solidFill>
                  </a:tcPr>
                </a:tc>
              </a:tr>
              <a:tr h="261258"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 b="1">
                          <a:solidFill>
                            <a:srgbClr val="E65100"/>
                          </a:solidFill>
                        </a:rPr>
                        <a:t>TOTAL (cache miss)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flush + scan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~1.0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r"/>
                      <a:r>
                        <a:rPr sz="9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12700" bIns="12700" wrap="square"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383280"/>
            <a:ext cx="5989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D327D"/>
                </a:solidFill>
              </a:rPr>
              <a:t>Protocol A read-path outcome distribution (T=64 wl-A)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49039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33333"/>
                </a:solidFill>
              </a:rPr>
              <a:t>TLS L1 hit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3794759"/>
            <a:ext cx="2286000" cy="1645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5960" y="3794759"/>
            <a:ext cx="969867" cy="164592"/>
          </a:xfrm>
          <a:prstGeom prst="rect">
            <a:avLst/>
          </a:prstGeom>
          <a:solidFill>
            <a:srgbClr val="154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749039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~18%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749039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D327D"/>
                </a:solidFill>
              </a:rPr>
              <a:t>~0.08 µs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023359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33333"/>
                </a:solidFill>
              </a:rPr>
              <a:t>L2 cache_pool hit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4069079"/>
            <a:ext cx="2286000" cy="1645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4069079"/>
            <a:ext cx="1828800" cy="164592"/>
          </a:xfrm>
          <a:prstGeom prst="rect">
            <a:avLst/>
          </a:prstGeom>
          <a:solidFill>
            <a:srgbClr val="154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023359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~64%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023359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D327D"/>
                </a:solidFill>
              </a:rPr>
              <a:t>~7 µs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297679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33333"/>
                </a:solidFill>
              </a:rPr>
              <a:t>Owner-self CXL fetch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4343399"/>
            <a:ext cx="2286000" cy="1645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5960" y="4343399"/>
            <a:ext cx="942541" cy="164592"/>
          </a:xfrm>
          <a:prstGeom prst="rect">
            <a:avLst/>
          </a:prstGeom>
          <a:solidFill>
            <a:srgbClr val="154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4297679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~17%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297679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D327D"/>
                </a:solidFill>
              </a:rPr>
              <a:t>~10 µs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571999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33333"/>
                </a:solidFill>
              </a:rPr>
              <a:t>Cross-host miss (R3+R4)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4617719"/>
            <a:ext cx="2286000" cy="1645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4617719"/>
            <a:ext cx="102233" cy="164592"/>
          </a:xfrm>
          <a:prstGeom prst="rect">
            <a:avLst/>
          </a:prstGeom>
          <a:solidFill>
            <a:srgbClr val="154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571999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~0.2%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571999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D327D"/>
                </a:solidFill>
              </a:rPr>
              <a:t>~22 µs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383280"/>
            <a:ext cx="5532120" cy="3108960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63500" bIns="63500" wrap="square"/>
          <a:lstStyle/>
          <a:p>
            <a:pPr algn="ctr"/>
            <a:r>
              <a:rPr sz="1100" b="1">
                <a:solidFill>
                  <a:srgbClr val="333333"/>
                </a:solidFill>
              </a:rPr>
              <a:t>Reader best-case</a:t>
            </a:r>
          </a:p>
          <a:p>
            <a:r>
              <a:rPr sz="1000" b="0">
                <a:solidFill>
                  <a:srgbClr val="0D327D"/>
                </a:solidFill>
              </a:rPr>
              <a:t>  A (TLS L1 hit):      ~ 80 ns</a:t>
            </a:r>
          </a:p>
          <a:p>
            <a:r>
              <a:rPr sz="1000" b="0">
                <a:solidFill>
                  <a:srgbClr val="8C3200"/>
                </a:solidFill>
              </a:rPr>
              <a:t>  C (DRAM cache hit):  ~ 700 ns</a:t>
            </a:r>
          </a:p>
          <a:p>
            <a:r>
              <a:rPr sz="1000" b="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333333"/>
                </a:solidFill>
              </a:rPr>
              <a:t>Reader worst-case (cross-host miss)</a:t>
            </a:r>
          </a:p>
          <a:p>
            <a:r>
              <a:rPr sz="1000" b="0">
                <a:solidFill>
                  <a:srgbClr val="0D327D"/>
                </a:solidFill>
              </a:rPr>
              <a:t>  A: ~ 22 µs (R1+R2miss+R3+R4+R6)</a:t>
            </a:r>
          </a:p>
          <a:p>
            <a:r>
              <a:rPr sz="1000" b="0">
                <a:solidFill>
                  <a:srgbClr val="8C3200"/>
                </a:solidFill>
              </a:rPr>
              <a:t>  C: ~ 1 µs  (every read is a local flush+scan)</a:t>
            </a:r>
          </a:p>
          <a:p>
            <a:r>
              <a:rPr sz="1000" b="0">
                <a:solidFill>
                  <a:srgbClr val="333333"/>
                </a:solidFill>
              </a:rPr>
              <a:t/>
            </a:r>
          </a:p>
          <a:p>
            <a:r>
              <a:rPr sz="1100" b="1">
                <a:solidFill>
                  <a:srgbClr val="333333"/>
                </a:solidFill>
              </a:rPr>
              <a:t>Key insight</a:t>
            </a:r>
          </a:p>
          <a:p>
            <a:r>
              <a:rPr sz="1000" b="0">
                <a:solidFill>
                  <a:srgbClr val="333333"/>
                </a:solidFill>
              </a:rPr>
              <a:t>  Only TLS L1 hits beat C. Every other A path pays for L2 seqlock or cross-host coordination. C readers are near-CXL-physics regardless of contention.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333333"/>
                </a:solidFill>
              </a:rPr>
              <a:t>Protocol A vs C — stages × latency (T=64 KV=1024 workload-A)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704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i="1">
                <a:solidFill>
                  <a:srgbClr val="9E9E9E"/>
                </a:solidFill>
              </a:rPr>
              <a:t>Each row = one read/write path; each column = the n-th stage of that path. Yellow = linearization point · Red = dominant cost / blocking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417320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#2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#3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#4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7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5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1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7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1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267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039" y="1188720"/>
            <a:ext cx="594359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#16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01399" y="1188720"/>
            <a:ext cx="914400" cy="365760"/>
          </a:xfrm>
          <a:prstGeom prst="rect">
            <a:avLst/>
          </a:prstGeom>
          <a:solidFill>
            <a:srgbClr val="EEEEEE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End-to-end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554480"/>
            <a:ext cx="1417320" cy="1005840"/>
          </a:xfrm>
          <a:prstGeom prst="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4FC2"/>
                </a:solidFill>
              </a:rPr>
              <a:t>Protocol A — write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1.1 µs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A2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1.4 µs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A3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0.1 µs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1554480"/>
            <a:ext cx="594359" cy="100584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A4</a:t>
            </a:r>
          </a:p>
          <a:p>
            <a:pPr algn="ctr"/>
            <a:r>
              <a:rPr sz="750" b="1">
                <a:solidFill>
                  <a:srgbClr val="333333"/>
                </a:solidFill>
              </a:rPr>
              <a:t>
~22 spin µs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79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A5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1.5 µs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A6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5.0 µs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A7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1.65 µs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59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A8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3.7 µs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19" y="1554480"/>
            <a:ext cx="594359" cy="100584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A9</a:t>
            </a:r>
          </a:p>
          <a:p>
            <a:pPr algn="ctr"/>
            <a:r>
              <a:rPr sz="750" b="1">
                <a:solidFill>
                  <a:srgbClr val="333333"/>
                </a:solidFill>
              </a:rPr>
              <a:t>
~1.9 spin µs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79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A10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1.75 µs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155448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A11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0.03 µs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9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A12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0.07 µs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59" y="1554480"/>
            <a:ext cx="594359" cy="100584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A13</a:t>
            </a:r>
          </a:p>
          <a:p>
            <a:pPr algn="ctr"/>
            <a:r>
              <a:rPr sz="750" b="1">
                <a:solidFill>
                  <a:srgbClr val="333333"/>
                </a:solidFill>
              </a:rPr>
              <a:t>
10  ★W9 ★W10 µs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19" y="155448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A14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0.2 µs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79" y="155448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0607039" y="155448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11201399" y="1554480"/>
            <a:ext cx="914400" cy="1005840"/>
          </a:xfrm>
          <a:prstGeom prst="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4FC2"/>
                </a:solidFill>
              </a:rPr>
              <a:t>~22 µs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560320"/>
            <a:ext cx="1417320" cy="1005840"/>
          </a:xfrm>
          <a:prstGeom prst="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4FC2"/>
                </a:solidFill>
              </a:rPr>
              <a:t>Protocol A — read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40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0.05 µs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256032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A2r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0.05  ★TLS µs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256032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A3r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0.5  ★L2 µs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A4r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0.1 µs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79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A5r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0.1 µs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A6r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1.4 µs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7800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A7r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0.1 µs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59" y="2560320"/>
            <a:ext cx="594359" cy="100584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A8r</a:t>
            </a:r>
          </a:p>
          <a:p>
            <a:pPr algn="ctr"/>
            <a:r>
              <a:rPr sz="750" b="1">
                <a:solidFill>
                  <a:srgbClr val="333333"/>
                </a:solidFill>
              </a:rPr>
              <a:t>
~14 spin µs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19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A9r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1.5 µs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79" y="256032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A10r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5  ★bmap µs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35240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A11r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5 µs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599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A12r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1.0 µs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59" y="256032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A13r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0.07  ★pub µs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19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A14r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&lt;0.1 µs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12679" y="256032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A15r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0.4  ★C13 µs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07039" y="256032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154FC2"/>
                </a:solidFill>
              </a:rPr>
              <a:t>A16r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1.1 µs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01399" y="2560320"/>
            <a:ext cx="914400" cy="1005840"/>
          </a:xfrm>
          <a:prstGeom prst="rect">
            <a:avLst/>
          </a:prstGeom>
          <a:solidFill>
            <a:srgbClr val="C8DAFB"/>
          </a:solidFill>
          <a:ln w="15875">
            <a:solidFill>
              <a:srgbClr val="154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154FC2"/>
                </a:solidFill>
              </a:rPr>
              <a:t>~7 µs (L2 hit)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566160"/>
            <a:ext cx="1417320" cy="1005840"/>
          </a:xfrm>
          <a:prstGeom prst="rect">
            <a:avLst/>
          </a:prstGeom>
          <a:solidFill>
            <a:srgbClr val="FFE0B2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E65100"/>
                </a:solidFill>
              </a:rPr>
              <a:t>Protocol C — write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91640" y="356616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E65100"/>
                </a:solidFill>
              </a:rPr>
              <a:t>C0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2.4 µs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566160"/>
            <a:ext cx="594359" cy="100584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C1</a:t>
            </a:r>
          </a:p>
          <a:p>
            <a:pPr algn="ctr"/>
            <a:r>
              <a:rPr sz="750" b="1">
                <a:solidFill>
                  <a:srgbClr val="333333"/>
                </a:solidFill>
              </a:rPr>
              <a:t>
25.0 µs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80360" y="356616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E65100"/>
                </a:solidFill>
              </a:rPr>
              <a:t>C2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0.15 µs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0" y="356616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E65100"/>
                </a:solidFill>
              </a:rPr>
              <a:t>C3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1.25 µs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69079" y="356616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E65100"/>
                </a:solidFill>
              </a:rPr>
              <a:t>C4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0.02 µs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356616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C5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4.07  ★epoch µs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356616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E65100"/>
                </a:solidFill>
              </a:rPr>
              <a:t>C6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0.03 µs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59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6446519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7040879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7635240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8229599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8823959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9418319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10012679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10607039" y="356616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11201399" y="3566160"/>
            <a:ext cx="914400" cy="1005840"/>
          </a:xfrm>
          <a:prstGeom prst="rect">
            <a:avLst/>
          </a:prstGeom>
          <a:solidFill>
            <a:srgbClr val="FFE0B2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E65100"/>
                </a:solidFill>
              </a:rPr>
              <a:t>~33 µs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572000"/>
            <a:ext cx="1417320" cy="1005840"/>
          </a:xfrm>
          <a:prstGeom prst="rect">
            <a:avLst/>
          </a:prstGeom>
          <a:solidFill>
            <a:srgbClr val="FFE0B2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E65100"/>
                </a:solidFill>
              </a:rPr>
              <a:t>Protocol C — read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91640" y="457200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E65100"/>
                </a:solidFill>
              </a:rPr>
              <a:t>C1r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0.015 µs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0" y="457200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C2r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0.7  ★epoch µs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457200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E65100"/>
                </a:solidFill>
              </a:rPr>
              <a:t>C3r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0.15 µs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74720" y="4572000"/>
            <a:ext cx="594359" cy="1005840"/>
          </a:xfrm>
          <a:prstGeom prst="rect">
            <a:avLst/>
          </a:prstGeom>
          <a:solidFill>
            <a:srgbClr val="FFF49C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C4r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0.05  ★LRC µs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69079" y="4572000"/>
            <a:ext cx="59435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38100" bIns="38100" wrap="square"/>
          <a:lstStyle/>
          <a:p>
            <a:pPr algn="ctr"/>
            <a:r>
              <a:rPr sz="900" b="1">
                <a:solidFill>
                  <a:srgbClr val="E65100"/>
                </a:solidFill>
              </a:rPr>
              <a:t>C5r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
1.0 µs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5257800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5852159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6446519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7040879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7635240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8229599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8823959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9418319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0012679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10607039" y="4572000"/>
            <a:ext cx="59435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1201399" y="4572000"/>
            <a:ext cx="914400" cy="1005840"/>
          </a:xfrm>
          <a:prstGeom prst="rect">
            <a:avLst/>
          </a:prstGeom>
          <a:solidFill>
            <a:srgbClr val="FFE0B2"/>
          </a:solidFill>
          <a:ln w="1587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25400" bIns="25400" wrap="square"/>
          <a:lstStyle/>
          <a:p>
            <a:pPr algn="ctr"/>
            <a:r>
              <a:rPr sz="1000" b="1">
                <a:solidFill>
                  <a:srgbClr val="E65100"/>
                </a:solidFill>
              </a:rPr>
              <a:t>~1.7 µs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74320" y="5806440"/>
            <a:ext cx="7772400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584301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F9A825"/>
                </a:solidFill>
              </a:rPr>
              <a:t>★ Linearization point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40279" y="584301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</a:rPr>
              <a:t>★ Dominant cost / blocking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14800" y="584301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154FC2"/>
                </a:solidFill>
              </a:rPr>
              <a:t>A write: W10 cache_pool_insert MESI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89320" y="5843016"/>
            <a:ext cx="1828800" cy="292608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 algn="l"/>
            <a:r>
              <a:rPr sz="900" b="1">
                <a:solidFill>
                  <a:srgbClr val="E65100"/>
                </a:solidFill>
              </a:rPr>
              <a:t>C write: C1 LFM 25 µs 76%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