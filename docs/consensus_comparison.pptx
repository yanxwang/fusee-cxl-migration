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28600"/>
            <a:ext cx="12188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33333"/>
                </a:solidFill>
              </a:rPr>
              <a:t>Consensus Design Comparison: RDMA vs Old CXL vs New CXL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926080" y="1051560"/>
            <a:ext cx="3017520" cy="594360"/>
          </a:xfrm>
          <a:prstGeom prst="roundRect">
            <a:avLst/>
          </a:prstGeom>
          <a:solidFill>
            <a:srgbClr val="FFCDD2"/>
          </a:solidFill>
          <a:ln w="317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62828"/>
                </a:solidFill>
              </a:rPr>
              <a:t>RDMA FUSEE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35040" y="1051560"/>
            <a:ext cx="3017520" cy="594360"/>
          </a:xfrm>
          <a:prstGeom prst="roundRect">
            <a:avLst/>
          </a:prstGeom>
          <a:solidFill>
            <a:srgbClr val="E1BEE7"/>
          </a:solidFill>
          <a:ln w="3175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6A1B9A"/>
                </a:solidFill>
              </a:rPr>
              <a:t>Old CXL
(Propose-Vote-Commit)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0" y="1051560"/>
            <a:ext cx="3017520" cy="594360"/>
          </a:xfrm>
          <a:prstGeom prst="roundRect">
            <a:avLst/>
          </a:prstGeom>
          <a:solidFill>
            <a:srgbClr val="C8E6C9"/>
          </a:solidFill>
          <a:ln w="317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E7D32"/>
                </a:solidFill>
              </a:rPr>
              <a:t>New CXL
(Per-Slot LFM)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37360"/>
            <a:ext cx="2377440" cy="731519"/>
          </a:xfrm>
          <a:prstGeom prst="roundRect">
            <a:avLst/>
          </a:prstGeom>
          <a:solidFill>
            <a:srgbClr val="FFE0B2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</a:rPr>
              <a:t>Commit point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1737360"/>
            <a:ext cx="3017520" cy="731519"/>
          </a:xfrm>
          <a:prstGeom prst="roundRect">
            <a:avLst/>
          </a:prstGeom>
          <a:solidFill>
            <a:srgbClr val="F5F5F5"/>
          </a:solidFill>
          <a:ln w="1016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</a:rPr>
              <a:t>Step 6: CAS Primary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737360"/>
            <a:ext cx="3017520" cy="731519"/>
          </a:xfrm>
          <a:prstGeom prst="roundRect">
            <a:avLst/>
          </a:prstGeom>
          <a:solidFill>
            <a:srgbClr val="F5F5F5"/>
          </a:solidFill>
          <a:ln w="1016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</a:rPr>
              <a:t>Step 5: write status=COMMITTED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0" y="1737360"/>
            <a:ext cx="3017520" cy="731519"/>
          </a:xfrm>
          <a:prstGeom prst="roundRect">
            <a:avLst/>
          </a:prstGeom>
          <a:solidFill>
            <a:srgbClr val="C8E6C9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</a:rPr>
              <a:t>Step 5: write SlotLock.value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514600"/>
            <a:ext cx="2377440" cy="731519"/>
          </a:xfrm>
          <a:prstGeom prst="roundRect">
            <a:avLst/>
          </a:prstGeom>
          <a:solidFill>
            <a:srgbClr val="FFE0B2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</a:rPr>
              <a:t>Concurrency control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80" y="2514600"/>
            <a:ext cx="3017520" cy="731519"/>
          </a:xfrm>
          <a:prstGeom prst="roundRect">
            <a:avLst/>
          </a:prstGeom>
          <a:solidFill>
            <a:srgbClr val="F5F5F5"/>
          </a:solidFill>
          <a:ln w="1016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</a:rPr>
              <a:t>Hardware CAS atomicity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2514600"/>
            <a:ext cx="3017520" cy="731519"/>
          </a:xfrm>
          <a:prstGeom prst="roundRect">
            <a:avLst/>
          </a:prstGeom>
          <a:solidFill>
            <a:srgbClr val="F5F5F5"/>
          </a:solidFill>
          <a:ln w="1016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</a:rPr>
              <a:t>Majority voting (2 of 3)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0" y="2514600"/>
            <a:ext cx="3017520" cy="731519"/>
          </a:xfrm>
          <a:prstGeom prst="roundRect">
            <a:avLst/>
          </a:prstGeom>
          <a:solidFill>
            <a:srgbClr val="C8E6C9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</a:rPr>
              <a:t>LFM software mutex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291839"/>
            <a:ext cx="2377440" cy="731519"/>
          </a:xfrm>
          <a:prstGeom prst="roundRect">
            <a:avLst/>
          </a:prstGeom>
          <a:solidFill>
            <a:srgbClr val="FFE0B2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</a:rPr>
              <a:t>Conflict handling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26080" y="3291839"/>
            <a:ext cx="3017520" cy="731519"/>
          </a:xfrm>
          <a:prstGeom prst="roundRect">
            <a:avLst/>
          </a:prstGeom>
          <a:solidFill>
            <a:srgbClr val="F5F5F5"/>
          </a:solidFill>
          <a:ln w="1016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</a:rPr>
              <a:t>Check CAS return -&gt; retry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3291839"/>
            <a:ext cx="3017520" cy="731519"/>
          </a:xfrm>
          <a:prstGeom prst="roundRect">
            <a:avLst/>
          </a:prstGeom>
          <a:solidFill>
            <a:srgbClr val="F5F5F5"/>
          </a:solidFill>
          <a:ln w="1016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</a:rPr>
              <a:t>Vote failed -&gt; ABORT + retry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3291839"/>
            <a:ext cx="3017520" cy="731519"/>
          </a:xfrm>
          <a:prstGeom prst="roundRect">
            <a:avLst/>
          </a:prstGeom>
          <a:solidFill>
            <a:srgbClr val="C8E6C9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</a:rPr>
              <a:t>Spin-wait -&gt; auto queue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069079"/>
            <a:ext cx="2377440" cy="731519"/>
          </a:xfrm>
          <a:prstGeom prst="roundRect">
            <a:avLst/>
          </a:prstGeom>
          <a:solidFill>
            <a:srgbClr val="FFE0B2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</a:rPr>
              <a:t>Sync ops (uncontended)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26080" y="4069079"/>
            <a:ext cx="3017520" cy="731519"/>
          </a:xfrm>
          <a:prstGeom prst="roundRect">
            <a:avLst/>
          </a:prstGeom>
          <a:solidFill>
            <a:srgbClr val="F5F5F5"/>
          </a:solidFill>
          <a:ln w="1016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</a:rPr>
              <a:t>Multiple RDMA round-trips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35040" y="4069079"/>
            <a:ext cx="3017520" cy="731519"/>
          </a:xfrm>
          <a:prstGeom prst="roundRect">
            <a:avLst/>
          </a:prstGeom>
          <a:solidFill>
            <a:srgbClr val="F5F5F5"/>
          </a:solidFill>
          <a:ln w="1016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</a:rPr>
              <a:t>~10 CXL ops + voter polling wait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4069079"/>
            <a:ext cx="3017520" cy="731519"/>
          </a:xfrm>
          <a:prstGeom prst="roundRect">
            <a:avLst/>
          </a:prstGeom>
          <a:solidFill>
            <a:srgbClr val="C8E6C9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</a:rPr>
              <a:t>~12 CXL ops, no waiting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846320"/>
            <a:ext cx="2377440" cy="731519"/>
          </a:xfrm>
          <a:prstGeom prst="roundRect">
            <a:avLst/>
          </a:prstGeom>
          <a:solidFill>
            <a:srgbClr val="FFE0B2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</a:rPr>
              <a:t>Latency estimate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926080" y="4846320"/>
            <a:ext cx="3017520" cy="731519"/>
          </a:xfrm>
          <a:prstGeom prst="roundRect">
            <a:avLst/>
          </a:prstGeom>
          <a:solidFill>
            <a:srgbClr val="F5F5F5"/>
          </a:solidFill>
          <a:ln w="1016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</a:rPr>
              <a:t>1-3 us (RDMA hardware)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35040" y="4846320"/>
            <a:ext cx="3017520" cy="731519"/>
          </a:xfrm>
          <a:prstGeom prst="roundRect">
            <a:avLst/>
          </a:prstGeom>
          <a:solidFill>
            <a:srgbClr val="F5F5F5"/>
          </a:solidFill>
          <a:ln w="1016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</a:rPr>
              <a:t>15-50 us (voter polling)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0" y="4846320"/>
            <a:ext cx="3017520" cy="731519"/>
          </a:xfrm>
          <a:prstGeom prst="roundRect">
            <a:avLst/>
          </a:prstGeom>
          <a:solidFill>
            <a:srgbClr val="C8E6C9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</a:rPr>
              <a:t>5-10 us (LFM fast path)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623560"/>
            <a:ext cx="2377440" cy="731519"/>
          </a:xfrm>
          <a:prstGeom prst="roundRect">
            <a:avLst/>
          </a:prstGeom>
          <a:solidFill>
            <a:srgbClr val="FFE0B2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</a:rPr>
              <a:t>Hardware requirement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926080" y="5623560"/>
            <a:ext cx="3017520" cy="731519"/>
          </a:xfrm>
          <a:prstGeom prst="roundRect">
            <a:avLst/>
          </a:prstGeom>
          <a:solidFill>
            <a:srgbClr val="F5F5F5"/>
          </a:solidFill>
          <a:ln w="1016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</a:rPr>
              <a:t>RDMA NIC + atomic ops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35040" y="5623560"/>
            <a:ext cx="3017520" cy="731519"/>
          </a:xfrm>
          <a:prstGeom prst="roundRect">
            <a:avLst/>
          </a:prstGeom>
          <a:solidFill>
            <a:srgbClr val="F5F5F5"/>
          </a:solidFill>
          <a:ln w="1016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</a:rPr>
              <a:t>CXL load/store + sfence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0" y="5623560"/>
            <a:ext cx="3017520" cy="731519"/>
          </a:xfrm>
          <a:prstGeom prst="roundRect">
            <a:avLst/>
          </a:prstGeom>
          <a:solidFill>
            <a:srgbClr val="C8E6C9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</a:rPr>
              <a:t>CXL load/store + sfence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6400800"/>
            <a:ext cx="2377440" cy="731519"/>
          </a:xfrm>
          <a:prstGeom prst="roundRect">
            <a:avLst/>
          </a:prstGeom>
          <a:solidFill>
            <a:srgbClr val="FFE0B2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</a:rPr>
              <a:t>Race in claim phase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926080" y="6400800"/>
            <a:ext cx="3017520" cy="731519"/>
          </a:xfrm>
          <a:prstGeom prst="roundRect">
            <a:avLst/>
          </a:prstGeom>
          <a:solidFill>
            <a:srgbClr val="F5F5F5"/>
          </a:solidFill>
          <a:ln w="1016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</a:rPr>
              <a:t>N/A (hardware atomic)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35040" y="6400800"/>
            <a:ext cx="3017520" cy="731519"/>
          </a:xfrm>
          <a:prstGeom prst="roundRect">
            <a:avLst/>
          </a:prstGeom>
          <a:solidFill>
            <a:srgbClr val="F5F5F5"/>
          </a:solidFill>
          <a:ln w="1016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</a:rPr>
              <a:t>Yes (two nodes can both win)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44000" y="6400800"/>
            <a:ext cx="3017520" cy="731519"/>
          </a:xfrm>
          <a:prstGeom prst="roundRect">
            <a:avLst/>
          </a:prstGeom>
          <a:solidFill>
            <a:srgbClr val="C8E6C9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</a:rPr>
              <a:t>Impossible (LFM is mutex)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7269479"/>
            <a:ext cx="11247120" cy="640080"/>
          </a:xfrm>
          <a:prstGeom prst="roundRect">
            <a:avLst/>
          </a:prstGeom>
          <a:solidFill>
            <a:srgbClr val="FFF8E1"/>
          </a:solidFill>
          <a:ln w="2540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7315199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8F00"/>
                </a:solidFill>
              </a:rPr>
              <a:t>Key insight: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756208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</a:rPr>
              <a:t>With a real mutex, no voting is needed - the lock IS the consensus.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