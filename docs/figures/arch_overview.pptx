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84048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000" b="1" i="0">
                <a:solidFill>
                  <a:srgbClr val="1F1F1F"/>
                </a:solidFill>
              </a:rPr>
              <a:t>Protocol A v2 — Overall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566928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DF2E9"/>
          </a:solidFill>
          <a:ln w="25400">
            <a:solidFill>
              <a:srgbClr val="C05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612648"/>
            <a:ext cx="4572000" cy="2286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C05521"/>
                </a:solidFill>
              </a:rPr>
              <a:t>Host 0 — DRAM (MAP_SHARED)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5212080" cy="685800"/>
          </a:xfrm>
          <a:prstGeom prst="roundRect">
            <a:avLst>
              <a:gd name="adj" fmla="val 10000"/>
            </a:avLst>
          </a:prstGeom>
          <a:solidFill>
            <a:srgbClr val="F6B26B"/>
          </a:solidFill>
          <a:ln w="1524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 i="0">
                <a:solidFill>
                  <a:srgbClr val="1F1F1F"/>
                </a:solidFill>
              </a:rPr>
              <a:t>KvCachePool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FCD5A5"/>
          </a:solidFill>
          <a:ln w="12700">
            <a:solidFill>
              <a:srgbClr val="C0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100" b="1" i="0">
                <a:solidFill>
                  <a:srgbClr val="1F1F1F"/>
                </a:solidFill>
              </a:rPr>
              <a:t>SlotDirectory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20" y="2240280"/>
            <a:ext cx="2286000" cy="292608"/>
          </a:xfrm>
          <a:prstGeom prst="roundRect">
            <a:avLst>
              <a:gd name="adj" fmla="val 10000"/>
            </a:avLst>
          </a:prstGeom>
          <a:solidFill>
            <a:srgbClr val="FDE9CB"/>
          </a:solidFill>
          <a:ln w="10160">
            <a:solidFill>
              <a:srgbClr val="C48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000" b="1" i="0">
                <a:solidFill>
                  <a:srgbClr val="1F1F1F"/>
                </a:solidFill>
              </a:rPr>
              <a:t>ShardingTable</a:t>
            </a:r>
          </a:p>
        </p:txBody>
      </p:sp>
      <p:sp>
        <p:nvSpPr>
          <p:cNvPr id="8" name="Oval 7"/>
          <p:cNvSpPr/>
          <p:nvPr/>
        </p:nvSpPr>
        <p:spPr>
          <a:xfrm>
            <a:off x="582930" y="2551176"/>
            <a:ext cx="1417320" cy="566928"/>
          </a:xfrm>
          <a:prstGeom prst="ellipse">
            <a:avLst/>
          </a:prstGeom>
          <a:solidFill>
            <a:srgbClr val="CFDFF6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000" b="1" i="0">
                <a:solidFill>
                  <a:srgbClr val="1F1F1F"/>
                </a:solidFill>
              </a:rPr>
              <a:t>Workers × T</a:t>
            </a:r>
          </a:p>
        </p:txBody>
      </p:sp>
      <p:sp>
        <p:nvSpPr>
          <p:cNvPr id="9" name="Oval 8"/>
          <p:cNvSpPr/>
          <p:nvPr/>
        </p:nvSpPr>
        <p:spPr>
          <a:xfrm>
            <a:off x="2308860" y="2551176"/>
            <a:ext cx="1417320" cy="566928"/>
          </a:xfrm>
          <a:prstGeom prst="ellipse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000" b="1" i="0">
                <a:solidFill>
                  <a:srgbClr val="1F1F1F"/>
                </a:solidFill>
              </a:rPr>
              <a:t>Forward</a:t>
            </a:r>
          </a:p>
          <a:p>
            <a:pPr algn="ctr"/>
            <a:r>
              <a:rPr sz="1000" b="1" i="0">
                <a:solidFill>
                  <a:srgbClr val="1F1F1F"/>
                </a:solidFill>
              </a:rPr>
              <a:t>Responder</a:t>
            </a:r>
          </a:p>
        </p:txBody>
      </p:sp>
      <p:sp>
        <p:nvSpPr>
          <p:cNvPr id="10" name="Oval 9"/>
          <p:cNvSpPr/>
          <p:nvPr/>
        </p:nvSpPr>
        <p:spPr>
          <a:xfrm>
            <a:off x="4034790" y="2551176"/>
            <a:ext cx="1417320" cy="566928"/>
          </a:xfrm>
          <a:prstGeom prst="ellipse">
            <a:avLst/>
          </a:prstGeom>
          <a:solidFill>
            <a:srgbClr val="F4CCCC"/>
          </a:solidFill>
          <a:ln w="1524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000" b="1" i="0">
                <a:solidFill>
                  <a:srgbClr val="1F1F1F"/>
                </a:solidFill>
              </a:rPr>
              <a:t>Cache</a:t>
            </a:r>
          </a:p>
          <a:p>
            <a:pPr algn="ctr"/>
            <a:r>
              <a:rPr sz="1000" b="1" i="0">
                <a:solidFill>
                  <a:srgbClr val="1F1F1F"/>
                </a:solidFill>
              </a:rPr>
              <a:t>Dispatcher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566928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DF2E9"/>
          </a:solidFill>
          <a:ln w="25400">
            <a:solidFill>
              <a:srgbClr val="C05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65392" y="612648"/>
            <a:ext cx="4572000" cy="2286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C05521"/>
                </a:solidFill>
              </a:rPr>
              <a:t>Host 1 — DRAM (MAP_SHARED)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5392" y="914400"/>
            <a:ext cx="5212080" cy="685800"/>
          </a:xfrm>
          <a:prstGeom prst="roundRect">
            <a:avLst>
              <a:gd name="adj" fmla="val 10000"/>
            </a:avLst>
          </a:prstGeom>
          <a:solidFill>
            <a:srgbClr val="F6B26B"/>
          </a:solidFill>
          <a:ln w="1524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 i="0">
                <a:solidFill>
                  <a:srgbClr val="1F1F1F"/>
                </a:solidFill>
              </a:rPr>
              <a:t>KvCachePool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1192" y="1691640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FCD5A5"/>
          </a:solidFill>
          <a:ln w="12700">
            <a:solidFill>
              <a:srgbClr val="C0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100" b="1" i="0">
                <a:solidFill>
                  <a:srgbClr val="1F1F1F"/>
                </a:solidFill>
              </a:rPr>
              <a:t>SlotDirectory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2240280"/>
            <a:ext cx="2286000" cy="292608"/>
          </a:xfrm>
          <a:prstGeom prst="roundRect">
            <a:avLst>
              <a:gd name="adj" fmla="val 10000"/>
            </a:avLst>
          </a:prstGeom>
          <a:solidFill>
            <a:srgbClr val="FDE9CB"/>
          </a:solidFill>
          <a:ln w="10160">
            <a:solidFill>
              <a:srgbClr val="C48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000" b="1" i="0">
                <a:solidFill>
                  <a:srgbClr val="1F1F1F"/>
                </a:solidFill>
              </a:rPr>
              <a:t>ShardingTable</a:t>
            </a:r>
          </a:p>
        </p:txBody>
      </p:sp>
      <p:sp>
        <p:nvSpPr>
          <p:cNvPr id="16" name="Oval 15"/>
          <p:cNvSpPr/>
          <p:nvPr/>
        </p:nvSpPr>
        <p:spPr>
          <a:xfrm>
            <a:off x="6736842" y="2551176"/>
            <a:ext cx="1417320" cy="566928"/>
          </a:xfrm>
          <a:prstGeom prst="ellipse">
            <a:avLst/>
          </a:prstGeom>
          <a:solidFill>
            <a:srgbClr val="CFDFF6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000" b="1" i="0">
                <a:solidFill>
                  <a:srgbClr val="1F1F1F"/>
                </a:solidFill>
              </a:rPr>
              <a:t>Workers × T</a:t>
            </a:r>
          </a:p>
        </p:txBody>
      </p:sp>
      <p:sp>
        <p:nvSpPr>
          <p:cNvPr id="17" name="Oval 16"/>
          <p:cNvSpPr/>
          <p:nvPr/>
        </p:nvSpPr>
        <p:spPr>
          <a:xfrm>
            <a:off x="8462772" y="2551176"/>
            <a:ext cx="1417320" cy="566928"/>
          </a:xfrm>
          <a:prstGeom prst="ellipse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000" b="1" i="0">
                <a:solidFill>
                  <a:srgbClr val="1F1F1F"/>
                </a:solidFill>
              </a:rPr>
              <a:t>Forward</a:t>
            </a:r>
          </a:p>
          <a:p>
            <a:pPr algn="ctr"/>
            <a:r>
              <a:rPr sz="1000" b="1" i="0">
                <a:solidFill>
                  <a:srgbClr val="1F1F1F"/>
                </a:solidFill>
              </a:rPr>
              <a:t>Responder</a:t>
            </a:r>
          </a:p>
        </p:txBody>
      </p:sp>
      <p:sp>
        <p:nvSpPr>
          <p:cNvPr id="18" name="Oval 17"/>
          <p:cNvSpPr/>
          <p:nvPr/>
        </p:nvSpPr>
        <p:spPr>
          <a:xfrm>
            <a:off x="10188702" y="2551176"/>
            <a:ext cx="1417320" cy="566928"/>
          </a:xfrm>
          <a:prstGeom prst="ellipse">
            <a:avLst/>
          </a:prstGeom>
          <a:solidFill>
            <a:srgbClr val="F4CCCC"/>
          </a:solidFill>
          <a:ln w="1524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000" b="1" i="0">
                <a:solidFill>
                  <a:srgbClr val="1F1F1F"/>
                </a:solidFill>
              </a:rPr>
              <a:t>Cache</a:t>
            </a:r>
          </a:p>
          <a:p>
            <a:pPr algn="ctr"/>
            <a:r>
              <a:rPr sz="1000" b="1" i="0">
                <a:solidFill>
                  <a:srgbClr val="1F1F1F"/>
                </a:solidFill>
              </a:rPr>
              <a:t>Dispatcher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401568"/>
            <a:ext cx="11640312" cy="3246120"/>
          </a:xfrm>
          <a:prstGeom prst="roundRect">
            <a:avLst>
              <a:gd name="adj" fmla="val 2500"/>
            </a:avLst>
          </a:prstGeom>
          <a:solidFill>
            <a:srgbClr val="E8F1FA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1480" y="3438144"/>
            <a:ext cx="7315200" cy="237744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CXL shared region   (single physical copy across hosts)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767328"/>
            <a:ext cx="9875520" cy="411480"/>
          </a:xfrm>
          <a:prstGeom prst="roundRect">
            <a:avLst>
              <a:gd name="adj" fmla="val 10000"/>
            </a:avLst>
          </a:prstGeom>
          <a:solidFill>
            <a:srgbClr val="C2E0B4"/>
          </a:solidFill>
          <a:ln w="1524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100" b="1" i="0">
                <a:solidFill>
                  <a:srgbClr val="1F1F1F"/>
                </a:solidFill>
              </a:rPr>
              <a:t>ForwardRing  [H][H]   (SPSC)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306824"/>
            <a:ext cx="9875520" cy="411480"/>
          </a:xfrm>
          <a:prstGeom prst="roundRect">
            <a:avLst>
              <a:gd name="adj" fmla="val 10000"/>
            </a:avLst>
          </a:prstGeom>
          <a:solidFill>
            <a:srgbClr val="F1C2C2"/>
          </a:solidFill>
          <a:ln w="1524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100" b="1" i="0">
                <a:solidFill>
                  <a:srgbClr val="1F1F1F"/>
                </a:solidFill>
              </a:rPr>
              <a:t>InvalRing  [H][H]   (SPSC)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4992624"/>
            <a:ext cx="11311128" cy="411480"/>
          </a:xfrm>
          <a:prstGeom prst="rect">
            <a:avLst/>
          </a:prstGeom>
          <a:solidFill>
            <a:srgbClr val="CFE2F3"/>
          </a:solidFill>
          <a:ln w="1905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5084064"/>
            <a:ext cx="1097280" cy="2286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356EA8"/>
                </a:solidFill>
              </a:rPr>
              <a:t>Hashtable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0078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25196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0314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35432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90550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45668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00786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55904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11022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66140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21258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76376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31494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86612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41730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96848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051966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1070844" y="5074920"/>
            <a:ext cx="514604" cy="246888"/>
          </a:xfrm>
          <a:prstGeom prst="rect">
            <a:avLst/>
          </a:prstGeom>
          <a:solidFill>
            <a:srgbClr val="E6EEF8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438912" y="5495544"/>
            <a:ext cx="11311128" cy="987552"/>
          </a:xfrm>
          <a:prstGeom prst="rect">
            <a:avLst/>
          </a:prstGeom>
          <a:solidFill>
            <a:srgbClr val="CFE2F3"/>
          </a:solidFill>
          <a:ln w="1905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48640" y="5605272"/>
            <a:ext cx="1371600" cy="27432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356EA8"/>
                </a:solidFill>
              </a:rPr>
              <a:t>KV Blockpool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75104" y="5660136"/>
            <a:ext cx="4722876" cy="713232"/>
          </a:xfrm>
          <a:prstGeom prst="rect">
            <a:avLst/>
          </a:prstGeom>
          <a:solidFill>
            <a:srgbClr val="DDE9F6"/>
          </a:solidFill>
          <a:ln w="1016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066544" y="5696712"/>
            <a:ext cx="4539996" cy="201168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900" b="1" i="1">
                <a:solidFill>
                  <a:srgbClr val="356EA8"/>
                </a:solidFill>
              </a:rPr>
              <a:t>Host 0 segment   (owner-private)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84832" y="5971032"/>
            <a:ext cx="50292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642616" y="5971032"/>
            <a:ext cx="96012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657600" y="5971032"/>
            <a:ext cx="36576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4078224" y="5971032"/>
            <a:ext cx="77724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4910328" y="5971032"/>
            <a:ext cx="59436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559552" y="5971032"/>
            <a:ext cx="32004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862572" y="5660136"/>
            <a:ext cx="4722876" cy="713232"/>
          </a:xfrm>
          <a:prstGeom prst="rect">
            <a:avLst/>
          </a:prstGeom>
          <a:solidFill>
            <a:srgbClr val="E9E0F1"/>
          </a:solidFill>
          <a:ln w="1016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954012" y="5696712"/>
            <a:ext cx="4539996" cy="201168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900" b="1" i="1">
                <a:solidFill>
                  <a:srgbClr val="356EA8"/>
                </a:solidFill>
              </a:rPr>
              <a:t>Host 1 segment   (owner-private)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2300" y="5971032"/>
            <a:ext cx="50292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7530084" y="5971032"/>
            <a:ext cx="96012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8545068" y="5971032"/>
            <a:ext cx="36576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8965692" y="5971032"/>
            <a:ext cx="77724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9797796" y="5971032"/>
            <a:ext cx="59436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0447020" y="5971032"/>
            <a:ext cx="320040" cy="256032"/>
          </a:xfrm>
          <a:prstGeom prst="rect">
            <a:avLst/>
          </a:prstGeom>
          <a:solidFill>
            <a:srgbClr val="A8C4E3"/>
          </a:solidFill>
          <a:ln w="5080">
            <a:solidFill>
              <a:srgbClr val="35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1" name="Connector 60"/>
          <p:cNvCxnSpPr/>
          <p:nvPr/>
        </p:nvCxnSpPr>
        <p:spPr>
          <a:xfrm>
            <a:off x="6780276.0" y="5696712"/>
            <a:ext cx="0.0" cy="640080"/>
          </a:xfrm>
          <a:prstGeom prst="line">
            <a:avLst/>
          </a:prstGeom>
          <a:ln w="31750">
            <a:solidFill>
              <a:srgbClr val="356E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31636" y="5925312"/>
            <a:ext cx="1097280" cy="18288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700" b="1" i="1">
                <a:solidFill>
                  <a:srgbClr val="356EA8"/>
                </a:solidFill>
              </a:rPr>
              <a:t>no cross-host writes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91590.0" y="3118104"/>
            <a:ext cx="308610.0" cy="649224"/>
          </a:xfrm>
          <a:prstGeom prst="line">
            <a:avLst/>
          </a:prstGeom>
          <a:ln w="25400">
            <a:solidFill>
              <a:srgbClr val="38761D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9171432.0" y="3118104"/>
            <a:ext cx="1389888.0" cy="649224"/>
          </a:xfrm>
          <a:prstGeom prst="line">
            <a:avLst/>
          </a:prstGeom>
          <a:ln w="25400">
            <a:solidFill>
              <a:srgbClr val="38761D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474470.0" y="3118104"/>
            <a:ext cx="125730.0" cy="1188720"/>
          </a:xfrm>
          <a:prstGeom prst="line">
            <a:avLst/>
          </a:prstGeom>
          <a:ln w="25400">
            <a:solidFill>
              <a:srgbClr val="CC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561320" y="3118104"/>
            <a:ext cx="153162.0" cy="1188720"/>
          </a:xfrm>
          <a:prstGeom prst="line">
            <a:avLst/>
          </a:prstGeom>
          <a:ln w="25400">
            <a:solidFill>
              <a:srgbClr val="CC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40080" y="3264408"/>
            <a:ext cx="0" cy="1933956.0"/>
          </a:xfrm>
          <a:prstGeom prst="line">
            <a:avLst/>
          </a:prstGeom>
          <a:ln w="20320">
            <a:solidFill>
              <a:srgbClr val="1F4E7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85800" y="3355848"/>
            <a:ext cx="2377440" cy="18288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800" b="0" i="1">
                <a:solidFill>
                  <a:srgbClr val="1F4E79"/>
                </a:solidFill>
              </a:rPr>
              <a:t>load/store + clflushopt + sfence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1548872" y="3264408"/>
            <a:ext cx="0" cy="1933956.0"/>
          </a:xfrm>
          <a:prstGeom prst="line">
            <a:avLst/>
          </a:prstGeom>
          <a:ln w="20320">
            <a:solidFill>
              <a:srgbClr val="1F4E7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125712" y="3355848"/>
            <a:ext cx="2377440" cy="18288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r"/>
            <a:r>
              <a:rPr sz="800" b="0" i="1">
                <a:solidFill>
                  <a:srgbClr val="1F4E79"/>
                </a:solidFill>
              </a:rPr>
              <a:t>load/store + clflushopt + sfence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2240" y="182880"/>
            <a:ext cx="146304" cy="91440"/>
          </a:xfrm>
          <a:prstGeom prst="rect">
            <a:avLst/>
          </a:prstGeom>
          <a:solidFill>
            <a:srgbClr val="38761D"/>
          </a:solidFill>
          <a:ln w="635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137160"/>
            <a:ext cx="2377440" cy="18288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write-forward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8160" y="182880"/>
            <a:ext cx="146304" cy="91440"/>
          </a:xfrm>
          <a:prstGeom prst="rect">
            <a:avLst/>
          </a:prstGeom>
          <a:solidFill>
            <a:srgbClr val="CC0000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21040" y="137160"/>
            <a:ext cx="2377440" cy="18288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invalidate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55480" y="182880"/>
            <a:ext cx="146304" cy="91440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38360" y="137160"/>
            <a:ext cx="2377440" cy="18288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direct CXL (clflushopt+sfence)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